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Mit dem vollständigen ETL-Pfad einsteigen. Python parst die beiden mitgelieferten CSV-Dateien, transformiert die Quellfelder zu Contact und SalesOrder, validiert jedes Modell und die Fremdschlüsselbeziehung und lädt dann saubere Entitätsdateien, abgelehnte Zeilen, Logs und model.json. Das Ergebnis sind fünf Kontakte, vier gültige Aufträge, ein Auftrag in Quarantäne und exakte UTC-Zeitstempel nach ISO 8601.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Programm von links nach rechts durchgehen. csv.reader parst jede Quelldatei, und der Kunden-Reader repariert CST-005, wenn dieser über zwei physische Zeilen verteilt ist. Bereinigungsfunktionen trennen den Namen, normalisieren oder leeren die E-Mail, rechnen den Zeitstempel nach UTC um und mappen den Status. Die transformierten Werte gehen in das Pydantic-Modell Contact, bevor write_entity die validierte Zeile lädt. Dieselben Modelldefinitionen steuern später CSV-Spalten und model.json-Attribute.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Contact ist die Elternentität, SalesOrder.customerid der Fremdschlüssel. Ein Contact kann null oder viele Aufträge haben. ORD-1005 verweist auf CST-999, das nicht existiert. Der Auftrag wird aus dem sauberen SalesOrder-Output ausgeschlossen, mit Begründung in quarantine/SalesOrder_rejected.csv bewahrt und in logs/pipeline-run.log protokolliert.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Zum Schluss, wie die Python-ETL ihre Outputs lädt. write_entity serialisiert validierte Pydantic-Records nach Contact.csv und SalesOrder.csv. write_csv bewahrt abgelehnte Quellzeilen mit Begründung. write_manifest baut model.json aus denselben Entitätsmodellen auf, inklusive Metadaten, CDM-Datentypen, Partitionspfaden und der Beziehung von SalesOrder.customerid zu Contact.contactid. Da die Outputs deterministisch überschrieben werden, erzeugt ein erneuter ETL-Lauf dasselbe Paket.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82880"/>
            <a:ext cx="1828800" cy="201168"/>
          </a:xfrm>
          <a:prstGeom prst="rect">
            <a:avLst/>
          </a:prstGeom>
          <a:noFill/>
          <a:ln/>
        </p:spPr>
        <p:txBody>
          <a:bodyPr wrap="square" lIns="0" tIns="0" rIns="0" bIns="0" rtlCol="0" anchor="ctr"/>
          <a:lstStyle/>
          <a:p>
            <a:pPr indent="0" marL="0">
              <a:buNone/>
            </a:pPr>
            <a:r>
              <a:rPr lang="en-US" sz="1000" b="1" spc="160" kern="0" dirty="0">
                <a:solidFill>
                  <a:srgbClr val="477064"/>
                </a:solidFill>
                <a:latin typeface="Calibri" pitchFamily="34" charset="0"/>
                <a:ea typeface="Calibri" pitchFamily="34" charset="-122"/>
                <a:cs typeface="Calibri" pitchFamily="34" charset="-120"/>
              </a:rPr>
              <a:t>CDM PIPELINE</a:t>
            </a:r>
            <a:endParaRPr lang="en-US" sz="1000" dirty="0"/>
          </a:p>
        </p:txBody>
      </p:sp>
      <p:sp>
        <p:nvSpPr>
          <p:cNvPr id="3" name="Text 1"/>
          <p:cNvSpPr/>
          <p:nvPr/>
        </p:nvSpPr>
        <p:spPr>
          <a:xfrm>
            <a:off x="9464040" y="6492240"/>
            <a:ext cx="2148840" cy="164592"/>
          </a:xfrm>
          <a:prstGeom prst="rect">
            <a:avLst/>
          </a:prstGeom>
          <a:noFill/>
          <a:ln/>
        </p:spPr>
        <p:txBody>
          <a:bodyPr wrap="square" lIns="0" tIns="0" rIns="0" bIns="0" rtlCol="0" anchor="ctr"/>
          <a:lstStyle/>
          <a:p>
            <a:pPr algn="r" indent="0" marL="0">
              <a:buNone/>
            </a:pPr>
            <a:r>
              <a:rPr lang="en-US" sz="900" dirty="0">
                <a:solidFill>
                  <a:srgbClr val="6B7B76"/>
                </a:solidFill>
                <a:latin typeface="Calibri" pitchFamily="34" charset="0"/>
                <a:ea typeface="Calibri" pitchFamily="34" charset="-122"/>
                <a:cs typeface="Calibri" pitchFamily="34" charset="-120"/>
              </a:rPr>
              <a:t>Tahasanul Ibrahim</a:t>
            </a:r>
            <a:endParaRPr lang="en-US" sz="900" dirty="0"/>
          </a:p>
        </p:txBody>
      </p:sp>
      <p:sp>
        <p:nvSpPr>
          <p:cNvPr id="25" name="Slide Number Placeholder 0"/>
          <p:cNvSpPr>
            <a:spLocks noGrp="1"/>
          </p:cNvSpPr>
          <p:nvPr>
            <p:ph type="sldNum" sz="quarter" idx="4294967295"/>
          </p:nvPr>
        </p:nvSpPr>
        <p:spPr>
          <a:xfrm>
            <a:off x="1168603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B76"/>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B76"/>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F29"/>
        </a:solidFill>
      </p:bgPr>
    </p:bg>
    <p:spTree>
      <p:nvGrpSpPr>
        <p:cNvPr id="1" name=""/>
        <p:cNvGrpSpPr/>
        <p:nvPr/>
      </p:nvGrpSpPr>
      <p:grpSpPr>
        <a:xfrm>
          <a:off x="0" y="0"/>
          <a:ext cx="0" cy="0"/>
          <a:chOff x="0" y="0"/>
          <a:chExt cx="0" cy="0"/>
        </a:xfrm>
      </p:grpSpPr>
      <p:sp>
        <p:nvSpPr>
          <p:cNvPr id="2" name="Shape 0"/>
          <p:cNvSpPr/>
          <p:nvPr/>
        </p:nvSpPr>
        <p:spPr>
          <a:xfrm>
            <a:off x="566928" y="502920"/>
            <a:ext cx="2103120" cy="320040"/>
          </a:xfrm>
          <a:prstGeom prst="roundRect">
            <a:avLst>
              <a:gd name="adj" fmla="val 22857"/>
            </a:avLst>
          </a:prstGeom>
          <a:solidFill>
            <a:srgbClr val="55B99A"/>
          </a:solidFill>
          <a:ln w="12700">
            <a:solidFill>
              <a:srgbClr val="55B99A"/>
            </a:solidFill>
            <a:prstDash val="solid"/>
          </a:ln>
        </p:spPr>
        <p:txBody>
          <a:bodyPr/>
          <a:p/>
        </p:txBody>
      </p:sp>
      <p:sp>
        <p:nvSpPr>
          <p:cNvPr id="3" name="Text 1"/>
          <p:cNvSpPr txBox="1"/>
          <p:nvPr/>
        </p:nvSpPr>
        <p:spPr>
          <a:xfrm>
            <a:off x="566928" y="502920"/>
            <a:ext cx="2103120" cy="320040"/>
          </a:xfrm>
          <a:prstGeom prst="rect">
            <a:avLst/>
          </a:prstGeom>
          <a:noFill/>
          <a:ln/>
        </p:spPr>
        <p:txBody>
          <a:bodyPr wrap="square" lIns="0" tIns="0" rIns="0" bIns="0" rtlCol="0" anchor="ctr">
            <a:normAutofit/>
          </a:bodyPr>
          <a:lstStyle/>
          <a:p>
            <a:pPr algn="ctr" indent="0" marL="0">
              <a:buNone/>
            </a:pPr>
            <a:r>
              <a:rPr lang="de-DE" sz="1100" b="1" dirty="0">
                <a:solidFill>
                  <a:srgbClr val="102F29"/>
                </a:solidFill>
                <a:latin typeface="Calibri" pitchFamily="34" charset="0"/>
                <a:ea typeface="Calibri" pitchFamily="34" charset="-122"/>
                <a:cs typeface="Calibri" pitchFamily="34" charset="-120"/>
              </a:rPr>
              <a:t>TECHNISCHER WALKTHROUGH</a:t>
            </a:r>
            <a:endParaRPr lang="de-DE" sz="1100" dirty="0"/>
          </a:p>
        </p:txBody>
      </p:sp>
      <p:sp>
        <p:nvSpPr>
          <p:cNvPr id="4" name="Text 2"/>
          <p:cNvSpPr txBox="1"/>
          <p:nvPr/>
        </p:nvSpPr>
        <p:spPr>
          <a:xfrm>
            <a:off x="566928" y="1115568"/>
            <a:ext cx="5715000" cy="1280160"/>
          </a:xfrm>
          <a:prstGeom prst="rect">
            <a:avLst/>
          </a:prstGeom>
          <a:noFill/>
          <a:ln/>
        </p:spPr>
        <p:txBody>
          <a:bodyPr wrap="square" lIns="0" tIns="0" rIns="0" bIns="0" rtlCol="0" anchor="ctr">
            <a:normAutofit/>
          </a:bodyPr>
          <a:lstStyle/>
          <a:p>
            <a:pPr algn="l" indent="0" marL="0">
              <a:buNone/>
            </a:pPr>
            <a:r>
              <a:rPr lang="de-DE" sz="3400" b="1" dirty="0">
                <a:solidFill>
                  <a:srgbClr val="FFFFFF"/>
                </a:solidFill>
                <a:latin typeface="Cambria" pitchFamily="34" charset="0"/>
                <a:ea typeface="Cambria" pitchFamily="34" charset="-122"/>
                <a:cs typeface="Cambria" pitchFamily="34" charset="-120"/>
              </a:rPr>
              <a:t>Aus Roh-CSVs werden</a:t>
            </a:r>
            <a:endParaRPr lang="de-DE" sz="3400" dirty="0"/>
          </a:p>
          <a:p>
            <a:pPr algn="l" indent="0" marL="0">
              <a:buNone/>
            </a:pPr>
            <a:r>
              <a:rPr lang="de-DE" sz="3400" b="1" dirty="0">
                <a:solidFill>
                  <a:srgbClr val="FFFFFF"/>
                </a:solidFill>
                <a:latin typeface="Cambria" pitchFamily="34" charset="0"/>
                <a:ea typeface="Cambria" pitchFamily="34" charset="-122"/>
                <a:cs typeface="Cambria" pitchFamily="34" charset="-120"/>
              </a:rPr>
              <a:t>CDM-fertige Daten</a:t>
            </a:r>
            <a:endParaRPr lang="de-DE" sz="3400" dirty="0"/>
          </a:p>
        </p:txBody>
      </p:sp>
      <p:sp>
        <p:nvSpPr>
          <p:cNvPr id="5" name="Text 3"/>
          <p:cNvSpPr txBox="1"/>
          <p:nvPr/>
        </p:nvSpPr>
        <p:spPr>
          <a:xfrm>
            <a:off x="594360" y="2560320"/>
            <a:ext cx="6766560" cy="411480"/>
          </a:xfrm>
          <a:prstGeom prst="rect">
            <a:avLst/>
          </a:prstGeom>
          <a:noFill/>
          <a:ln/>
        </p:spPr>
        <p:txBody>
          <a:bodyPr wrap="square" lIns="0" tIns="0" rIns="0" bIns="0" rtlCol="0" anchor="ctr">
            <a:normAutofit/>
          </a:bodyPr>
          <a:lstStyle/>
          <a:p>
            <a:pPr algn="l" indent="0" marL="0">
              <a:buNone/>
            </a:pPr>
            <a:r>
              <a:rPr lang="de-DE" sz="1800" dirty="0">
                <a:solidFill>
                  <a:srgbClr val="DCEBE6"/>
                </a:solidFill>
                <a:latin typeface="Calibri" pitchFamily="34" charset="0"/>
                <a:ea typeface="Calibri" pitchFamily="34" charset="-122"/>
                <a:cs typeface="Calibri" pitchFamily="34" charset="-120"/>
              </a:rPr>
              <a:t>Python parst, transformiert, validiert und lädt das komplette CDM-Paket.</a:t>
            </a:r>
            <a:endParaRPr lang="de-DE" sz="1800" dirty="0"/>
          </a:p>
        </p:txBody>
      </p:sp>
      <p:sp>
        <p:nvSpPr>
          <p:cNvPr id="6" name="Shape 4"/>
          <p:cNvSpPr/>
          <p:nvPr/>
        </p:nvSpPr>
        <p:spPr>
          <a:xfrm>
            <a:off x="6720840" y="960120"/>
            <a:ext cx="1508760" cy="1024128"/>
          </a:xfrm>
          <a:prstGeom prst="roundRect">
            <a:avLst>
              <a:gd name="adj" fmla="val 8929"/>
            </a:avLst>
          </a:prstGeom>
          <a:solidFill>
            <a:srgbClr val="FFFFFF"/>
          </a:solidFill>
          <a:ln w="12700">
            <a:solidFill>
              <a:srgbClr val="FFFFFF"/>
            </a:solidFill>
            <a:prstDash val="solid"/>
          </a:ln>
        </p:spPr>
        <p:txBody>
          <a:bodyPr/>
          <a:p/>
        </p:txBody>
      </p:sp>
      <p:sp>
        <p:nvSpPr>
          <p:cNvPr id="7" name="Text 5"/>
          <p:cNvSpPr txBox="1"/>
          <p:nvPr/>
        </p:nvSpPr>
        <p:spPr>
          <a:xfrm>
            <a:off x="6720840" y="1161288"/>
            <a:ext cx="1508760" cy="228600"/>
          </a:xfrm>
          <a:prstGeom prst="rect">
            <a:avLst/>
          </a:prstGeom>
          <a:noFill/>
          <a:ln/>
        </p:spPr>
        <p:txBody>
          <a:bodyPr wrap="square" lIns="0" tIns="0" rIns="0" bIns="0" rtlCol="0" anchor="ctr">
            <a:normAutofit/>
          </a:bodyPr>
          <a:lstStyle/>
          <a:p>
            <a:pPr algn="ctr" indent="0" marL="0">
              <a:buNone/>
            </a:pPr>
            <a:r>
              <a:rPr lang="de-DE" sz="1200" b="1" dirty="0">
                <a:solidFill>
                  <a:srgbClr val="5E6C67"/>
                </a:solidFill>
                <a:latin typeface="Calibri" pitchFamily="34" charset="0"/>
                <a:ea typeface="Calibri" pitchFamily="34" charset="-122"/>
                <a:cs typeface="Calibri" pitchFamily="34" charset="-120"/>
              </a:rPr>
              <a:t>ROH</a:t>
            </a:r>
            <a:endParaRPr lang="de-DE" sz="1200" dirty="0"/>
          </a:p>
        </p:txBody>
      </p:sp>
      <p:sp>
        <p:nvSpPr>
          <p:cNvPr id="8" name="Text 6"/>
          <p:cNvSpPr txBox="1"/>
          <p:nvPr/>
        </p:nvSpPr>
        <p:spPr>
          <a:xfrm>
            <a:off x="6720840" y="1463040"/>
            <a:ext cx="1508760" cy="274320"/>
          </a:xfrm>
          <a:prstGeom prst="rect">
            <a:avLst/>
          </a:prstGeom>
          <a:noFill/>
          <a:ln/>
        </p:spPr>
        <p:txBody>
          <a:bodyPr wrap="square" lIns="0" tIns="0" rIns="0" bIns="0" rtlCol="0" anchor="ctr">
            <a:normAutofit/>
          </a:bodyPr>
          <a:lstStyle/>
          <a:p>
            <a:pPr algn="ctr" indent="0" marL="0">
              <a:buNone/>
            </a:pPr>
            <a:r>
              <a:rPr lang="de-DE" sz="1900" b="1" dirty="0">
                <a:solidFill>
                  <a:srgbClr val="17211E"/>
                </a:solidFill>
                <a:latin typeface="Calibri" pitchFamily="34" charset="0"/>
                <a:ea typeface="Calibri" pitchFamily="34" charset="-122"/>
                <a:cs typeface="Calibri" pitchFamily="34" charset="-120"/>
              </a:rPr>
              <a:t>2 CSVs</a:t>
            </a:r>
            <a:endParaRPr lang="de-DE" sz="1900" dirty="0"/>
          </a:p>
        </p:txBody>
      </p:sp>
      <p:sp>
        <p:nvSpPr>
          <p:cNvPr id="9" name="Shape 7"/>
          <p:cNvSpPr/>
          <p:nvPr/>
        </p:nvSpPr>
        <p:spPr>
          <a:xfrm>
            <a:off x="8339328" y="1481328"/>
            <a:ext cx="640080" cy="0"/>
          </a:xfrm>
          <a:prstGeom prst="line">
            <a:avLst/>
          </a:prstGeom>
          <a:noFill/>
          <a:ln w="38100">
            <a:solidFill>
              <a:srgbClr val="F2C14E"/>
            </a:solidFill>
            <a:prstDash val="solid"/>
            <a:tailEnd type="triangle"/>
          </a:ln>
        </p:spPr>
        <p:txBody>
          <a:bodyPr/>
          <a:p/>
        </p:txBody>
      </p:sp>
      <p:sp>
        <p:nvSpPr>
          <p:cNvPr id="10" name="Shape 8"/>
          <p:cNvSpPr/>
          <p:nvPr/>
        </p:nvSpPr>
        <p:spPr>
          <a:xfrm>
            <a:off x="9098280" y="960120"/>
            <a:ext cx="2331720" cy="1024128"/>
          </a:xfrm>
          <a:prstGeom prst="roundRect">
            <a:avLst>
              <a:gd name="adj" fmla="val 8929"/>
            </a:avLst>
          </a:prstGeom>
          <a:solidFill>
            <a:srgbClr val="E7F4EF"/>
          </a:solidFill>
          <a:ln w="12700">
            <a:solidFill>
              <a:srgbClr val="E7F4EF"/>
            </a:solidFill>
            <a:prstDash val="solid"/>
          </a:ln>
        </p:spPr>
        <p:txBody>
          <a:bodyPr/>
          <a:p/>
        </p:txBody>
      </p:sp>
      <p:sp>
        <p:nvSpPr>
          <p:cNvPr id="11" name="Text 9"/>
          <p:cNvSpPr txBox="1"/>
          <p:nvPr/>
        </p:nvSpPr>
        <p:spPr>
          <a:xfrm>
            <a:off x="9098280" y="1161288"/>
            <a:ext cx="2331720" cy="228600"/>
          </a:xfrm>
          <a:prstGeom prst="rect">
            <a:avLst/>
          </a:prstGeom>
          <a:noFill/>
          <a:ln/>
        </p:spPr>
        <p:txBody>
          <a:bodyPr wrap="square" lIns="0" tIns="0" rIns="0" bIns="0" rtlCol="0" anchor="ctr">
            <a:normAutofit/>
          </a:bodyPr>
          <a:lstStyle/>
          <a:p>
            <a:pPr algn="ctr" indent="0" marL="0">
              <a:buNone/>
            </a:pPr>
            <a:r>
              <a:rPr lang="de-DE" sz="1200" b="1" dirty="0">
                <a:solidFill>
                  <a:srgbClr val="173F35"/>
                </a:solidFill>
                <a:latin typeface="Calibri" pitchFamily="34" charset="0"/>
                <a:ea typeface="Calibri" pitchFamily="34" charset="-122"/>
                <a:cs typeface="Calibri" pitchFamily="34" charset="-120"/>
              </a:rPr>
              <a:t>CDM-OUTPUT</a:t>
            </a:r>
            <a:endParaRPr lang="de-DE" sz="1200" dirty="0"/>
          </a:p>
        </p:txBody>
      </p:sp>
      <p:sp>
        <p:nvSpPr>
          <p:cNvPr id="12" name="Text 10"/>
          <p:cNvSpPr txBox="1"/>
          <p:nvPr/>
        </p:nvSpPr>
        <p:spPr>
          <a:xfrm>
            <a:off x="9098280" y="1463040"/>
            <a:ext cx="2331720" cy="274320"/>
          </a:xfrm>
          <a:prstGeom prst="rect">
            <a:avLst/>
          </a:prstGeom>
          <a:noFill/>
          <a:ln/>
        </p:spPr>
        <p:txBody>
          <a:bodyPr wrap="square" lIns="0" tIns="0" rIns="0" bIns="0" rtlCol="0" anchor="ctr">
            <a:normAutofit/>
          </a:bodyPr>
          <a:lstStyle/>
          <a:p>
            <a:pPr algn="ctr" indent="0" marL="0">
              <a:buNone/>
            </a:pPr>
            <a:r>
              <a:rPr lang="de-DE" sz="1700" b="1" dirty="0">
                <a:solidFill>
                  <a:srgbClr val="102F29"/>
                </a:solidFill>
                <a:latin typeface="Calibri" pitchFamily="34" charset="0"/>
                <a:ea typeface="Calibri" pitchFamily="34" charset="-122"/>
                <a:cs typeface="Calibri" pitchFamily="34" charset="-120"/>
              </a:rPr>
              <a:t>2 Entitäten + model.json</a:t>
            </a:r>
            <a:endParaRPr lang="de-DE" sz="1700" dirty="0"/>
          </a:p>
        </p:txBody>
      </p:sp>
      <p:sp>
        <p:nvSpPr>
          <p:cNvPr id="13" name="Shape 11"/>
          <p:cNvSpPr/>
          <p:nvPr/>
        </p:nvSpPr>
        <p:spPr>
          <a:xfrm>
            <a:off x="594360" y="3813048"/>
            <a:ext cx="2441448" cy="1024128"/>
          </a:xfrm>
          <a:prstGeom prst="roundRect">
            <a:avLst>
              <a:gd name="adj" fmla="val 8929"/>
            </a:avLst>
          </a:prstGeom>
          <a:solidFill>
            <a:srgbClr val="214D42"/>
          </a:solidFill>
          <a:ln w="12700">
            <a:solidFill>
              <a:srgbClr val="377365"/>
            </a:solidFill>
            <a:prstDash val="solid"/>
          </a:ln>
        </p:spPr>
        <p:txBody>
          <a:bodyPr/>
          <a:p/>
        </p:txBody>
      </p:sp>
      <p:sp>
        <p:nvSpPr>
          <p:cNvPr id="14" name="Text 12"/>
          <p:cNvSpPr txBox="1"/>
          <p:nvPr/>
        </p:nvSpPr>
        <p:spPr>
          <a:xfrm>
            <a:off x="758952" y="3968496"/>
            <a:ext cx="713232" cy="411480"/>
          </a:xfrm>
          <a:prstGeom prst="rect">
            <a:avLst/>
          </a:prstGeom>
          <a:noFill/>
          <a:ln/>
        </p:spPr>
        <p:txBody>
          <a:bodyPr wrap="square" lIns="0" tIns="0" rIns="0" bIns="0" rtlCol="0" anchor="ctr">
            <a:normAutofit/>
          </a:bodyPr>
          <a:lstStyle/>
          <a:p>
            <a:pPr algn="l" indent="0" marL="0">
              <a:buNone/>
            </a:pPr>
            <a:r>
              <a:rPr lang="de-DE" sz="2500" b="1" dirty="0">
                <a:solidFill>
                  <a:srgbClr val="FFFFFF"/>
                </a:solidFill>
                <a:latin typeface="Calibri" pitchFamily="34" charset="0"/>
                <a:ea typeface="Calibri" pitchFamily="34" charset="-122"/>
                <a:cs typeface="Calibri" pitchFamily="34" charset="-120"/>
              </a:rPr>
              <a:t>5</a:t>
            </a:r>
            <a:endParaRPr lang="de-DE" sz="2500" dirty="0"/>
          </a:p>
        </p:txBody>
      </p:sp>
      <p:sp>
        <p:nvSpPr>
          <p:cNvPr id="15" name="Text 13"/>
          <p:cNvSpPr txBox="1"/>
          <p:nvPr/>
        </p:nvSpPr>
        <p:spPr>
          <a:xfrm>
            <a:off x="1453896" y="3977640"/>
            <a:ext cx="1353312" cy="393192"/>
          </a:xfrm>
          <a:prstGeom prst="rect">
            <a:avLst/>
          </a:prstGeom>
          <a:noFill/>
          <a:ln/>
        </p:spPr>
        <p:txBody>
          <a:bodyPr wrap="square" lIns="0" tIns="0" rIns="0" bIns="0" rtlCol="0" anchor="ctr">
            <a:normAutofit/>
          </a:bodyPr>
          <a:lstStyle/>
          <a:p>
            <a:pPr algn="l" indent="0" marL="0">
              <a:buNone/>
            </a:pPr>
            <a:r>
              <a:rPr lang="de-DE" sz="1300" b="1" dirty="0">
                <a:solidFill>
                  <a:srgbClr val="DCEBE6"/>
                </a:solidFill>
                <a:latin typeface="Calibri" pitchFamily="34" charset="0"/>
                <a:ea typeface="Calibri" pitchFamily="34" charset="-122"/>
                <a:cs typeface="Calibri" pitchFamily="34" charset="-120"/>
              </a:rPr>
              <a:t>Kontakte</a:t>
            </a:r>
            <a:endParaRPr lang="de-DE" sz="1300" dirty="0"/>
          </a:p>
        </p:txBody>
      </p:sp>
      <p:sp>
        <p:nvSpPr>
          <p:cNvPr id="16" name="Shape 14"/>
          <p:cNvSpPr/>
          <p:nvPr/>
        </p:nvSpPr>
        <p:spPr>
          <a:xfrm>
            <a:off x="3364992" y="3813048"/>
            <a:ext cx="2441448" cy="1024128"/>
          </a:xfrm>
          <a:prstGeom prst="roundRect">
            <a:avLst>
              <a:gd name="adj" fmla="val 8929"/>
            </a:avLst>
          </a:prstGeom>
          <a:solidFill>
            <a:srgbClr val="214D42"/>
          </a:solidFill>
          <a:ln w="12700">
            <a:solidFill>
              <a:srgbClr val="377365"/>
            </a:solidFill>
            <a:prstDash val="solid"/>
          </a:ln>
        </p:spPr>
        <p:txBody>
          <a:bodyPr/>
          <a:p/>
        </p:txBody>
      </p:sp>
      <p:sp>
        <p:nvSpPr>
          <p:cNvPr id="17" name="Text 15"/>
          <p:cNvSpPr txBox="1"/>
          <p:nvPr/>
        </p:nvSpPr>
        <p:spPr>
          <a:xfrm>
            <a:off x="3529584" y="3968496"/>
            <a:ext cx="713232" cy="411480"/>
          </a:xfrm>
          <a:prstGeom prst="rect">
            <a:avLst/>
          </a:prstGeom>
          <a:noFill/>
          <a:ln/>
        </p:spPr>
        <p:txBody>
          <a:bodyPr wrap="square" lIns="0" tIns="0" rIns="0" bIns="0" rtlCol="0" anchor="ctr">
            <a:normAutofit/>
          </a:bodyPr>
          <a:lstStyle/>
          <a:p>
            <a:pPr algn="l" indent="0" marL="0">
              <a:buNone/>
            </a:pPr>
            <a:r>
              <a:rPr lang="de-DE" sz="2500" b="1" dirty="0">
                <a:solidFill>
                  <a:srgbClr val="FFFFFF"/>
                </a:solidFill>
                <a:latin typeface="Calibri" pitchFamily="34" charset="0"/>
                <a:ea typeface="Calibri" pitchFamily="34" charset="-122"/>
                <a:cs typeface="Calibri" pitchFamily="34" charset="-120"/>
              </a:rPr>
              <a:t>4</a:t>
            </a:r>
            <a:endParaRPr lang="de-DE" sz="2500" dirty="0"/>
          </a:p>
        </p:txBody>
      </p:sp>
      <p:sp>
        <p:nvSpPr>
          <p:cNvPr id="18" name="Text 16"/>
          <p:cNvSpPr txBox="1"/>
          <p:nvPr/>
        </p:nvSpPr>
        <p:spPr>
          <a:xfrm>
            <a:off x="4224528" y="3977640"/>
            <a:ext cx="1353312" cy="393192"/>
          </a:xfrm>
          <a:prstGeom prst="rect">
            <a:avLst/>
          </a:prstGeom>
          <a:noFill/>
          <a:ln/>
        </p:spPr>
        <p:txBody>
          <a:bodyPr wrap="square" lIns="0" tIns="0" rIns="0" bIns="0" rtlCol="0" anchor="ctr">
            <a:normAutofit/>
          </a:bodyPr>
          <a:lstStyle/>
          <a:p>
            <a:pPr algn="l" indent="0" marL="0">
              <a:buNone/>
            </a:pPr>
            <a:r>
              <a:rPr lang="de-DE" sz="1300" b="1" dirty="0">
                <a:solidFill>
                  <a:srgbClr val="DCEBE6"/>
                </a:solidFill>
                <a:latin typeface="Calibri" pitchFamily="34" charset="0"/>
                <a:ea typeface="Calibri" pitchFamily="34" charset="-122"/>
                <a:cs typeface="Calibri" pitchFamily="34" charset="-120"/>
              </a:rPr>
              <a:t>gültige Aufträge</a:t>
            </a:r>
            <a:endParaRPr lang="de-DE" sz="1300" dirty="0"/>
          </a:p>
        </p:txBody>
      </p:sp>
      <p:sp>
        <p:nvSpPr>
          <p:cNvPr id="19" name="Shape 17"/>
          <p:cNvSpPr/>
          <p:nvPr/>
        </p:nvSpPr>
        <p:spPr>
          <a:xfrm>
            <a:off x="6135624" y="3813048"/>
            <a:ext cx="2441448" cy="1024128"/>
          </a:xfrm>
          <a:prstGeom prst="roundRect">
            <a:avLst>
              <a:gd name="adj" fmla="val 8929"/>
            </a:avLst>
          </a:prstGeom>
          <a:solidFill>
            <a:srgbClr val="214D42"/>
          </a:solidFill>
          <a:ln w="12700">
            <a:solidFill>
              <a:srgbClr val="377365"/>
            </a:solidFill>
            <a:prstDash val="solid"/>
          </a:ln>
        </p:spPr>
        <p:txBody>
          <a:bodyPr/>
          <a:p/>
        </p:txBody>
      </p:sp>
      <p:sp>
        <p:nvSpPr>
          <p:cNvPr id="20" name="Text 18"/>
          <p:cNvSpPr txBox="1"/>
          <p:nvPr/>
        </p:nvSpPr>
        <p:spPr>
          <a:xfrm>
            <a:off x="6300216" y="3968496"/>
            <a:ext cx="713232" cy="411480"/>
          </a:xfrm>
          <a:prstGeom prst="rect">
            <a:avLst/>
          </a:prstGeom>
          <a:noFill/>
          <a:ln/>
        </p:spPr>
        <p:txBody>
          <a:bodyPr wrap="square" lIns="0" tIns="0" rIns="0" bIns="0" rtlCol="0" anchor="ctr">
            <a:normAutofit/>
          </a:bodyPr>
          <a:lstStyle/>
          <a:p>
            <a:pPr algn="l" indent="0" marL="0">
              <a:buNone/>
            </a:pPr>
            <a:r>
              <a:rPr lang="de-DE" sz="2500" b="1" dirty="0">
                <a:solidFill>
                  <a:srgbClr val="FFFFFF"/>
                </a:solidFill>
                <a:latin typeface="Calibri" pitchFamily="34" charset="0"/>
                <a:ea typeface="Calibri" pitchFamily="34" charset="-122"/>
                <a:cs typeface="Calibri" pitchFamily="34" charset="-120"/>
              </a:rPr>
              <a:t>1</a:t>
            </a:r>
            <a:endParaRPr lang="de-DE" sz="2500" dirty="0"/>
          </a:p>
        </p:txBody>
      </p:sp>
      <p:sp>
        <p:nvSpPr>
          <p:cNvPr id="21" name="Text 19"/>
          <p:cNvSpPr txBox="1"/>
          <p:nvPr/>
        </p:nvSpPr>
        <p:spPr>
          <a:xfrm>
            <a:off x="6995160" y="3977640"/>
            <a:ext cx="1353312" cy="393192"/>
          </a:xfrm>
          <a:prstGeom prst="rect">
            <a:avLst/>
          </a:prstGeom>
          <a:noFill/>
          <a:ln/>
        </p:spPr>
        <p:txBody>
          <a:bodyPr wrap="square" lIns="0" tIns="0" rIns="0" bIns="0" rtlCol="0" anchor="ctr">
            <a:normAutofit/>
          </a:bodyPr>
          <a:lstStyle/>
          <a:p>
            <a:pPr algn="l" indent="0" marL="0">
              <a:buNone/>
            </a:pPr>
            <a:r>
              <a:rPr lang="de-DE" sz="1300" b="1" dirty="0">
                <a:solidFill>
                  <a:srgbClr val="DCEBE6"/>
                </a:solidFill>
                <a:latin typeface="Calibri" pitchFamily="34" charset="0"/>
                <a:ea typeface="Calibri" pitchFamily="34" charset="-122"/>
                <a:cs typeface="Calibri" pitchFamily="34" charset="-120"/>
              </a:rPr>
              <a:t>in Quarantäne</a:t>
            </a:r>
            <a:endParaRPr lang="de-DE" sz="1300" dirty="0"/>
          </a:p>
        </p:txBody>
      </p:sp>
      <p:sp>
        <p:nvSpPr>
          <p:cNvPr id="22" name="Shape 20"/>
          <p:cNvSpPr/>
          <p:nvPr/>
        </p:nvSpPr>
        <p:spPr>
          <a:xfrm>
            <a:off x="8906256" y="3813048"/>
            <a:ext cx="2441448" cy="1024128"/>
          </a:xfrm>
          <a:prstGeom prst="roundRect">
            <a:avLst>
              <a:gd name="adj" fmla="val 8929"/>
            </a:avLst>
          </a:prstGeom>
          <a:solidFill>
            <a:srgbClr val="FFF5D9"/>
          </a:solidFill>
          <a:ln w="12700">
            <a:solidFill>
              <a:srgbClr val="FFF5D9"/>
            </a:solidFill>
            <a:prstDash val="solid"/>
          </a:ln>
        </p:spPr>
        <p:txBody>
          <a:bodyPr/>
          <a:p/>
        </p:txBody>
      </p:sp>
      <p:sp>
        <p:nvSpPr>
          <p:cNvPr id="23" name="Text 21"/>
          <p:cNvSpPr txBox="1"/>
          <p:nvPr/>
        </p:nvSpPr>
        <p:spPr>
          <a:xfrm>
            <a:off x="9070848" y="3968496"/>
            <a:ext cx="713232" cy="411480"/>
          </a:xfrm>
          <a:prstGeom prst="rect">
            <a:avLst/>
          </a:prstGeom>
          <a:noFill/>
          <a:ln/>
        </p:spPr>
        <p:txBody>
          <a:bodyPr wrap="square" lIns="0" tIns="0" rIns="0" bIns="0" rtlCol="0" anchor="ctr">
            <a:normAutofit/>
          </a:bodyPr>
          <a:lstStyle/>
          <a:p>
            <a:pPr algn="l" indent="0" marL="0">
              <a:buNone/>
            </a:pPr>
            <a:r>
              <a:rPr lang="de-DE" sz="2500" b="1" dirty="0">
                <a:solidFill>
                  <a:srgbClr val="102F29"/>
                </a:solidFill>
                <a:latin typeface="Calibri" pitchFamily="34" charset="0"/>
                <a:ea typeface="Calibri" pitchFamily="34" charset="-122"/>
                <a:cs typeface="Calibri" pitchFamily="34" charset="-120"/>
              </a:rPr>
              <a:t>ISO</a:t>
            </a:r>
            <a:endParaRPr lang="de-DE" sz="2500" dirty="0"/>
          </a:p>
        </p:txBody>
      </p:sp>
      <p:sp>
        <p:nvSpPr>
          <p:cNvPr id="24" name="Text 22"/>
          <p:cNvSpPr txBox="1"/>
          <p:nvPr/>
        </p:nvSpPr>
        <p:spPr>
          <a:xfrm>
            <a:off x="9765792" y="3977640"/>
            <a:ext cx="1353312" cy="393192"/>
          </a:xfrm>
          <a:prstGeom prst="rect">
            <a:avLst/>
          </a:prstGeom>
          <a:noFill/>
          <a:ln/>
        </p:spPr>
        <p:txBody>
          <a:bodyPr wrap="square" lIns="0" tIns="0" rIns="0" bIns="0" rtlCol="0" anchor="ctr">
            <a:normAutofit/>
          </a:bodyPr>
          <a:lstStyle/>
          <a:p>
            <a:pPr algn="l" indent="0" marL="0">
              <a:buNone/>
            </a:pPr>
            <a:r>
              <a:rPr lang="de-DE" sz="1300" b="1" dirty="0">
                <a:solidFill>
                  <a:srgbClr val="102F29"/>
                </a:solidFill>
                <a:latin typeface="Calibri" pitchFamily="34" charset="0"/>
                <a:ea typeface="Calibri" pitchFamily="34" charset="-122"/>
                <a:cs typeface="Calibri" pitchFamily="34" charset="-120"/>
              </a:rPr>
              <a:t>UTC-Zeitstempel</a:t>
            </a:r>
            <a:endParaRPr lang="de-DE" sz="1300" dirty="0"/>
          </a:p>
        </p:txBody>
      </p:sp>
      <p:sp>
        <p:nvSpPr>
          <p:cNvPr id="25" name="Shape 23"/>
          <p:cNvSpPr/>
          <p:nvPr/>
        </p:nvSpPr>
        <p:spPr>
          <a:xfrm>
            <a:off x="612648" y="5257800"/>
            <a:ext cx="246888" cy="246888"/>
          </a:xfrm>
          <a:prstGeom prst="ellipse">
            <a:avLst/>
          </a:prstGeom>
          <a:solidFill>
            <a:srgbClr val="55B99A"/>
          </a:solidFill>
          <a:ln w="12700">
            <a:solidFill>
              <a:srgbClr val="55B99A"/>
            </a:solidFill>
            <a:prstDash val="solid"/>
          </a:ln>
        </p:spPr>
        <p:txBody>
          <a:bodyPr/>
          <a:p/>
        </p:txBody>
      </p:sp>
      <p:sp>
        <p:nvSpPr>
          <p:cNvPr id="26" name="Text 24"/>
          <p:cNvSpPr txBox="1"/>
          <p:nvPr/>
        </p:nvSpPr>
        <p:spPr>
          <a:xfrm>
            <a:off x="612648" y="5248656"/>
            <a:ext cx="246888" cy="246888"/>
          </a:xfrm>
          <a:prstGeom prst="rect">
            <a:avLst/>
          </a:prstGeom>
          <a:noFill/>
          <a:ln/>
        </p:spPr>
        <p:txBody>
          <a:bodyPr wrap="square" lIns="0" tIns="0" rIns="0" bIns="0" rtlCol="0" anchor="ctr">
            <a:normAutofit/>
          </a:bodyPr>
          <a:lstStyle/>
          <a:p>
            <a:pPr algn="ctr" indent="0" marL="0">
              <a:buNone/>
            </a:pPr>
            <a:r>
              <a:rPr lang="de-DE" sz="1200" b="1" dirty="0">
                <a:solidFill>
                  <a:srgbClr val="FFFFFF"/>
                </a:solidFill>
                <a:latin typeface="Calibri" pitchFamily="34" charset="0"/>
                <a:ea typeface="Calibri" pitchFamily="34" charset="-122"/>
                <a:cs typeface="Calibri" pitchFamily="34" charset="-120"/>
              </a:rPr>
              <a:t>✓</a:t>
            </a:r>
            <a:endParaRPr lang="de-DE" sz="1200" dirty="0"/>
          </a:p>
        </p:txBody>
      </p:sp>
      <p:sp>
        <p:nvSpPr>
          <p:cNvPr id="27" name="Text 25"/>
          <p:cNvSpPr txBox="1"/>
          <p:nvPr/>
        </p:nvSpPr>
        <p:spPr>
          <a:xfrm>
            <a:off x="960120" y="5212080"/>
            <a:ext cx="2103120" cy="347472"/>
          </a:xfrm>
          <a:prstGeom prst="rect">
            <a:avLst/>
          </a:prstGeom>
          <a:noFill/>
          <a:ln/>
        </p:spPr>
        <p:txBody>
          <a:bodyPr wrap="square" lIns="0" tIns="0" rIns="0" bIns="0" rtlCol="0" anchor="ctr">
            <a:normAutofit/>
          </a:bodyPr>
          <a:lstStyle/>
          <a:p>
            <a:pPr algn="l" indent="0" marL="0">
              <a:buNone/>
            </a:pPr>
            <a:r>
              <a:rPr lang="de-DE" sz="1200" b="1" dirty="0">
                <a:solidFill>
                  <a:srgbClr val="DCEBE6"/>
                </a:solidFill>
                <a:latin typeface="Calibri" pitchFamily="34" charset="0"/>
                <a:ea typeface="Calibri" pitchFamily="34" charset="-122"/>
                <a:cs typeface="Calibri" pitchFamily="34" charset="-120"/>
              </a:rPr>
              <a:t>Rohzeilen PARSEN</a:t>
            </a:r>
            <a:endParaRPr lang="de-DE" sz="1200" dirty="0"/>
          </a:p>
        </p:txBody>
      </p:sp>
      <p:sp>
        <p:nvSpPr>
          <p:cNvPr id="28" name="Shape 26"/>
          <p:cNvSpPr/>
          <p:nvPr/>
        </p:nvSpPr>
        <p:spPr>
          <a:xfrm>
            <a:off x="3383280" y="5257800"/>
            <a:ext cx="246888" cy="246888"/>
          </a:xfrm>
          <a:prstGeom prst="ellipse">
            <a:avLst/>
          </a:prstGeom>
          <a:solidFill>
            <a:srgbClr val="55B99A"/>
          </a:solidFill>
          <a:ln w="12700">
            <a:solidFill>
              <a:srgbClr val="55B99A"/>
            </a:solidFill>
            <a:prstDash val="solid"/>
          </a:ln>
        </p:spPr>
        <p:txBody>
          <a:bodyPr/>
          <a:p/>
        </p:txBody>
      </p:sp>
      <p:sp>
        <p:nvSpPr>
          <p:cNvPr id="29" name="Text 27"/>
          <p:cNvSpPr txBox="1"/>
          <p:nvPr/>
        </p:nvSpPr>
        <p:spPr>
          <a:xfrm>
            <a:off x="3383280" y="5248656"/>
            <a:ext cx="246888" cy="246888"/>
          </a:xfrm>
          <a:prstGeom prst="rect">
            <a:avLst/>
          </a:prstGeom>
          <a:noFill/>
          <a:ln/>
        </p:spPr>
        <p:txBody>
          <a:bodyPr wrap="square" lIns="0" tIns="0" rIns="0" bIns="0" rtlCol="0" anchor="ctr">
            <a:normAutofit/>
          </a:bodyPr>
          <a:lstStyle/>
          <a:p>
            <a:pPr algn="ctr" indent="0" marL="0">
              <a:buNone/>
            </a:pPr>
            <a:r>
              <a:rPr lang="de-DE" sz="1200" b="1" dirty="0">
                <a:solidFill>
                  <a:srgbClr val="FFFFFF"/>
                </a:solidFill>
                <a:latin typeface="Calibri" pitchFamily="34" charset="0"/>
                <a:ea typeface="Calibri" pitchFamily="34" charset="-122"/>
                <a:cs typeface="Calibri" pitchFamily="34" charset="-120"/>
              </a:rPr>
              <a:t>✓</a:t>
            </a:r>
            <a:endParaRPr lang="de-DE" sz="1200" dirty="0"/>
          </a:p>
        </p:txBody>
      </p:sp>
      <p:sp>
        <p:nvSpPr>
          <p:cNvPr id="30" name="Text 28"/>
          <p:cNvSpPr txBox="1"/>
          <p:nvPr/>
        </p:nvSpPr>
        <p:spPr>
          <a:xfrm>
            <a:off x="3730752" y="5212080"/>
            <a:ext cx="2103120" cy="347472"/>
          </a:xfrm>
          <a:prstGeom prst="rect">
            <a:avLst/>
          </a:prstGeom>
          <a:noFill/>
          <a:ln/>
        </p:spPr>
        <p:txBody>
          <a:bodyPr wrap="square" lIns="0" tIns="0" rIns="0" bIns="0" rtlCol="0" anchor="ctr">
            <a:normAutofit/>
          </a:bodyPr>
          <a:lstStyle/>
          <a:p>
            <a:pPr algn="l" indent="0" marL="0">
              <a:buNone/>
            </a:pPr>
            <a:r>
              <a:rPr lang="de-DE" sz="1200" b="1" dirty="0">
                <a:solidFill>
                  <a:srgbClr val="DCEBE6"/>
                </a:solidFill>
                <a:latin typeface="Calibri" pitchFamily="34" charset="0"/>
                <a:ea typeface="Calibri" pitchFamily="34" charset="-122"/>
                <a:cs typeface="Calibri" pitchFamily="34" charset="-120"/>
              </a:rPr>
              <a:t>Felder TRANSFORMIEREN</a:t>
            </a:r>
            <a:endParaRPr lang="de-DE" sz="1200" dirty="0"/>
          </a:p>
        </p:txBody>
      </p:sp>
      <p:sp>
        <p:nvSpPr>
          <p:cNvPr id="31" name="Shape 29"/>
          <p:cNvSpPr/>
          <p:nvPr/>
        </p:nvSpPr>
        <p:spPr>
          <a:xfrm>
            <a:off x="6153912" y="5257800"/>
            <a:ext cx="246888" cy="246888"/>
          </a:xfrm>
          <a:prstGeom prst="ellipse">
            <a:avLst/>
          </a:prstGeom>
          <a:solidFill>
            <a:srgbClr val="55B99A"/>
          </a:solidFill>
          <a:ln w="12700">
            <a:solidFill>
              <a:srgbClr val="55B99A"/>
            </a:solidFill>
            <a:prstDash val="solid"/>
          </a:ln>
        </p:spPr>
        <p:txBody>
          <a:bodyPr/>
          <a:p/>
        </p:txBody>
      </p:sp>
      <p:sp>
        <p:nvSpPr>
          <p:cNvPr id="32" name="Text 30"/>
          <p:cNvSpPr txBox="1"/>
          <p:nvPr/>
        </p:nvSpPr>
        <p:spPr>
          <a:xfrm>
            <a:off x="6153912" y="5248656"/>
            <a:ext cx="246888" cy="246888"/>
          </a:xfrm>
          <a:prstGeom prst="rect">
            <a:avLst/>
          </a:prstGeom>
          <a:noFill/>
          <a:ln/>
        </p:spPr>
        <p:txBody>
          <a:bodyPr wrap="square" lIns="0" tIns="0" rIns="0" bIns="0" rtlCol="0" anchor="ctr">
            <a:normAutofit/>
          </a:bodyPr>
          <a:lstStyle/>
          <a:p>
            <a:pPr algn="ctr" indent="0" marL="0">
              <a:buNone/>
            </a:pPr>
            <a:r>
              <a:rPr lang="de-DE" sz="1200" b="1" dirty="0">
                <a:solidFill>
                  <a:srgbClr val="FFFFFF"/>
                </a:solidFill>
                <a:latin typeface="Calibri" pitchFamily="34" charset="0"/>
                <a:ea typeface="Calibri" pitchFamily="34" charset="-122"/>
                <a:cs typeface="Calibri" pitchFamily="34" charset="-120"/>
              </a:rPr>
              <a:t>✓</a:t>
            </a:r>
            <a:endParaRPr lang="de-DE" sz="1200" dirty="0"/>
          </a:p>
        </p:txBody>
      </p:sp>
      <p:sp>
        <p:nvSpPr>
          <p:cNvPr id="33" name="Text 31"/>
          <p:cNvSpPr txBox="1"/>
          <p:nvPr/>
        </p:nvSpPr>
        <p:spPr>
          <a:xfrm>
            <a:off x="6501384" y="5212080"/>
            <a:ext cx="2103120" cy="347472"/>
          </a:xfrm>
          <a:prstGeom prst="rect">
            <a:avLst/>
          </a:prstGeom>
          <a:noFill/>
          <a:ln/>
        </p:spPr>
        <p:txBody>
          <a:bodyPr wrap="square" lIns="0" tIns="0" rIns="0" bIns="0" rtlCol="0" anchor="ctr">
            <a:normAutofit/>
          </a:bodyPr>
          <a:lstStyle/>
          <a:p>
            <a:pPr algn="l" indent="0" marL="0">
              <a:buNone/>
            </a:pPr>
            <a:r>
              <a:rPr lang="de-DE" sz="1200" b="1" dirty="0">
                <a:solidFill>
                  <a:srgbClr val="DCEBE6"/>
                </a:solidFill>
                <a:latin typeface="Calibri" pitchFamily="34" charset="0"/>
                <a:ea typeface="Calibri" pitchFamily="34" charset="-122"/>
                <a:cs typeface="Calibri" pitchFamily="34" charset="-120"/>
              </a:rPr>
              <a:t>Modelle + FK VALIDIEREN</a:t>
            </a:r>
            <a:endParaRPr lang="de-DE" sz="1200" dirty="0"/>
          </a:p>
        </p:txBody>
      </p:sp>
      <p:sp>
        <p:nvSpPr>
          <p:cNvPr id="34" name="Shape 32"/>
          <p:cNvSpPr/>
          <p:nvPr/>
        </p:nvSpPr>
        <p:spPr>
          <a:xfrm>
            <a:off x="8924544" y="5257800"/>
            <a:ext cx="246888" cy="246888"/>
          </a:xfrm>
          <a:prstGeom prst="ellipse">
            <a:avLst/>
          </a:prstGeom>
          <a:solidFill>
            <a:srgbClr val="55B99A"/>
          </a:solidFill>
          <a:ln w="12700">
            <a:solidFill>
              <a:srgbClr val="55B99A"/>
            </a:solidFill>
            <a:prstDash val="solid"/>
          </a:ln>
        </p:spPr>
        <p:txBody>
          <a:bodyPr/>
          <a:p/>
        </p:txBody>
      </p:sp>
      <p:sp>
        <p:nvSpPr>
          <p:cNvPr id="35" name="Text 33"/>
          <p:cNvSpPr txBox="1"/>
          <p:nvPr/>
        </p:nvSpPr>
        <p:spPr>
          <a:xfrm>
            <a:off x="8924544" y="5248656"/>
            <a:ext cx="246888" cy="246888"/>
          </a:xfrm>
          <a:prstGeom prst="rect">
            <a:avLst/>
          </a:prstGeom>
          <a:noFill/>
          <a:ln/>
        </p:spPr>
        <p:txBody>
          <a:bodyPr wrap="square" lIns="0" tIns="0" rIns="0" bIns="0" rtlCol="0" anchor="ctr">
            <a:normAutofit/>
          </a:bodyPr>
          <a:lstStyle/>
          <a:p>
            <a:pPr algn="ctr" indent="0" marL="0">
              <a:buNone/>
            </a:pPr>
            <a:r>
              <a:rPr lang="de-DE" sz="1200" b="1" dirty="0">
                <a:solidFill>
                  <a:srgbClr val="FFFFFF"/>
                </a:solidFill>
                <a:latin typeface="Calibri" pitchFamily="34" charset="0"/>
                <a:ea typeface="Calibri" pitchFamily="34" charset="-122"/>
                <a:cs typeface="Calibri" pitchFamily="34" charset="-120"/>
              </a:rPr>
              <a:t>✓</a:t>
            </a:r>
            <a:endParaRPr lang="de-DE" sz="1200" dirty="0"/>
          </a:p>
        </p:txBody>
      </p:sp>
      <p:sp>
        <p:nvSpPr>
          <p:cNvPr id="36" name="Text 34"/>
          <p:cNvSpPr txBox="1"/>
          <p:nvPr/>
        </p:nvSpPr>
        <p:spPr>
          <a:xfrm>
            <a:off x="9272016" y="5212080"/>
            <a:ext cx="2103120" cy="347472"/>
          </a:xfrm>
          <a:prstGeom prst="rect">
            <a:avLst/>
          </a:prstGeom>
          <a:noFill/>
          <a:ln/>
        </p:spPr>
        <p:txBody>
          <a:bodyPr wrap="square" lIns="0" tIns="0" rIns="0" bIns="0" rtlCol="0" anchor="ctr">
            <a:normAutofit/>
          </a:bodyPr>
          <a:lstStyle/>
          <a:p>
            <a:pPr algn="l" indent="0" marL="0">
              <a:buNone/>
            </a:pPr>
            <a:r>
              <a:rPr lang="de-DE" sz="1200" b="1" dirty="0">
                <a:solidFill>
                  <a:srgbClr val="DCEBE6"/>
                </a:solidFill>
                <a:latin typeface="Calibri" pitchFamily="34" charset="0"/>
                <a:ea typeface="Calibri" pitchFamily="34" charset="-122"/>
                <a:cs typeface="Calibri" pitchFamily="34" charset="-120"/>
              </a:rPr>
              <a:t>Daten + Metadaten LADEN</a:t>
            </a:r>
            <a:endParaRPr lang="de-DE" sz="1200" dirty="0"/>
          </a:p>
        </p:txBody>
      </p:sp>
      <p:sp>
        <p:nvSpPr>
          <p:cNvPr id="37" name="Text 35"/>
          <p:cNvSpPr txBox="1"/>
          <p:nvPr/>
        </p:nvSpPr>
        <p:spPr>
          <a:xfrm>
            <a:off x="612648" y="6080760"/>
            <a:ext cx="4937760" cy="256032"/>
          </a:xfrm>
          <a:prstGeom prst="rect">
            <a:avLst/>
          </a:prstGeom>
          <a:noFill/>
          <a:ln/>
        </p:spPr>
        <p:txBody>
          <a:bodyPr wrap="square" lIns="0" tIns="0" rIns="0" bIns="0" rtlCol="0" anchor="ctr">
            <a:normAutofit/>
          </a:bodyPr>
          <a:lstStyle/>
          <a:p>
            <a:pPr algn="l" indent="0" marL="0">
              <a:buNone/>
            </a:pPr>
            <a:r>
              <a:rPr lang="de-DE" sz="1200" b="1" dirty="0">
                <a:solidFill>
                  <a:srgbClr val="F2C14E"/>
                </a:solidFill>
                <a:latin typeface="Calibri" pitchFamily="34" charset="0"/>
                <a:ea typeface="Calibri" pitchFamily="34" charset="-122"/>
                <a:cs typeface="Calibri" pitchFamily="34" charset="-120"/>
              </a:rPr>
              <a:t>Einstiegspunkt: python -m src.main</a:t>
            </a:r>
            <a:endParaRPr lang="de-DE"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566928"/>
            <a:ext cx="11155680" cy="502920"/>
          </a:xfrm>
          <a:prstGeom prst="rect">
            <a:avLst/>
          </a:prstGeom>
          <a:noFill/>
          <a:ln/>
        </p:spPr>
        <p:txBody>
          <a:bodyPr wrap="square" lIns="0" tIns="0" rIns="0" bIns="0" rtlCol="0" anchor="ctr">
            <a:normAutofit/>
          </a:bodyPr>
          <a:lstStyle/>
          <a:p>
            <a:pPr algn="l" indent="0" marL="0">
              <a:buNone/>
            </a:pPr>
            <a:r>
              <a:rPr lang="de-DE" sz="3000" b="1" dirty="0">
                <a:solidFill>
                  <a:srgbClr val="17211E"/>
                </a:solidFill>
                <a:latin typeface="Cambria" pitchFamily="34" charset="0"/>
                <a:ea typeface="Cambria" pitchFamily="34" charset="-122"/>
                <a:cs typeface="Cambria" pitchFamily="34" charset="-120"/>
              </a:rPr>
              <a:t>Jede Quellzeile parsen und transformieren</a:t>
            </a:r>
            <a:endParaRPr lang="de-DE" sz="3000" dirty="0"/>
          </a:p>
        </p:txBody>
      </p:sp>
      <p:sp>
        <p:nvSpPr>
          <p:cNvPr id="3" name="Text 1"/>
          <p:cNvSpPr txBox="1"/>
          <p:nvPr/>
        </p:nvSpPr>
        <p:spPr>
          <a:xfrm>
            <a:off x="521208" y="1115568"/>
            <a:ext cx="10789920" cy="292608"/>
          </a:xfrm>
          <a:prstGeom prst="rect">
            <a:avLst/>
          </a:prstGeom>
          <a:noFill/>
          <a:ln/>
        </p:spPr>
        <p:txBody>
          <a:bodyPr wrap="square" lIns="0" tIns="0" rIns="0" bIns="0" rtlCol="0" anchor="ctr">
            <a:normAutofit/>
          </a:bodyPr>
          <a:lstStyle/>
          <a:p>
            <a:pPr algn="l" indent="0" marL="0">
              <a:buNone/>
            </a:pPr>
            <a:r>
              <a:rPr lang="de-DE" sz="1400" dirty="0">
                <a:solidFill>
                  <a:srgbClr val="5E6C67"/>
                </a:solidFill>
                <a:latin typeface="Calibri" pitchFamily="34" charset="0"/>
                <a:ea typeface="Calibri" pitchFamily="34" charset="-122"/>
                <a:cs typeface="Calibri" pitchFamily="34" charset="-120"/>
              </a:rPr>
              <a:t>Bereinigungsregeln machen aus unregelmäßiger Eingabe typisierte CDM-Felder.</a:t>
            </a:r>
            <a:endParaRPr lang="de-DE" sz="1400" dirty="0"/>
          </a:p>
        </p:txBody>
      </p:sp>
      <p:sp>
        <p:nvSpPr>
          <p:cNvPr id="4" name="Shape 2"/>
          <p:cNvSpPr/>
          <p:nvPr/>
        </p:nvSpPr>
        <p:spPr>
          <a:xfrm>
            <a:off x="566928" y="1645920"/>
            <a:ext cx="2221992" cy="1024128"/>
          </a:xfrm>
          <a:prstGeom prst="roundRect">
            <a:avLst>
              <a:gd name="adj" fmla="val 8929"/>
            </a:avLst>
          </a:prstGeom>
          <a:solidFill>
            <a:srgbClr val="F4F8F6"/>
          </a:solidFill>
          <a:ln w="12700">
            <a:solidFill>
              <a:srgbClr val="B9CCC5"/>
            </a:solidFill>
            <a:prstDash val="solid"/>
          </a:ln>
        </p:spPr>
        <p:txBody>
          <a:bodyPr/>
          <a:p/>
        </p:txBody>
      </p:sp>
      <p:sp>
        <p:nvSpPr>
          <p:cNvPr id="5" name="Shape 3"/>
          <p:cNvSpPr/>
          <p:nvPr/>
        </p:nvSpPr>
        <p:spPr>
          <a:xfrm>
            <a:off x="713232" y="1828800"/>
            <a:ext cx="384048" cy="320040"/>
          </a:xfrm>
          <a:prstGeom prst="roundRect">
            <a:avLst>
              <a:gd name="adj" fmla="val 22857"/>
            </a:avLst>
          </a:prstGeom>
          <a:solidFill>
            <a:srgbClr val="173F35"/>
          </a:solidFill>
          <a:ln w="12700">
            <a:solidFill>
              <a:srgbClr val="173F35"/>
            </a:solidFill>
            <a:prstDash val="solid"/>
          </a:ln>
        </p:spPr>
        <p:txBody>
          <a:bodyPr/>
          <a:p/>
        </p:txBody>
      </p:sp>
      <p:sp>
        <p:nvSpPr>
          <p:cNvPr id="6" name="Text 4"/>
          <p:cNvSpPr txBox="1"/>
          <p:nvPr/>
        </p:nvSpPr>
        <p:spPr>
          <a:xfrm>
            <a:off x="713232" y="1828800"/>
            <a:ext cx="384048" cy="320040"/>
          </a:xfrm>
          <a:prstGeom prst="rect">
            <a:avLst/>
          </a:prstGeom>
          <a:noFill/>
          <a:ln/>
        </p:spPr>
        <p:txBody>
          <a:bodyPr wrap="square" lIns="0" tIns="0" rIns="0" bIns="0" rtlCol="0" anchor="ctr">
            <a:normAutofit/>
          </a:bodyPr>
          <a:lstStyle/>
          <a:p>
            <a:pPr algn="ctr" indent="0" marL="0">
              <a:buNone/>
            </a:pPr>
            <a:r>
              <a:rPr lang="de-DE" sz="1100" b="1" dirty="0">
                <a:solidFill>
                  <a:srgbClr val="FFFFFF"/>
                </a:solidFill>
                <a:latin typeface="Calibri" pitchFamily="34" charset="0"/>
                <a:ea typeface="Calibri" pitchFamily="34" charset="-122"/>
                <a:cs typeface="Calibri" pitchFamily="34" charset="-120"/>
              </a:rPr>
              <a:t>1</a:t>
            </a:r>
            <a:endParaRPr lang="de-DE" sz="1100" dirty="0"/>
          </a:p>
        </p:txBody>
      </p:sp>
      <p:sp>
        <p:nvSpPr>
          <p:cNvPr id="7" name="Text 5"/>
          <p:cNvSpPr txBox="1"/>
          <p:nvPr/>
        </p:nvSpPr>
        <p:spPr>
          <a:xfrm>
            <a:off x="1207008" y="1810512"/>
            <a:ext cx="1399032" cy="274320"/>
          </a:xfrm>
          <a:prstGeom prst="rect">
            <a:avLst/>
          </a:prstGeom>
          <a:noFill/>
          <a:ln/>
        </p:spPr>
        <p:txBody>
          <a:bodyPr wrap="square" lIns="0" tIns="0" rIns="0" bIns="0" rtlCol="0" anchor="ctr">
            <a:normAutofit/>
          </a:bodyPr>
          <a:lstStyle/>
          <a:p>
            <a:pPr algn="l" indent="0" marL="0">
              <a:buNone/>
            </a:pPr>
            <a:r>
              <a:rPr lang="de-DE" sz="1400" b="1" dirty="0">
                <a:solidFill>
                  <a:srgbClr val="17211E"/>
                </a:solidFill>
                <a:latin typeface="Calibri" pitchFamily="34" charset="0"/>
                <a:ea typeface="Calibri" pitchFamily="34" charset="-122"/>
                <a:cs typeface="Calibri" pitchFamily="34" charset="-120"/>
              </a:rPr>
              <a:t>PARSEN</a:t>
            </a:r>
            <a:endParaRPr lang="de-DE" sz="1400" dirty="0"/>
          </a:p>
        </p:txBody>
      </p:sp>
      <p:sp>
        <p:nvSpPr>
          <p:cNvPr id="8" name="Text 6"/>
          <p:cNvSpPr txBox="1"/>
          <p:nvPr/>
        </p:nvSpPr>
        <p:spPr>
          <a:xfrm>
            <a:off x="713232" y="2267712"/>
            <a:ext cx="1874520" cy="256032"/>
          </a:xfrm>
          <a:prstGeom prst="rect">
            <a:avLst/>
          </a:prstGeom>
          <a:noFill/>
          <a:ln/>
        </p:spPr>
        <p:txBody>
          <a:bodyPr wrap="square" lIns="0" tIns="0" rIns="0" bIns="0" rtlCol="0" anchor="ctr">
            <a:normAutofit/>
          </a:bodyPr>
          <a:lstStyle/>
          <a:p>
            <a:pPr algn="l" indent="0" marL="0">
              <a:buNone/>
            </a:pPr>
            <a:r>
              <a:rPr lang="de-DE" sz="1100" b="1" dirty="0">
                <a:solidFill>
                  <a:srgbClr val="5E6C67"/>
                </a:solidFill>
                <a:latin typeface="Calibri" pitchFamily="34" charset="0"/>
                <a:ea typeface="Calibri" pitchFamily="34" charset="-122"/>
                <a:cs typeface="Calibri" pitchFamily="34" charset="-120"/>
              </a:rPr>
              <a:t>Zeilen lesen + reparieren</a:t>
            </a:r>
            <a:endParaRPr lang="de-DE" sz="1100" dirty="0"/>
          </a:p>
        </p:txBody>
      </p:sp>
      <p:sp>
        <p:nvSpPr>
          <p:cNvPr id="9" name="Shape 7"/>
          <p:cNvSpPr/>
          <p:nvPr/>
        </p:nvSpPr>
        <p:spPr>
          <a:xfrm>
            <a:off x="2843784" y="2157984"/>
            <a:ext cx="402336" cy="0"/>
          </a:xfrm>
          <a:prstGeom prst="line">
            <a:avLst/>
          </a:prstGeom>
          <a:noFill/>
          <a:ln w="25400">
            <a:solidFill>
              <a:srgbClr val="55B99A"/>
            </a:solidFill>
            <a:prstDash val="solid"/>
            <a:tailEnd type="triangle"/>
          </a:ln>
        </p:spPr>
        <p:txBody>
          <a:bodyPr/>
          <a:p/>
        </p:txBody>
      </p:sp>
      <p:sp>
        <p:nvSpPr>
          <p:cNvPr id="10" name="Shape 8"/>
          <p:cNvSpPr/>
          <p:nvPr/>
        </p:nvSpPr>
        <p:spPr>
          <a:xfrm>
            <a:off x="3346704" y="1645920"/>
            <a:ext cx="2221992" cy="1024128"/>
          </a:xfrm>
          <a:prstGeom prst="roundRect">
            <a:avLst>
              <a:gd name="adj" fmla="val 8929"/>
            </a:avLst>
          </a:prstGeom>
          <a:solidFill>
            <a:srgbClr val="E7F4EF"/>
          </a:solidFill>
          <a:ln w="12700">
            <a:solidFill>
              <a:srgbClr val="55B99A"/>
            </a:solidFill>
            <a:prstDash val="solid"/>
          </a:ln>
        </p:spPr>
        <p:txBody>
          <a:bodyPr/>
          <a:p/>
        </p:txBody>
      </p:sp>
      <p:sp>
        <p:nvSpPr>
          <p:cNvPr id="11" name="Shape 9"/>
          <p:cNvSpPr/>
          <p:nvPr/>
        </p:nvSpPr>
        <p:spPr>
          <a:xfrm>
            <a:off x="3493008" y="1828800"/>
            <a:ext cx="384048" cy="320040"/>
          </a:xfrm>
          <a:prstGeom prst="roundRect">
            <a:avLst>
              <a:gd name="adj" fmla="val 22857"/>
            </a:avLst>
          </a:prstGeom>
          <a:solidFill>
            <a:srgbClr val="55B99A"/>
          </a:solidFill>
          <a:ln w="12700">
            <a:solidFill>
              <a:srgbClr val="55B99A"/>
            </a:solidFill>
            <a:prstDash val="solid"/>
          </a:ln>
        </p:spPr>
        <p:txBody>
          <a:bodyPr/>
          <a:p/>
        </p:txBody>
      </p:sp>
      <p:sp>
        <p:nvSpPr>
          <p:cNvPr id="12" name="Text 10"/>
          <p:cNvSpPr txBox="1"/>
          <p:nvPr/>
        </p:nvSpPr>
        <p:spPr>
          <a:xfrm>
            <a:off x="3493008" y="1828800"/>
            <a:ext cx="384048" cy="320040"/>
          </a:xfrm>
          <a:prstGeom prst="rect">
            <a:avLst/>
          </a:prstGeom>
          <a:noFill/>
          <a:ln/>
        </p:spPr>
        <p:txBody>
          <a:bodyPr wrap="square" lIns="0" tIns="0" rIns="0" bIns="0" rtlCol="0" anchor="ctr">
            <a:normAutofit/>
          </a:bodyPr>
          <a:lstStyle/>
          <a:p>
            <a:pPr algn="ctr" indent="0" marL="0">
              <a:buNone/>
            </a:pPr>
            <a:r>
              <a:rPr lang="de-DE" sz="1100" b="1" dirty="0">
                <a:solidFill>
                  <a:srgbClr val="FFFFFF"/>
                </a:solidFill>
                <a:latin typeface="Calibri" pitchFamily="34" charset="0"/>
                <a:ea typeface="Calibri" pitchFamily="34" charset="-122"/>
                <a:cs typeface="Calibri" pitchFamily="34" charset="-120"/>
              </a:rPr>
              <a:t>2</a:t>
            </a:r>
            <a:endParaRPr lang="de-DE" sz="1100" dirty="0"/>
          </a:p>
        </p:txBody>
      </p:sp>
      <p:sp>
        <p:nvSpPr>
          <p:cNvPr id="13" name="Text 11"/>
          <p:cNvSpPr txBox="1"/>
          <p:nvPr/>
        </p:nvSpPr>
        <p:spPr>
          <a:xfrm>
            <a:off x="3986784" y="1810512"/>
            <a:ext cx="1399032" cy="274320"/>
          </a:xfrm>
          <a:prstGeom prst="rect">
            <a:avLst/>
          </a:prstGeom>
          <a:noFill/>
          <a:ln/>
        </p:spPr>
        <p:txBody>
          <a:bodyPr wrap="square" lIns="0" tIns="0" rIns="0" bIns="0" rtlCol="0" anchor="ctr">
            <a:normAutofit/>
          </a:bodyPr>
          <a:lstStyle/>
          <a:p>
            <a:pPr algn="l" indent="0" marL="0">
              <a:buNone/>
            </a:pPr>
            <a:r>
              <a:rPr lang="de-DE" sz="1400" b="1" dirty="0">
                <a:solidFill>
                  <a:srgbClr val="17211E"/>
                </a:solidFill>
                <a:latin typeface="Calibri" pitchFamily="34" charset="0"/>
                <a:ea typeface="Calibri" pitchFamily="34" charset="-122"/>
                <a:cs typeface="Calibri" pitchFamily="34" charset="-120"/>
              </a:rPr>
              <a:t>TRANSFORMIEREN</a:t>
            </a:r>
            <a:endParaRPr lang="de-DE" sz="1400" dirty="0"/>
          </a:p>
        </p:txBody>
      </p:sp>
      <p:sp>
        <p:nvSpPr>
          <p:cNvPr id="14" name="Text 12"/>
          <p:cNvSpPr txBox="1"/>
          <p:nvPr/>
        </p:nvSpPr>
        <p:spPr>
          <a:xfrm>
            <a:off x="3493008" y="2267712"/>
            <a:ext cx="1874520" cy="256032"/>
          </a:xfrm>
          <a:prstGeom prst="rect">
            <a:avLst/>
          </a:prstGeom>
          <a:noFill/>
          <a:ln/>
        </p:spPr>
        <p:txBody>
          <a:bodyPr wrap="square" lIns="0" tIns="0" rIns="0" bIns="0" rtlCol="0" anchor="ctr">
            <a:normAutofit/>
          </a:bodyPr>
          <a:lstStyle/>
          <a:p>
            <a:pPr algn="l" indent="0" marL="0">
              <a:buNone/>
            </a:pPr>
            <a:r>
              <a:rPr lang="de-DE" sz="1100" b="1" dirty="0">
                <a:solidFill>
                  <a:srgbClr val="5E6C67"/>
                </a:solidFill>
                <a:latin typeface="Calibri" pitchFamily="34" charset="0"/>
                <a:ea typeface="Calibri" pitchFamily="34" charset="-122"/>
                <a:cs typeface="Calibri" pitchFamily="34" charset="-120"/>
              </a:rPr>
              <a:t>bereinigen + zuordnen</a:t>
            </a:r>
            <a:endParaRPr lang="de-DE" sz="1100" dirty="0"/>
          </a:p>
        </p:txBody>
      </p:sp>
      <p:sp>
        <p:nvSpPr>
          <p:cNvPr id="15" name="Shape 13"/>
          <p:cNvSpPr/>
          <p:nvPr/>
        </p:nvSpPr>
        <p:spPr>
          <a:xfrm>
            <a:off x="5623560" y="2157984"/>
            <a:ext cx="402336" cy="0"/>
          </a:xfrm>
          <a:prstGeom prst="line">
            <a:avLst/>
          </a:prstGeom>
          <a:noFill/>
          <a:ln w="25400">
            <a:solidFill>
              <a:srgbClr val="55B99A"/>
            </a:solidFill>
            <a:prstDash val="solid"/>
            <a:tailEnd type="triangle"/>
          </a:ln>
        </p:spPr>
        <p:txBody>
          <a:bodyPr/>
          <a:p/>
        </p:txBody>
      </p:sp>
      <p:sp>
        <p:nvSpPr>
          <p:cNvPr id="16" name="Shape 14"/>
          <p:cNvSpPr/>
          <p:nvPr/>
        </p:nvSpPr>
        <p:spPr>
          <a:xfrm>
            <a:off x="6126480" y="1645920"/>
            <a:ext cx="2221992" cy="1024128"/>
          </a:xfrm>
          <a:prstGeom prst="roundRect">
            <a:avLst>
              <a:gd name="adj" fmla="val 8929"/>
            </a:avLst>
          </a:prstGeom>
          <a:solidFill>
            <a:srgbClr val="F4F8F6"/>
          </a:solidFill>
          <a:ln w="12700">
            <a:solidFill>
              <a:srgbClr val="B9CCC5"/>
            </a:solidFill>
            <a:prstDash val="solid"/>
          </a:ln>
        </p:spPr>
        <p:txBody>
          <a:bodyPr/>
          <a:p/>
        </p:txBody>
      </p:sp>
      <p:sp>
        <p:nvSpPr>
          <p:cNvPr id="17" name="Shape 15"/>
          <p:cNvSpPr/>
          <p:nvPr/>
        </p:nvSpPr>
        <p:spPr>
          <a:xfrm>
            <a:off x="6272784" y="1828800"/>
            <a:ext cx="384048" cy="320040"/>
          </a:xfrm>
          <a:prstGeom prst="roundRect">
            <a:avLst>
              <a:gd name="adj" fmla="val 22857"/>
            </a:avLst>
          </a:prstGeom>
          <a:solidFill>
            <a:srgbClr val="173F35"/>
          </a:solidFill>
          <a:ln w="12700">
            <a:solidFill>
              <a:srgbClr val="173F35"/>
            </a:solidFill>
            <a:prstDash val="solid"/>
          </a:ln>
        </p:spPr>
        <p:txBody>
          <a:bodyPr/>
          <a:p/>
        </p:txBody>
      </p:sp>
      <p:sp>
        <p:nvSpPr>
          <p:cNvPr id="18" name="Text 16"/>
          <p:cNvSpPr txBox="1"/>
          <p:nvPr/>
        </p:nvSpPr>
        <p:spPr>
          <a:xfrm>
            <a:off x="6272784" y="1828800"/>
            <a:ext cx="384048" cy="320040"/>
          </a:xfrm>
          <a:prstGeom prst="rect">
            <a:avLst/>
          </a:prstGeom>
          <a:noFill/>
          <a:ln/>
        </p:spPr>
        <p:txBody>
          <a:bodyPr wrap="square" lIns="0" tIns="0" rIns="0" bIns="0" rtlCol="0" anchor="ctr">
            <a:normAutofit/>
          </a:bodyPr>
          <a:lstStyle/>
          <a:p>
            <a:pPr algn="ctr" indent="0" marL="0">
              <a:buNone/>
            </a:pPr>
            <a:r>
              <a:rPr lang="de-DE" sz="1100" b="1" dirty="0">
                <a:solidFill>
                  <a:srgbClr val="FFFFFF"/>
                </a:solidFill>
                <a:latin typeface="Calibri" pitchFamily="34" charset="0"/>
                <a:ea typeface="Calibri" pitchFamily="34" charset="-122"/>
                <a:cs typeface="Calibri" pitchFamily="34" charset="-120"/>
              </a:rPr>
              <a:t>3</a:t>
            </a:r>
            <a:endParaRPr lang="de-DE" sz="1100" dirty="0"/>
          </a:p>
        </p:txBody>
      </p:sp>
      <p:sp>
        <p:nvSpPr>
          <p:cNvPr id="19" name="Text 17"/>
          <p:cNvSpPr txBox="1"/>
          <p:nvPr/>
        </p:nvSpPr>
        <p:spPr>
          <a:xfrm>
            <a:off x="6766560" y="1810512"/>
            <a:ext cx="1399032" cy="274320"/>
          </a:xfrm>
          <a:prstGeom prst="rect">
            <a:avLst/>
          </a:prstGeom>
          <a:noFill/>
          <a:ln/>
        </p:spPr>
        <p:txBody>
          <a:bodyPr wrap="square" lIns="0" tIns="0" rIns="0" bIns="0" rtlCol="0" anchor="ctr">
            <a:normAutofit/>
          </a:bodyPr>
          <a:lstStyle/>
          <a:p>
            <a:pPr algn="l" indent="0" marL="0">
              <a:buNone/>
            </a:pPr>
            <a:r>
              <a:rPr lang="de-DE" sz="1400" b="1" dirty="0">
                <a:solidFill>
                  <a:srgbClr val="17211E"/>
                </a:solidFill>
                <a:latin typeface="Calibri" pitchFamily="34" charset="0"/>
                <a:ea typeface="Calibri" pitchFamily="34" charset="-122"/>
                <a:cs typeface="Calibri" pitchFamily="34" charset="-120"/>
              </a:rPr>
              <a:t>VALIDIEREN</a:t>
            </a:r>
            <a:endParaRPr lang="de-DE" sz="1400" dirty="0"/>
          </a:p>
        </p:txBody>
      </p:sp>
      <p:sp>
        <p:nvSpPr>
          <p:cNvPr id="20" name="Text 18"/>
          <p:cNvSpPr txBox="1"/>
          <p:nvPr/>
        </p:nvSpPr>
        <p:spPr>
          <a:xfrm>
            <a:off x="6272784" y="2267712"/>
            <a:ext cx="1874520" cy="256032"/>
          </a:xfrm>
          <a:prstGeom prst="rect">
            <a:avLst/>
          </a:prstGeom>
          <a:noFill/>
          <a:ln/>
        </p:spPr>
        <p:txBody>
          <a:bodyPr wrap="square" lIns="0" tIns="0" rIns="0" bIns="0" rtlCol="0" anchor="ctr">
            <a:normAutofit/>
          </a:bodyPr>
          <a:lstStyle/>
          <a:p>
            <a:pPr algn="l" indent="0" marL="0">
              <a:buNone/>
            </a:pPr>
            <a:r>
              <a:rPr lang="de-DE" sz="1100" b="1" dirty="0">
                <a:solidFill>
                  <a:srgbClr val="5E6C67"/>
                </a:solidFill>
                <a:latin typeface="Calibri" pitchFamily="34" charset="0"/>
                <a:ea typeface="Calibri" pitchFamily="34" charset="-122"/>
                <a:cs typeface="Calibri" pitchFamily="34" charset="-120"/>
              </a:rPr>
              <a:t>Pydantic-Entitätsmodell</a:t>
            </a:r>
            <a:endParaRPr lang="de-DE" sz="1100" dirty="0"/>
          </a:p>
        </p:txBody>
      </p:sp>
      <p:sp>
        <p:nvSpPr>
          <p:cNvPr id="21" name="Shape 19"/>
          <p:cNvSpPr/>
          <p:nvPr/>
        </p:nvSpPr>
        <p:spPr>
          <a:xfrm>
            <a:off x="8403336" y="2157984"/>
            <a:ext cx="402336" cy="0"/>
          </a:xfrm>
          <a:prstGeom prst="line">
            <a:avLst/>
          </a:prstGeom>
          <a:noFill/>
          <a:ln w="25400">
            <a:solidFill>
              <a:srgbClr val="55B99A"/>
            </a:solidFill>
            <a:prstDash val="solid"/>
            <a:tailEnd type="triangle"/>
          </a:ln>
        </p:spPr>
        <p:txBody>
          <a:bodyPr/>
          <a:p/>
        </p:txBody>
      </p:sp>
      <p:sp>
        <p:nvSpPr>
          <p:cNvPr id="22" name="Shape 20"/>
          <p:cNvSpPr/>
          <p:nvPr/>
        </p:nvSpPr>
        <p:spPr>
          <a:xfrm>
            <a:off x="8906256" y="1645920"/>
            <a:ext cx="2221992" cy="1024128"/>
          </a:xfrm>
          <a:prstGeom prst="roundRect">
            <a:avLst>
              <a:gd name="adj" fmla="val 8929"/>
            </a:avLst>
          </a:prstGeom>
          <a:solidFill>
            <a:srgbClr val="F4F8F6"/>
          </a:solidFill>
          <a:ln w="12700">
            <a:solidFill>
              <a:srgbClr val="B9CCC5"/>
            </a:solidFill>
            <a:prstDash val="solid"/>
          </a:ln>
        </p:spPr>
        <p:txBody>
          <a:bodyPr/>
          <a:p/>
        </p:txBody>
      </p:sp>
      <p:sp>
        <p:nvSpPr>
          <p:cNvPr id="23" name="Shape 21"/>
          <p:cNvSpPr/>
          <p:nvPr/>
        </p:nvSpPr>
        <p:spPr>
          <a:xfrm>
            <a:off x="9052560" y="1828800"/>
            <a:ext cx="384048" cy="320040"/>
          </a:xfrm>
          <a:prstGeom prst="roundRect">
            <a:avLst>
              <a:gd name="adj" fmla="val 22857"/>
            </a:avLst>
          </a:prstGeom>
          <a:solidFill>
            <a:srgbClr val="173F35"/>
          </a:solidFill>
          <a:ln w="12700">
            <a:solidFill>
              <a:srgbClr val="173F35"/>
            </a:solidFill>
            <a:prstDash val="solid"/>
          </a:ln>
        </p:spPr>
        <p:txBody>
          <a:bodyPr/>
          <a:p/>
        </p:txBody>
      </p:sp>
      <p:sp>
        <p:nvSpPr>
          <p:cNvPr id="24" name="Text 22"/>
          <p:cNvSpPr txBox="1"/>
          <p:nvPr/>
        </p:nvSpPr>
        <p:spPr>
          <a:xfrm>
            <a:off x="9052560" y="1828800"/>
            <a:ext cx="384048" cy="320040"/>
          </a:xfrm>
          <a:prstGeom prst="rect">
            <a:avLst/>
          </a:prstGeom>
          <a:noFill/>
          <a:ln/>
        </p:spPr>
        <p:txBody>
          <a:bodyPr wrap="square" lIns="0" tIns="0" rIns="0" bIns="0" rtlCol="0" anchor="ctr">
            <a:normAutofit/>
          </a:bodyPr>
          <a:lstStyle/>
          <a:p>
            <a:pPr algn="ctr" indent="0" marL="0">
              <a:buNone/>
            </a:pPr>
            <a:r>
              <a:rPr lang="de-DE" sz="1100" b="1" dirty="0">
                <a:solidFill>
                  <a:srgbClr val="FFFFFF"/>
                </a:solidFill>
                <a:latin typeface="Calibri" pitchFamily="34" charset="0"/>
                <a:ea typeface="Calibri" pitchFamily="34" charset="-122"/>
                <a:cs typeface="Calibri" pitchFamily="34" charset="-120"/>
              </a:rPr>
              <a:t>4</a:t>
            </a:r>
            <a:endParaRPr lang="de-DE" sz="1100" dirty="0"/>
          </a:p>
        </p:txBody>
      </p:sp>
      <p:sp>
        <p:nvSpPr>
          <p:cNvPr id="25" name="Text 23"/>
          <p:cNvSpPr txBox="1"/>
          <p:nvPr/>
        </p:nvSpPr>
        <p:spPr>
          <a:xfrm>
            <a:off x="9546336" y="1810512"/>
            <a:ext cx="1399032" cy="274320"/>
          </a:xfrm>
          <a:prstGeom prst="rect">
            <a:avLst/>
          </a:prstGeom>
          <a:noFill/>
          <a:ln/>
        </p:spPr>
        <p:txBody>
          <a:bodyPr wrap="square" lIns="0" tIns="0" rIns="0" bIns="0" rtlCol="0" anchor="ctr">
            <a:normAutofit/>
          </a:bodyPr>
          <a:lstStyle/>
          <a:p>
            <a:pPr algn="l" indent="0" marL="0">
              <a:buNone/>
            </a:pPr>
            <a:r>
              <a:rPr lang="de-DE" sz="1400" b="1" dirty="0">
                <a:solidFill>
                  <a:srgbClr val="17211E"/>
                </a:solidFill>
                <a:latin typeface="Calibri" pitchFamily="34" charset="0"/>
                <a:ea typeface="Calibri" pitchFamily="34" charset="-122"/>
                <a:cs typeface="Calibri" pitchFamily="34" charset="-120"/>
              </a:rPr>
              <a:t>LADEN</a:t>
            </a:r>
            <a:endParaRPr lang="de-DE" sz="1400" dirty="0"/>
          </a:p>
        </p:txBody>
      </p:sp>
      <p:sp>
        <p:nvSpPr>
          <p:cNvPr id="26" name="Text 24"/>
          <p:cNvSpPr txBox="1"/>
          <p:nvPr/>
        </p:nvSpPr>
        <p:spPr>
          <a:xfrm>
            <a:off x="9052560" y="2267712"/>
            <a:ext cx="1874520" cy="256032"/>
          </a:xfrm>
          <a:prstGeom prst="rect">
            <a:avLst/>
          </a:prstGeom>
          <a:noFill/>
          <a:ln/>
        </p:spPr>
        <p:txBody>
          <a:bodyPr wrap="square" lIns="0" tIns="0" rIns="0" bIns="0" rtlCol="0" anchor="ctr">
            <a:normAutofit/>
          </a:bodyPr>
          <a:lstStyle/>
          <a:p>
            <a:pPr algn="l" indent="0" marL="0">
              <a:buNone/>
            </a:pPr>
            <a:r>
              <a:rPr lang="de-DE" sz="1100" b="1" dirty="0">
                <a:solidFill>
                  <a:srgbClr val="5E6C67"/>
                </a:solidFill>
                <a:latin typeface="Calibri" pitchFamily="34" charset="0"/>
                <a:ea typeface="Calibri" pitchFamily="34" charset="-122"/>
                <a:cs typeface="Calibri" pitchFamily="34" charset="-120"/>
              </a:rPr>
              <a:t>Daten + Metadaten schreiben</a:t>
            </a:r>
            <a:endParaRPr lang="de-DE" sz="1100" dirty="0"/>
          </a:p>
        </p:txBody>
      </p:sp>
      <p:sp>
        <p:nvSpPr>
          <p:cNvPr id="27" name="Text 25"/>
          <p:cNvSpPr txBox="1"/>
          <p:nvPr/>
        </p:nvSpPr>
        <p:spPr>
          <a:xfrm>
            <a:off x="640080" y="3108960"/>
            <a:ext cx="1920240" cy="274320"/>
          </a:xfrm>
          <a:prstGeom prst="rect">
            <a:avLst/>
          </a:prstGeom>
          <a:noFill/>
          <a:ln/>
        </p:spPr>
        <p:txBody>
          <a:bodyPr wrap="square" lIns="0" tIns="0" rIns="0" bIns="0" rtlCol="0" anchor="ctr">
            <a:normAutofit/>
          </a:bodyPr>
          <a:lstStyle/>
          <a:p>
            <a:pPr algn="l" indent="0" marL="0">
              <a:buNone/>
            </a:pPr>
            <a:r>
              <a:rPr lang="de-DE" sz="1500" b="1" dirty="0">
                <a:solidFill>
                  <a:srgbClr val="5E6C67"/>
                </a:solidFill>
                <a:latin typeface="Calibri" pitchFamily="34" charset="0"/>
                <a:ea typeface="Calibri" pitchFamily="34" charset="-122"/>
                <a:cs typeface="Calibri" pitchFamily="34" charset="-120"/>
              </a:rPr>
              <a:t>raw_customers.csv</a:t>
            </a:r>
            <a:endParaRPr lang="de-DE" sz="1500" dirty="0"/>
          </a:p>
        </p:txBody>
      </p:sp>
      <p:sp>
        <p:nvSpPr>
          <p:cNvPr id="28" name="Text 26"/>
          <p:cNvSpPr txBox="1"/>
          <p:nvPr/>
        </p:nvSpPr>
        <p:spPr>
          <a:xfrm>
            <a:off x="9189720" y="3108960"/>
            <a:ext cx="1737360" cy="274320"/>
          </a:xfrm>
          <a:prstGeom prst="rect">
            <a:avLst/>
          </a:prstGeom>
          <a:noFill/>
          <a:ln/>
        </p:spPr>
        <p:txBody>
          <a:bodyPr wrap="square" lIns="0" tIns="0" rIns="0" bIns="0" rtlCol="0" anchor="ctr">
            <a:normAutofit/>
          </a:bodyPr>
          <a:lstStyle/>
          <a:p>
            <a:pPr algn="l" indent="0" marL="0">
              <a:buNone/>
            </a:pPr>
            <a:r>
              <a:rPr lang="de-DE" sz="1500" b="1" dirty="0">
                <a:solidFill>
                  <a:srgbClr val="173F35"/>
                </a:solidFill>
                <a:latin typeface="Calibri" pitchFamily="34" charset="0"/>
                <a:ea typeface="Calibri" pitchFamily="34" charset="-122"/>
                <a:cs typeface="Calibri" pitchFamily="34" charset="-120"/>
              </a:rPr>
              <a:t>Contact</a:t>
            </a:r>
            <a:endParaRPr lang="de-DE" sz="1500" dirty="0"/>
          </a:p>
        </p:txBody>
      </p:sp>
      <p:sp>
        <p:nvSpPr>
          <p:cNvPr id="29" name="Shape 27"/>
          <p:cNvSpPr/>
          <p:nvPr/>
        </p:nvSpPr>
        <p:spPr>
          <a:xfrm>
            <a:off x="640080" y="3547872"/>
            <a:ext cx="1874520" cy="347472"/>
          </a:xfrm>
          <a:prstGeom prst="roundRect">
            <a:avLst>
              <a:gd name="adj" fmla="val 26316"/>
            </a:avLst>
          </a:prstGeom>
          <a:solidFill>
            <a:srgbClr val="FFFFFF"/>
          </a:solidFill>
          <a:ln w="12700">
            <a:solidFill>
              <a:srgbClr val="B9CCC5"/>
            </a:solidFill>
            <a:prstDash val="solid"/>
          </a:ln>
        </p:spPr>
        <p:txBody>
          <a:bodyPr/>
          <a:p/>
        </p:txBody>
      </p:sp>
      <p:sp>
        <p:nvSpPr>
          <p:cNvPr id="30" name="Text 28"/>
          <p:cNvSpPr txBox="1"/>
          <p:nvPr/>
        </p:nvSpPr>
        <p:spPr>
          <a:xfrm>
            <a:off x="749808" y="3547872"/>
            <a:ext cx="1655064" cy="347472"/>
          </a:xfrm>
          <a:prstGeom prst="rect">
            <a:avLst/>
          </a:prstGeom>
          <a:noFill/>
          <a:ln/>
        </p:spPr>
        <p:txBody>
          <a:bodyPr wrap="square" lIns="0" tIns="0" rIns="0" bIns="0" rtlCol="0" anchor="ctr">
            <a:normAutofit/>
          </a:bodyPr>
          <a:lstStyle/>
          <a:p>
            <a:pPr algn="l" indent="0" marL="0">
              <a:buNone/>
            </a:pPr>
            <a:r>
              <a:rPr lang="de-DE" sz="1200" dirty="0">
                <a:solidFill>
                  <a:srgbClr val="5E6C67"/>
                </a:solidFill>
                <a:latin typeface="Calibri" pitchFamily="34" charset="0"/>
                <a:ea typeface="Calibri" pitchFamily="34" charset="-122"/>
                <a:cs typeface="Calibri" pitchFamily="34" charset="-120"/>
              </a:rPr>
              <a:t>full_name</a:t>
            </a:r>
            <a:endParaRPr lang="de-DE" sz="1200" dirty="0"/>
          </a:p>
        </p:txBody>
      </p:sp>
      <p:sp>
        <p:nvSpPr>
          <p:cNvPr id="31" name="Shape 29"/>
          <p:cNvSpPr/>
          <p:nvPr/>
        </p:nvSpPr>
        <p:spPr>
          <a:xfrm>
            <a:off x="9189720" y="3547872"/>
            <a:ext cx="2258568" cy="347472"/>
          </a:xfrm>
          <a:prstGeom prst="roundRect">
            <a:avLst>
              <a:gd name="adj" fmla="val 26316"/>
            </a:avLst>
          </a:prstGeom>
          <a:solidFill>
            <a:srgbClr val="E7F4EF"/>
          </a:solidFill>
          <a:ln w="12700">
            <a:solidFill>
              <a:srgbClr val="55B99A"/>
            </a:solidFill>
            <a:prstDash val="solid"/>
          </a:ln>
        </p:spPr>
        <p:txBody>
          <a:bodyPr/>
          <a:p/>
        </p:txBody>
      </p:sp>
      <p:sp>
        <p:nvSpPr>
          <p:cNvPr id="32" name="Text 30"/>
          <p:cNvSpPr txBox="1"/>
          <p:nvPr/>
        </p:nvSpPr>
        <p:spPr>
          <a:xfrm>
            <a:off x="9299448" y="3547872"/>
            <a:ext cx="2039112" cy="347472"/>
          </a:xfrm>
          <a:prstGeom prst="rect">
            <a:avLst/>
          </a:prstGeom>
          <a:noFill/>
          <a:ln/>
        </p:spPr>
        <p:txBody>
          <a:bodyPr wrap="square" lIns="0" tIns="0" rIns="0" bIns="0" rtlCol="0" anchor="ctr">
            <a:normAutofit/>
          </a:bodyPr>
          <a:lstStyle/>
          <a:p>
            <a:pPr algn="l" indent="0" marL="0">
              <a:buNone/>
            </a:pPr>
            <a:r>
              <a:rPr lang="de-DE" sz="1200" b="1" dirty="0">
                <a:solidFill>
                  <a:srgbClr val="173F35"/>
                </a:solidFill>
                <a:latin typeface="Calibri" pitchFamily="34" charset="0"/>
                <a:ea typeface="Calibri" pitchFamily="34" charset="-122"/>
                <a:cs typeface="Calibri" pitchFamily="34" charset="-120"/>
              </a:rPr>
              <a:t>firstname + lastname</a:t>
            </a:r>
            <a:endParaRPr lang="de-DE" sz="1200" dirty="0"/>
          </a:p>
        </p:txBody>
      </p:sp>
      <p:sp>
        <p:nvSpPr>
          <p:cNvPr id="33" name="Shape 31"/>
          <p:cNvSpPr/>
          <p:nvPr/>
        </p:nvSpPr>
        <p:spPr>
          <a:xfrm>
            <a:off x="2642616" y="3721608"/>
            <a:ext cx="6391656" cy="0"/>
          </a:xfrm>
          <a:prstGeom prst="line">
            <a:avLst/>
          </a:prstGeom>
          <a:noFill/>
          <a:ln w="25400">
            <a:solidFill>
              <a:srgbClr val="55B99A"/>
            </a:solidFill>
            <a:prstDash val="solid"/>
            <a:tailEnd type="triangle"/>
          </a:ln>
        </p:spPr>
        <p:txBody>
          <a:bodyPr/>
          <a:p/>
        </p:txBody>
      </p:sp>
      <p:sp>
        <p:nvSpPr>
          <p:cNvPr id="34" name="Shape 32"/>
          <p:cNvSpPr/>
          <p:nvPr/>
        </p:nvSpPr>
        <p:spPr>
          <a:xfrm>
            <a:off x="4389120" y="3561588"/>
            <a:ext cx="2907792" cy="320040"/>
          </a:xfrm>
          <a:prstGeom prst="roundRect">
            <a:avLst>
              <a:gd name="adj" fmla="val 22857"/>
            </a:avLst>
          </a:prstGeom>
          <a:solidFill>
            <a:srgbClr val="E7F4EF"/>
          </a:solidFill>
          <a:ln w="12700">
            <a:solidFill>
              <a:srgbClr val="E7F4EF"/>
            </a:solidFill>
            <a:prstDash val="solid"/>
          </a:ln>
        </p:spPr>
        <p:txBody>
          <a:bodyPr/>
          <a:p/>
        </p:txBody>
      </p:sp>
      <p:sp>
        <p:nvSpPr>
          <p:cNvPr id="35" name="Text 33"/>
          <p:cNvSpPr txBox="1"/>
          <p:nvPr/>
        </p:nvSpPr>
        <p:spPr>
          <a:xfrm>
            <a:off x="4389120" y="3561588"/>
            <a:ext cx="2907792" cy="320040"/>
          </a:xfrm>
          <a:prstGeom prst="rect">
            <a:avLst/>
          </a:prstGeom>
          <a:noFill/>
          <a:ln/>
        </p:spPr>
        <p:txBody>
          <a:bodyPr wrap="square" lIns="0" tIns="0" rIns="0" bIns="0" rtlCol="0" anchor="ctr">
            <a:normAutofit/>
          </a:bodyPr>
          <a:lstStyle/>
          <a:p>
            <a:pPr algn="ctr" indent="0" marL="0">
              <a:buNone/>
            </a:pPr>
            <a:r>
              <a:rPr lang="de-DE" sz="1100" b="1" dirty="0">
                <a:solidFill>
                  <a:srgbClr val="173F35"/>
                </a:solidFill>
                <a:latin typeface="Calibri" pitchFamily="34" charset="0"/>
                <a:ea typeface="Calibri" pitchFamily="34" charset="-122"/>
                <a:cs typeface="Calibri" pitchFamily="34" charset="-120"/>
              </a:rPr>
              <a:t>erstes Wort / Rest trennen</a:t>
            </a:r>
            <a:endParaRPr lang="de-DE" sz="1100" dirty="0"/>
          </a:p>
        </p:txBody>
      </p:sp>
      <p:sp>
        <p:nvSpPr>
          <p:cNvPr id="36" name="Shape 34"/>
          <p:cNvSpPr/>
          <p:nvPr/>
        </p:nvSpPr>
        <p:spPr>
          <a:xfrm>
            <a:off x="640080" y="4114800"/>
            <a:ext cx="1874520" cy="347472"/>
          </a:xfrm>
          <a:prstGeom prst="roundRect">
            <a:avLst>
              <a:gd name="adj" fmla="val 26316"/>
            </a:avLst>
          </a:prstGeom>
          <a:solidFill>
            <a:srgbClr val="FFFFFF"/>
          </a:solidFill>
          <a:ln w="12700">
            <a:solidFill>
              <a:srgbClr val="B9CCC5"/>
            </a:solidFill>
            <a:prstDash val="solid"/>
          </a:ln>
        </p:spPr>
        <p:txBody>
          <a:bodyPr/>
          <a:p/>
        </p:txBody>
      </p:sp>
      <p:sp>
        <p:nvSpPr>
          <p:cNvPr id="37" name="Text 35"/>
          <p:cNvSpPr txBox="1"/>
          <p:nvPr/>
        </p:nvSpPr>
        <p:spPr>
          <a:xfrm>
            <a:off x="749808" y="4114800"/>
            <a:ext cx="1655064" cy="347472"/>
          </a:xfrm>
          <a:prstGeom prst="rect">
            <a:avLst/>
          </a:prstGeom>
          <a:noFill/>
          <a:ln/>
        </p:spPr>
        <p:txBody>
          <a:bodyPr wrap="square" lIns="0" tIns="0" rIns="0" bIns="0" rtlCol="0" anchor="ctr">
            <a:normAutofit/>
          </a:bodyPr>
          <a:lstStyle/>
          <a:p>
            <a:pPr algn="l" indent="0" marL="0">
              <a:buNone/>
            </a:pPr>
            <a:r>
              <a:rPr lang="de-DE" sz="1200" dirty="0">
                <a:solidFill>
                  <a:srgbClr val="5E6C67"/>
                </a:solidFill>
                <a:latin typeface="Calibri" pitchFamily="34" charset="0"/>
                <a:ea typeface="Calibri" pitchFamily="34" charset="-122"/>
                <a:cs typeface="Calibri" pitchFamily="34" charset="-120"/>
              </a:rPr>
              <a:t>email_addr</a:t>
            </a:r>
            <a:endParaRPr lang="de-DE" sz="1200" dirty="0"/>
          </a:p>
        </p:txBody>
      </p:sp>
      <p:sp>
        <p:nvSpPr>
          <p:cNvPr id="38" name="Shape 36"/>
          <p:cNvSpPr/>
          <p:nvPr/>
        </p:nvSpPr>
        <p:spPr>
          <a:xfrm>
            <a:off x="9189720" y="4114800"/>
            <a:ext cx="2258568" cy="347472"/>
          </a:xfrm>
          <a:prstGeom prst="roundRect">
            <a:avLst>
              <a:gd name="adj" fmla="val 26316"/>
            </a:avLst>
          </a:prstGeom>
          <a:solidFill>
            <a:srgbClr val="E7F4EF"/>
          </a:solidFill>
          <a:ln w="12700">
            <a:solidFill>
              <a:srgbClr val="55B99A"/>
            </a:solidFill>
            <a:prstDash val="solid"/>
          </a:ln>
        </p:spPr>
        <p:txBody>
          <a:bodyPr/>
          <a:p/>
        </p:txBody>
      </p:sp>
      <p:sp>
        <p:nvSpPr>
          <p:cNvPr id="39" name="Text 37"/>
          <p:cNvSpPr txBox="1"/>
          <p:nvPr/>
        </p:nvSpPr>
        <p:spPr>
          <a:xfrm>
            <a:off x="9299448" y="4114800"/>
            <a:ext cx="2039112" cy="347472"/>
          </a:xfrm>
          <a:prstGeom prst="rect">
            <a:avLst/>
          </a:prstGeom>
          <a:noFill/>
          <a:ln/>
        </p:spPr>
        <p:txBody>
          <a:bodyPr wrap="square" lIns="0" tIns="0" rIns="0" bIns="0" rtlCol="0" anchor="ctr">
            <a:normAutofit/>
          </a:bodyPr>
          <a:lstStyle/>
          <a:p>
            <a:pPr algn="l" indent="0" marL="0">
              <a:buNone/>
            </a:pPr>
            <a:r>
              <a:rPr lang="de-DE" sz="1200" b="1" dirty="0">
                <a:solidFill>
                  <a:srgbClr val="173F35"/>
                </a:solidFill>
                <a:latin typeface="Calibri" pitchFamily="34" charset="0"/>
                <a:ea typeface="Calibri" pitchFamily="34" charset="-122"/>
                <a:cs typeface="Calibri" pitchFamily="34" charset="-120"/>
              </a:rPr>
              <a:t>emailaddress1</a:t>
            </a:r>
            <a:endParaRPr lang="de-DE" sz="1200" dirty="0"/>
          </a:p>
        </p:txBody>
      </p:sp>
      <p:sp>
        <p:nvSpPr>
          <p:cNvPr id="40" name="Shape 38"/>
          <p:cNvSpPr/>
          <p:nvPr/>
        </p:nvSpPr>
        <p:spPr>
          <a:xfrm>
            <a:off x="2642616" y="4288536"/>
            <a:ext cx="6391656" cy="0"/>
          </a:xfrm>
          <a:prstGeom prst="line">
            <a:avLst/>
          </a:prstGeom>
          <a:noFill/>
          <a:ln w="25400">
            <a:solidFill>
              <a:srgbClr val="55B99A"/>
            </a:solidFill>
            <a:prstDash val="solid"/>
            <a:tailEnd type="triangle"/>
          </a:ln>
        </p:spPr>
        <p:txBody>
          <a:bodyPr/>
          <a:p/>
        </p:txBody>
      </p:sp>
      <p:sp>
        <p:nvSpPr>
          <p:cNvPr id="41" name="Shape 39"/>
          <p:cNvSpPr/>
          <p:nvPr/>
        </p:nvSpPr>
        <p:spPr>
          <a:xfrm>
            <a:off x="4389120" y="4128516"/>
            <a:ext cx="2907792" cy="320040"/>
          </a:xfrm>
          <a:prstGeom prst="roundRect">
            <a:avLst>
              <a:gd name="adj" fmla="val 22857"/>
            </a:avLst>
          </a:prstGeom>
          <a:solidFill>
            <a:srgbClr val="E7F4EF"/>
          </a:solidFill>
          <a:ln w="12700">
            <a:solidFill>
              <a:srgbClr val="E7F4EF"/>
            </a:solidFill>
            <a:prstDash val="solid"/>
          </a:ln>
        </p:spPr>
        <p:txBody>
          <a:bodyPr/>
          <a:p/>
        </p:txBody>
      </p:sp>
      <p:sp>
        <p:nvSpPr>
          <p:cNvPr id="42" name="Text 40"/>
          <p:cNvSpPr txBox="1"/>
          <p:nvPr/>
        </p:nvSpPr>
        <p:spPr>
          <a:xfrm>
            <a:off x="4389120" y="4128516"/>
            <a:ext cx="2907792" cy="320040"/>
          </a:xfrm>
          <a:prstGeom prst="rect">
            <a:avLst/>
          </a:prstGeom>
          <a:noFill/>
          <a:ln/>
        </p:spPr>
        <p:txBody>
          <a:bodyPr wrap="square" lIns="0" tIns="0" rIns="0" bIns="0" rtlCol="0" anchor="ctr">
            <a:normAutofit/>
          </a:bodyPr>
          <a:lstStyle/>
          <a:p>
            <a:pPr algn="ctr" indent="0" marL="0">
              <a:buNone/>
            </a:pPr>
            <a:r>
              <a:rPr lang="de-DE" sz="1100" b="1" dirty="0">
                <a:solidFill>
                  <a:srgbClr val="173F35"/>
                </a:solidFill>
                <a:latin typeface="Calibri" pitchFamily="34" charset="0"/>
                <a:ea typeface="Calibri" pitchFamily="34" charset="-122"/>
                <a:cs typeface="Calibri" pitchFamily="34" charset="-120"/>
              </a:rPr>
              <a:t>Kleinschreibung · leer wenn ungültig</a:t>
            </a:r>
            <a:endParaRPr lang="de-DE" sz="1100" dirty="0"/>
          </a:p>
        </p:txBody>
      </p:sp>
      <p:sp>
        <p:nvSpPr>
          <p:cNvPr id="43" name="Shape 41"/>
          <p:cNvSpPr/>
          <p:nvPr/>
        </p:nvSpPr>
        <p:spPr>
          <a:xfrm>
            <a:off x="640080" y="4681728"/>
            <a:ext cx="1874520" cy="347472"/>
          </a:xfrm>
          <a:prstGeom prst="roundRect">
            <a:avLst>
              <a:gd name="adj" fmla="val 26316"/>
            </a:avLst>
          </a:prstGeom>
          <a:solidFill>
            <a:srgbClr val="FFFFFF"/>
          </a:solidFill>
          <a:ln w="12700">
            <a:solidFill>
              <a:srgbClr val="B9CCC5"/>
            </a:solidFill>
            <a:prstDash val="solid"/>
          </a:ln>
        </p:spPr>
        <p:txBody>
          <a:bodyPr/>
          <a:p/>
        </p:txBody>
      </p:sp>
      <p:sp>
        <p:nvSpPr>
          <p:cNvPr id="44" name="Text 42"/>
          <p:cNvSpPr txBox="1"/>
          <p:nvPr/>
        </p:nvSpPr>
        <p:spPr>
          <a:xfrm>
            <a:off x="749808" y="4681728"/>
            <a:ext cx="1655064" cy="347472"/>
          </a:xfrm>
          <a:prstGeom prst="rect">
            <a:avLst/>
          </a:prstGeom>
          <a:noFill/>
          <a:ln/>
        </p:spPr>
        <p:txBody>
          <a:bodyPr wrap="square" lIns="0" tIns="0" rIns="0" bIns="0" rtlCol="0" anchor="ctr">
            <a:normAutofit/>
          </a:bodyPr>
          <a:lstStyle/>
          <a:p>
            <a:pPr algn="l" indent="0" marL="0">
              <a:buNone/>
            </a:pPr>
            <a:r>
              <a:rPr lang="de-DE" sz="1200" dirty="0">
                <a:solidFill>
                  <a:srgbClr val="5E6C67"/>
                </a:solidFill>
                <a:latin typeface="Calibri" pitchFamily="34" charset="0"/>
                <a:ea typeface="Calibri" pitchFamily="34" charset="-122"/>
                <a:cs typeface="Calibri" pitchFamily="34" charset="-120"/>
              </a:rPr>
              <a:t>signup_date</a:t>
            </a:r>
            <a:endParaRPr lang="de-DE" sz="1200" dirty="0"/>
          </a:p>
        </p:txBody>
      </p:sp>
      <p:sp>
        <p:nvSpPr>
          <p:cNvPr id="45" name="Shape 43"/>
          <p:cNvSpPr/>
          <p:nvPr/>
        </p:nvSpPr>
        <p:spPr>
          <a:xfrm>
            <a:off x="9189720" y="4681728"/>
            <a:ext cx="2258568" cy="347472"/>
          </a:xfrm>
          <a:prstGeom prst="roundRect">
            <a:avLst>
              <a:gd name="adj" fmla="val 26316"/>
            </a:avLst>
          </a:prstGeom>
          <a:solidFill>
            <a:srgbClr val="E7F4EF"/>
          </a:solidFill>
          <a:ln w="12700">
            <a:solidFill>
              <a:srgbClr val="55B99A"/>
            </a:solidFill>
            <a:prstDash val="solid"/>
          </a:ln>
        </p:spPr>
        <p:txBody>
          <a:bodyPr/>
          <a:p/>
        </p:txBody>
      </p:sp>
      <p:sp>
        <p:nvSpPr>
          <p:cNvPr id="46" name="Text 44"/>
          <p:cNvSpPr txBox="1"/>
          <p:nvPr/>
        </p:nvSpPr>
        <p:spPr>
          <a:xfrm>
            <a:off x="9299448" y="4681728"/>
            <a:ext cx="2039112" cy="347472"/>
          </a:xfrm>
          <a:prstGeom prst="rect">
            <a:avLst/>
          </a:prstGeom>
          <a:noFill/>
          <a:ln/>
        </p:spPr>
        <p:txBody>
          <a:bodyPr wrap="square" lIns="0" tIns="0" rIns="0" bIns="0" rtlCol="0" anchor="ctr">
            <a:normAutofit/>
          </a:bodyPr>
          <a:lstStyle/>
          <a:p>
            <a:pPr algn="l" indent="0" marL="0">
              <a:buNone/>
            </a:pPr>
            <a:r>
              <a:rPr lang="de-DE" sz="1200" b="1" dirty="0">
                <a:solidFill>
                  <a:srgbClr val="173F35"/>
                </a:solidFill>
                <a:latin typeface="Calibri" pitchFamily="34" charset="0"/>
                <a:ea typeface="Calibri" pitchFamily="34" charset="-122"/>
                <a:cs typeface="Calibri" pitchFamily="34" charset="-120"/>
              </a:rPr>
              <a:t>createdon</a:t>
            </a:r>
            <a:endParaRPr lang="de-DE" sz="1200" dirty="0"/>
          </a:p>
        </p:txBody>
      </p:sp>
      <p:sp>
        <p:nvSpPr>
          <p:cNvPr id="47" name="Shape 45"/>
          <p:cNvSpPr/>
          <p:nvPr/>
        </p:nvSpPr>
        <p:spPr>
          <a:xfrm>
            <a:off x="2642616" y="4855464"/>
            <a:ext cx="6391656" cy="0"/>
          </a:xfrm>
          <a:prstGeom prst="line">
            <a:avLst/>
          </a:prstGeom>
          <a:noFill/>
          <a:ln w="25400">
            <a:solidFill>
              <a:srgbClr val="F2C14E"/>
            </a:solidFill>
            <a:prstDash val="solid"/>
            <a:tailEnd type="triangle"/>
          </a:ln>
        </p:spPr>
        <p:txBody>
          <a:bodyPr/>
          <a:p/>
        </p:txBody>
      </p:sp>
      <p:sp>
        <p:nvSpPr>
          <p:cNvPr id="48" name="Shape 46"/>
          <p:cNvSpPr/>
          <p:nvPr/>
        </p:nvSpPr>
        <p:spPr>
          <a:xfrm>
            <a:off x="4389120" y="4695444"/>
            <a:ext cx="2907792" cy="320040"/>
          </a:xfrm>
          <a:prstGeom prst="roundRect">
            <a:avLst>
              <a:gd name="adj" fmla="val 22857"/>
            </a:avLst>
          </a:prstGeom>
          <a:solidFill>
            <a:srgbClr val="FFF5D9"/>
          </a:solidFill>
          <a:ln w="12700">
            <a:solidFill>
              <a:srgbClr val="FFF5D9"/>
            </a:solidFill>
            <a:prstDash val="solid"/>
          </a:ln>
        </p:spPr>
        <p:txBody>
          <a:bodyPr/>
          <a:p/>
        </p:txBody>
      </p:sp>
      <p:sp>
        <p:nvSpPr>
          <p:cNvPr id="49" name="Text 47"/>
          <p:cNvSpPr txBox="1"/>
          <p:nvPr/>
        </p:nvSpPr>
        <p:spPr>
          <a:xfrm>
            <a:off x="4389120" y="4695444"/>
            <a:ext cx="2907792" cy="320040"/>
          </a:xfrm>
          <a:prstGeom prst="rect">
            <a:avLst/>
          </a:prstGeom>
          <a:noFill/>
          <a:ln/>
        </p:spPr>
        <p:txBody>
          <a:bodyPr wrap="square" lIns="0" tIns="0" rIns="0" bIns="0" rtlCol="0" anchor="ctr">
            <a:normAutofit/>
          </a:bodyPr>
          <a:lstStyle/>
          <a:p>
            <a:pPr algn="ctr" indent="0" marL="0">
              <a:buNone/>
            </a:pPr>
            <a:r>
              <a:rPr lang="de-DE" sz="1100" b="1" dirty="0">
                <a:solidFill>
                  <a:srgbClr val="102F29"/>
                </a:solidFill>
                <a:latin typeface="Calibri" pitchFamily="34" charset="0"/>
                <a:ea typeface="Calibri" pitchFamily="34" charset="-122"/>
                <a:cs typeface="Calibri" pitchFamily="34" charset="-120"/>
              </a:rPr>
              <a:t>UTC YYYY-MM-DDTHH:MM:SSZ</a:t>
            </a:r>
            <a:endParaRPr lang="de-DE" sz="1100" dirty="0"/>
          </a:p>
        </p:txBody>
      </p:sp>
      <p:sp>
        <p:nvSpPr>
          <p:cNvPr id="50" name="Shape 48"/>
          <p:cNvSpPr/>
          <p:nvPr/>
        </p:nvSpPr>
        <p:spPr>
          <a:xfrm>
            <a:off x="640080" y="5248656"/>
            <a:ext cx="1874520" cy="347472"/>
          </a:xfrm>
          <a:prstGeom prst="roundRect">
            <a:avLst>
              <a:gd name="adj" fmla="val 26316"/>
            </a:avLst>
          </a:prstGeom>
          <a:solidFill>
            <a:srgbClr val="FFFFFF"/>
          </a:solidFill>
          <a:ln w="12700">
            <a:solidFill>
              <a:srgbClr val="B9CCC5"/>
            </a:solidFill>
            <a:prstDash val="solid"/>
          </a:ln>
        </p:spPr>
        <p:txBody>
          <a:bodyPr/>
          <a:p/>
        </p:txBody>
      </p:sp>
      <p:sp>
        <p:nvSpPr>
          <p:cNvPr id="51" name="Text 49"/>
          <p:cNvSpPr txBox="1"/>
          <p:nvPr/>
        </p:nvSpPr>
        <p:spPr>
          <a:xfrm>
            <a:off x="749808" y="5248656"/>
            <a:ext cx="1655064" cy="347472"/>
          </a:xfrm>
          <a:prstGeom prst="rect">
            <a:avLst/>
          </a:prstGeom>
          <a:noFill/>
          <a:ln/>
        </p:spPr>
        <p:txBody>
          <a:bodyPr wrap="square" lIns="0" tIns="0" rIns="0" bIns="0" rtlCol="0" anchor="ctr">
            <a:normAutofit/>
          </a:bodyPr>
          <a:lstStyle/>
          <a:p>
            <a:pPr algn="l" indent="0" marL="0">
              <a:buNone/>
            </a:pPr>
            <a:r>
              <a:rPr lang="de-DE" sz="1200" dirty="0">
                <a:solidFill>
                  <a:srgbClr val="5E6C67"/>
                </a:solidFill>
                <a:latin typeface="Calibri" pitchFamily="34" charset="0"/>
                <a:ea typeface="Calibri" pitchFamily="34" charset="-122"/>
                <a:cs typeface="Calibri" pitchFamily="34" charset="-120"/>
              </a:rPr>
              <a:t>user_status</a:t>
            </a:r>
            <a:endParaRPr lang="de-DE" sz="1200" dirty="0"/>
          </a:p>
        </p:txBody>
      </p:sp>
      <p:sp>
        <p:nvSpPr>
          <p:cNvPr id="52" name="Shape 50"/>
          <p:cNvSpPr/>
          <p:nvPr/>
        </p:nvSpPr>
        <p:spPr>
          <a:xfrm>
            <a:off x="9189720" y="5248656"/>
            <a:ext cx="2258568" cy="347472"/>
          </a:xfrm>
          <a:prstGeom prst="roundRect">
            <a:avLst>
              <a:gd name="adj" fmla="val 26316"/>
            </a:avLst>
          </a:prstGeom>
          <a:solidFill>
            <a:srgbClr val="E7F4EF"/>
          </a:solidFill>
          <a:ln w="12700">
            <a:solidFill>
              <a:srgbClr val="55B99A"/>
            </a:solidFill>
            <a:prstDash val="solid"/>
          </a:ln>
        </p:spPr>
        <p:txBody>
          <a:bodyPr/>
          <a:p/>
        </p:txBody>
      </p:sp>
      <p:sp>
        <p:nvSpPr>
          <p:cNvPr id="53" name="Text 51"/>
          <p:cNvSpPr txBox="1"/>
          <p:nvPr/>
        </p:nvSpPr>
        <p:spPr>
          <a:xfrm>
            <a:off x="9299448" y="5248656"/>
            <a:ext cx="2039112" cy="347472"/>
          </a:xfrm>
          <a:prstGeom prst="rect">
            <a:avLst/>
          </a:prstGeom>
          <a:noFill/>
          <a:ln/>
        </p:spPr>
        <p:txBody>
          <a:bodyPr wrap="square" lIns="0" tIns="0" rIns="0" bIns="0" rtlCol="0" anchor="ctr">
            <a:normAutofit/>
          </a:bodyPr>
          <a:lstStyle/>
          <a:p>
            <a:pPr algn="l" indent="0" marL="0">
              <a:buNone/>
            </a:pPr>
            <a:r>
              <a:rPr lang="de-DE" sz="1200" b="1" dirty="0">
                <a:solidFill>
                  <a:srgbClr val="173F35"/>
                </a:solidFill>
                <a:latin typeface="Calibri" pitchFamily="34" charset="0"/>
                <a:ea typeface="Calibri" pitchFamily="34" charset="-122"/>
                <a:cs typeface="Calibri" pitchFamily="34" charset="-120"/>
              </a:rPr>
              <a:t>statecode</a:t>
            </a:r>
            <a:endParaRPr lang="de-DE" sz="1200" dirty="0"/>
          </a:p>
        </p:txBody>
      </p:sp>
      <p:sp>
        <p:nvSpPr>
          <p:cNvPr id="54" name="Shape 52"/>
          <p:cNvSpPr/>
          <p:nvPr/>
        </p:nvSpPr>
        <p:spPr>
          <a:xfrm>
            <a:off x="2642616" y="5422392"/>
            <a:ext cx="6391656" cy="0"/>
          </a:xfrm>
          <a:prstGeom prst="line">
            <a:avLst/>
          </a:prstGeom>
          <a:noFill/>
          <a:ln w="25400">
            <a:solidFill>
              <a:srgbClr val="55B99A"/>
            </a:solidFill>
            <a:prstDash val="solid"/>
            <a:tailEnd type="triangle"/>
          </a:ln>
        </p:spPr>
        <p:txBody>
          <a:bodyPr/>
          <a:p/>
        </p:txBody>
      </p:sp>
      <p:sp>
        <p:nvSpPr>
          <p:cNvPr id="55" name="Shape 53"/>
          <p:cNvSpPr/>
          <p:nvPr/>
        </p:nvSpPr>
        <p:spPr>
          <a:xfrm>
            <a:off x="4389120" y="5262372"/>
            <a:ext cx="2907792" cy="320040"/>
          </a:xfrm>
          <a:prstGeom prst="roundRect">
            <a:avLst>
              <a:gd name="adj" fmla="val 22857"/>
            </a:avLst>
          </a:prstGeom>
          <a:solidFill>
            <a:srgbClr val="E7F4EF"/>
          </a:solidFill>
          <a:ln w="12700">
            <a:solidFill>
              <a:srgbClr val="E7F4EF"/>
            </a:solidFill>
            <a:prstDash val="solid"/>
          </a:ln>
        </p:spPr>
        <p:txBody>
          <a:bodyPr/>
          <a:p/>
        </p:txBody>
      </p:sp>
      <p:sp>
        <p:nvSpPr>
          <p:cNvPr id="56" name="Text 54"/>
          <p:cNvSpPr txBox="1"/>
          <p:nvPr/>
        </p:nvSpPr>
        <p:spPr>
          <a:xfrm>
            <a:off x="4389120" y="5262372"/>
            <a:ext cx="2907792" cy="320040"/>
          </a:xfrm>
          <a:prstGeom prst="rect">
            <a:avLst/>
          </a:prstGeom>
          <a:noFill/>
          <a:ln/>
        </p:spPr>
        <p:txBody>
          <a:bodyPr wrap="square" lIns="0" tIns="0" rIns="0" bIns="0" rtlCol="0" anchor="ctr">
            <a:normAutofit/>
          </a:bodyPr>
          <a:lstStyle/>
          <a:p>
            <a:pPr algn="ctr" indent="0" marL="0">
              <a:buNone/>
            </a:pPr>
            <a:r>
              <a:rPr lang="de-DE" sz="1100" b="1" dirty="0">
                <a:solidFill>
                  <a:srgbClr val="173F35"/>
                </a:solidFill>
                <a:latin typeface="Calibri" pitchFamily="34" charset="0"/>
                <a:ea typeface="Calibri" pitchFamily="34" charset="-122"/>
                <a:cs typeface="Calibri" pitchFamily="34" charset="-120"/>
              </a:rPr>
              <a:t>aktiv 0 · inaktiv 1</a:t>
            </a:r>
            <a:endParaRPr lang="de-DE" sz="1100" dirty="0"/>
          </a:p>
        </p:txBody>
      </p:sp>
      <p:sp>
        <p:nvSpPr>
          <p:cNvPr id="57" name="Shape 55"/>
          <p:cNvSpPr/>
          <p:nvPr/>
        </p:nvSpPr>
        <p:spPr>
          <a:xfrm>
            <a:off x="658368" y="6016752"/>
            <a:ext cx="749808" cy="320040"/>
          </a:xfrm>
          <a:prstGeom prst="roundRect">
            <a:avLst>
              <a:gd name="adj" fmla="val 22857"/>
            </a:avLst>
          </a:prstGeom>
          <a:solidFill>
            <a:srgbClr val="E7F4EF"/>
          </a:solidFill>
          <a:ln w="12700">
            <a:solidFill>
              <a:srgbClr val="E7F4EF"/>
            </a:solidFill>
            <a:prstDash val="solid"/>
          </a:ln>
        </p:spPr>
        <p:txBody>
          <a:bodyPr/>
          <a:p/>
        </p:txBody>
      </p:sp>
      <p:sp>
        <p:nvSpPr>
          <p:cNvPr id="58" name="Text 56"/>
          <p:cNvSpPr txBox="1"/>
          <p:nvPr/>
        </p:nvSpPr>
        <p:spPr>
          <a:xfrm>
            <a:off x="658368" y="6016752"/>
            <a:ext cx="749808" cy="320040"/>
          </a:xfrm>
          <a:prstGeom prst="rect">
            <a:avLst/>
          </a:prstGeom>
          <a:noFill/>
          <a:ln/>
        </p:spPr>
        <p:txBody>
          <a:bodyPr wrap="square" lIns="0" tIns="0" rIns="0" bIns="0" rtlCol="0" anchor="ctr">
            <a:normAutofit/>
          </a:bodyPr>
          <a:lstStyle/>
          <a:p>
            <a:pPr algn="ctr" indent="0" marL="0">
              <a:buNone/>
            </a:pPr>
            <a:r>
              <a:rPr lang="de-DE" sz="1100" b="1" dirty="0">
                <a:solidFill>
                  <a:srgbClr val="173F35"/>
                </a:solidFill>
                <a:latin typeface="Calibri" pitchFamily="34" charset="0"/>
                <a:ea typeface="Calibri" pitchFamily="34" charset="-122"/>
                <a:cs typeface="Calibri" pitchFamily="34" charset="-120"/>
              </a:rPr>
              <a:t>AUTO</a:t>
            </a:r>
            <a:endParaRPr lang="de-DE" sz="1100" dirty="0"/>
          </a:p>
        </p:txBody>
      </p:sp>
      <p:sp>
        <p:nvSpPr>
          <p:cNvPr id="59" name="Text 57"/>
          <p:cNvSpPr txBox="1"/>
          <p:nvPr/>
        </p:nvSpPr>
        <p:spPr>
          <a:xfrm>
            <a:off x="1517904" y="6016752"/>
            <a:ext cx="1005840" cy="320040"/>
          </a:xfrm>
          <a:prstGeom prst="rect">
            <a:avLst/>
          </a:prstGeom>
          <a:noFill/>
          <a:ln/>
        </p:spPr>
        <p:txBody>
          <a:bodyPr wrap="square" lIns="0" tIns="0" rIns="0" bIns="0" rtlCol="0" anchor="ctr">
            <a:normAutofit/>
          </a:bodyPr>
          <a:lstStyle/>
          <a:p>
            <a:pPr algn="l" indent="0" marL="0">
              <a:buNone/>
            </a:pPr>
            <a:r>
              <a:rPr lang="de-DE" sz="1100" b="1" dirty="0">
                <a:solidFill>
                  <a:srgbClr val="5E6C67"/>
                </a:solidFill>
                <a:latin typeface="Calibri" pitchFamily="34" charset="0"/>
                <a:ea typeface="Calibri" pitchFamily="34" charset="-122"/>
                <a:cs typeface="Calibri" pitchFamily="34" charset="-120"/>
              </a:rPr>
              <a:t>ein Befehl</a:t>
            </a:r>
            <a:endParaRPr lang="de-DE" sz="1100" dirty="0"/>
          </a:p>
        </p:txBody>
      </p:sp>
      <p:sp>
        <p:nvSpPr>
          <p:cNvPr id="60" name="Shape 58"/>
          <p:cNvSpPr/>
          <p:nvPr/>
        </p:nvSpPr>
        <p:spPr>
          <a:xfrm>
            <a:off x="2807208" y="6016752"/>
            <a:ext cx="859536" cy="320040"/>
          </a:xfrm>
          <a:prstGeom prst="roundRect">
            <a:avLst>
              <a:gd name="adj" fmla="val 22857"/>
            </a:avLst>
          </a:prstGeom>
          <a:solidFill>
            <a:srgbClr val="FFF5D9"/>
          </a:solidFill>
          <a:ln w="12700">
            <a:solidFill>
              <a:srgbClr val="FFF5D9"/>
            </a:solidFill>
            <a:prstDash val="solid"/>
          </a:ln>
        </p:spPr>
        <p:txBody>
          <a:bodyPr/>
          <a:p/>
        </p:txBody>
      </p:sp>
      <p:sp>
        <p:nvSpPr>
          <p:cNvPr id="61" name="Text 59"/>
          <p:cNvSpPr txBox="1"/>
          <p:nvPr/>
        </p:nvSpPr>
        <p:spPr>
          <a:xfrm>
            <a:off x="2807208" y="6016752"/>
            <a:ext cx="859536" cy="320040"/>
          </a:xfrm>
          <a:prstGeom prst="rect">
            <a:avLst/>
          </a:prstGeom>
          <a:noFill/>
          <a:ln/>
        </p:spPr>
        <p:txBody>
          <a:bodyPr wrap="square" lIns="0" tIns="0" rIns="0" bIns="0" rtlCol="0" anchor="ctr">
            <a:normAutofit/>
          </a:bodyPr>
          <a:lstStyle/>
          <a:p>
            <a:pPr algn="ctr" indent="0" marL="0">
              <a:buNone/>
            </a:pPr>
            <a:r>
              <a:rPr lang="de-DE" sz="1100" b="1" dirty="0">
                <a:solidFill>
                  <a:srgbClr val="102F29"/>
                </a:solidFill>
                <a:latin typeface="Calibri" pitchFamily="34" charset="0"/>
                <a:ea typeface="Calibri" pitchFamily="34" charset="-122"/>
                <a:cs typeface="Calibri" pitchFamily="34" charset="-120"/>
              </a:rPr>
              <a:t>MODELL</a:t>
            </a:r>
            <a:endParaRPr lang="de-DE" sz="1100" dirty="0"/>
          </a:p>
        </p:txBody>
      </p:sp>
      <p:sp>
        <p:nvSpPr>
          <p:cNvPr id="62" name="Text 60"/>
          <p:cNvSpPr txBox="1"/>
          <p:nvPr/>
        </p:nvSpPr>
        <p:spPr>
          <a:xfrm>
            <a:off x="3776472" y="6016752"/>
            <a:ext cx="1353312" cy="320040"/>
          </a:xfrm>
          <a:prstGeom prst="rect">
            <a:avLst/>
          </a:prstGeom>
          <a:noFill/>
          <a:ln/>
        </p:spPr>
        <p:txBody>
          <a:bodyPr wrap="square" lIns="0" tIns="0" rIns="0" bIns="0" rtlCol="0" anchor="ctr">
            <a:normAutofit/>
          </a:bodyPr>
          <a:lstStyle/>
          <a:p>
            <a:pPr algn="l" indent="0" marL="0">
              <a:buNone/>
            </a:pPr>
            <a:r>
              <a:rPr lang="de-DE" sz="1100" b="1" dirty="0">
                <a:solidFill>
                  <a:srgbClr val="5E6C67"/>
                </a:solidFill>
                <a:latin typeface="Calibri" pitchFamily="34" charset="0"/>
                <a:ea typeface="Calibri" pitchFamily="34" charset="-122"/>
                <a:cs typeface="Calibri" pitchFamily="34" charset="-120"/>
              </a:rPr>
              <a:t>eine Schemaquelle</a:t>
            </a:r>
            <a:endParaRPr lang="de-DE" sz="1100" dirty="0"/>
          </a:p>
        </p:txBody>
      </p:sp>
      <p:sp>
        <p:nvSpPr>
          <p:cNvPr id="63" name="Shape 61"/>
          <p:cNvSpPr/>
          <p:nvPr/>
        </p:nvSpPr>
        <p:spPr>
          <a:xfrm>
            <a:off x="5431536" y="6016752"/>
            <a:ext cx="896112" cy="320040"/>
          </a:xfrm>
          <a:prstGeom prst="roundRect">
            <a:avLst>
              <a:gd name="adj" fmla="val 22857"/>
            </a:avLst>
          </a:prstGeom>
          <a:solidFill>
            <a:srgbClr val="EDEFF5"/>
          </a:solidFill>
          <a:ln w="12700">
            <a:solidFill>
              <a:srgbClr val="EDEFF5"/>
            </a:solidFill>
            <a:prstDash val="solid"/>
          </a:ln>
        </p:spPr>
        <p:txBody>
          <a:bodyPr/>
          <a:p/>
        </p:txBody>
      </p:sp>
      <p:sp>
        <p:nvSpPr>
          <p:cNvPr id="64" name="Text 62"/>
          <p:cNvSpPr txBox="1"/>
          <p:nvPr/>
        </p:nvSpPr>
        <p:spPr>
          <a:xfrm>
            <a:off x="5431536" y="6016752"/>
            <a:ext cx="896112" cy="320040"/>
          </a:xfrm>
          <a:prstGeom prst="rect">
            <a:avLst/>
          </a:prstGeom>
          <a:noFill/>
          <a:ln/>
        </p:spPr>
        <p:txBody>
          <a:bodyPr wrap="square" lIns="0" tIns="0" rIns="0" bIns="0" rtlCol="0" anchor="ctr">
            <a:normAutofit/>
          </a:bodyPr>
          <a:lstStyle/>
          <a:p>
            <a:pPr algn="ctr" indent="0" marL="0">
              <a:buNone/>
            </a:pPr>
            <a:r>
              <a:rPr lang="de-DE" sz="1100" b="1" dirty="0">
                <a:solidFill>
                  <a:srgbClr val="46506A"/>
                </a:solidFill>
                <a:latin typeface="Calibri" pitchFamily="34" charset="0"/>
                <a:ea typeface="Calibri" pitchFamily="34" charset="-122"/>
                <a:cs typeface="Calibri" pitchFamily="34" charset="-120"/>
              </a:rPr>
              <a:t>MENSCHEN</a:t>
            </a:r>
            <a:endParaRPr lang="de-DE" sz="1100" dirty="0"/>
          </a:p>
        </p:txBody>
      </p:sp>
      <p:sp>
        <p:nvSpPr>
          <p:cNvPr id="65" name="Text 63"/>
          <p:cNvSpPr txBox="1"/>
          <p:nvPr/>
        </p:nvSpPr>
        <p:spPr>
          <a:xfrm>
            <a:off x="6437376" y="6016752"/>
            <a:ext cx="1188720" cy="320040"/>
          </a:xfrm>
          <a:prstGeom prst="rect">
            <a:avLst/>
          </a:prstGeom>
          <a:noFill/>
          <a:ln/>
        </p:spPr>
        <p:txBody>
          <a:bodyPr wrap="square" lIns="0" tIns="0" rIns="0" bIns="0" rtlCol="0" anchor="ctr">
            <a:normAutofit/>
          </a:bodyPr>
          <a:lstStyle/>
          <a:p>
            <a:pPr algn="l" indent="0" marL="0">
              <a:buNone/>
            </a:pPr>
            <a:r>
              <a:rPr lang="de-DE" sz="1100" b="1" dirty="0">
                <a:solidFill>
                  <a:srgbClr val="5E6C67"/>
                </a:solidFill>
                <a:latin typeface="Calibri" pitchFamily="34" charset="0"/>
                <a:ea typeface="Calibri" pitchFamily="34" charset="-122"/>
                <a:cs typeface="Calibri" pitchFamily="34" charset="-120"/>
              </a:rPr>
              <a:t>Logs + Gründe</a:t>
            </a:r>
            <a:endParaRPr lang="de-DE" sz="1100" dirty="0"/>
          </a:p>
        </p:txBody>
      </p:sp>
      <p:sp>
        <p:nvSpPr>
          <p:cNvPr id="66" name="Text 64"/>
          <p:cNvSpPr txBox="1"/>
          <p:nvPr/>
        </p:nvSpPr>
        <p:spPr>
          <a:xfrm>
            <a:off x="8961120" y="5998464"/>
            <a:ext cx="2331720" cy="338328"/>
          </a:xfrm>
          <a:prstGeom prst="rect">
            <a:avLst/>
          </a:prstGeom>
          <a:noFill/>
          <a:ln/>
        </p:spPr>
        <p:txBody>
          <a:bodyPr wrap="square" lIns="0" tIns="0" rIns="0" bIns="0" rtlCol="0" anchor="ctr">
            <a:normAutofit/>
          </a:bodyPr>
          <a:lstStyle/>
          <a:p>
            <a:pPr algn="r" indent="0" marL="0">
              <a:buNone/>
            </a:pPr>
            <a:r>
              <a:rPr lang="de-DE" sz="1200" b="1" dirty="0">
                <a:solidFill>
                  <a:srgbClr val="173F35"/>
                </a:solidFill>
                <a:latin typeface="Calibri" pitchFamily="34" charset="0"/>
                <a:ea typeface="Calibri" pitchFamily="34" charset="-122"/>
                <a:cs typeface="Calibri" pitchFamily="34" charset="-120"/>
              </a:rPr>
              <a:t>python -m src.main</a:t>
            </a:r>
            <a:endParaRPr lang="de-DE" sz="1200" dirty="0"/>
          </a:p>
        </p:txBody>
      </p:sp>
      <p:sp>
        <p:nvSpPr>
          <p:cNvPr id="25" name="Slide Number Placeholder 0"/>
          <p:cNvSpPr>
            <a:spLocks noGrp="1"/>
          </p:cNvSpPr>
          <p:nvPr>
            <p:ph type="sldNum" sz="quarter" idx="4294967295"/>
          </p:nvPr>
        </p:nvSpPr>
        <p:spPr>
          <a:xfrm>
            <a:off x="1168603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B76"/>
                </a:solidFill>
                <a:latin typeface="Calibri"/>
                <a:ea typeface="Calibri"/>
                <a:cs typeface="Calibri"/>
              </a:defRPr>
            </a:lvl1pPr>
          </a:lstStyle>
          <a:p>
            <a:pPr algn="l"/>
            <a:fld id="{F7021451-1387-4CA6-816F-3879F97B5CBC}" type="slidenum">
              <a:rPr b="0" lang="de-DE"/>
              <a:t>2</a:t>
            </a:fld>
            <a:endParaRPr lang="de-D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566928"/>
            <a:ext cx="11109960" cy="502920"/>
          </a:xfrm>
          <a:prstGeom prst="rect">
            <a:avLst/>
          </a:prstGeom>
          <a:noFill/>
          <a:ln/>
        </p:spPr>
        <p:txBody>
          <a:bodyPr wrap="square" lIns="0" tIns="0" rIns="0" bIns="0" rtlCol="0" anchor="ctr">
            <a:normAutofit/>
          </a:bodyPr>
          <a:lstStyle/>
          <a:p>
            <a:pPr algn="l" indent="0" marL="0">
              <a:buNone/>
            </a:pPr>
            <a:r>
              <a:rPr lang="de-DE" sz="3000" b="1" dirty="0">
                <a:solidFill>
                  <a:srgbClr val="17211E"/>
                </a:solidFill>
                <a:latin typeface="Cambria" pitchFamily="34" charset="0"/>
                <a:ea typeface="Cambria" pitchFamily="34" charset="-122"/>
                <a:cs typeface="Cambria" pitchFamily="34" charset="-120"/>
              </a:rPr>
              <a:t>Die Beziehung gültig halten</a:t>
            </a:r>
            <a:endParaRPr lang="de-DE" sz="3000" dirty="0"/>
          </a:p>
        </p:txBody>
      </p:sp>
      <p:sp>
        <p:nvSpPr>
          <p:cNvPr id="3" name="Text 1"/>
          <p:cNvSpPr txBox="1"/>
          <p:nvPr/>
        </p:nvSpPr>
        <p:spPr>
          <a:xfrm>
            <a:off x="521208" y="1115568"/>
            <a:ext cx="10789920" cy="292608"/>
          </a:xfrm>
          <a:prstGeom prst="rect">
            <a:avLst/>
          </a:prstGeom>
          <a:noFill/>
          <a:ln/>
        </p:spPr>
        <p:txBody>
          <a:bodyPr wrap="square" lIns="0" tIns="0" rIns="0" bIns="0" rtlCol="0" anchor="ctr">
            <a:normAutofit/>
          </a:bodyPr>
          <a:lstStyle/>
          <a:p>
            <a:pPr algn="l" indent="0" marL="0">
              <a:buNone/>
            </a:pPr>
            <a:r>
              <a:rPr lang="de-DE" sz="1400" dirty="0">
                <a:solidFill>
                  <a:srgbClr val="5E6C67"/>
                </a:solidFill>
                <a:latin typeface="Calibri" pitchFamily="34" charset="0"/>
                <a:ea typeface="Calibri" pitchFamily="34" charset="-122"/>
                <a:cs typeface="Calibri" pitchFamily="34" charset="-120"/>
              </a:rPr>
              <a:t>Jede übernommene SalesOrder verweist auf genau einen Contact.</a:t>
            </a:r>
            <a:endParaRPr lang="de-DE" sz="1400" dirty="0"/>
          </a:p>
        </p:txBody>
      </p:sp>
      <p:sp>
        <p:nvSpPr>
          <p:cNvPr id="4" name="Shape 2"/>
          <p:cNvSpPr/>
          <p:nvPr/>
        </p:nvSpPr>
        <p:spPr>
          <a:xfrm>
            <a:off x="713232" y="1664208"/>
            <a:ext cx="3657600" cy="3456432"/>
          </a:xfrm>
          <a:prstGeom prst="roundRect">
            <a:avLst>
              <a:gd name="adj" fmla="val 2646"/>
            </a:avLst>
          </a:prstGeom>
          <a:solidFill>
            <a:srgbClr val="F4F8F6"/>
          </a:solidFill>
          <a:ln w="12700">
            <a:solidFill>
              <a:srgbClr val="B9CCC5"/>
            </a:solidFill>
            <a:prstDash val="solid"/>
          </a:ln>
        </p:spPr>
        <p:txBody>
          <a:bodyPr/>
          <a:p/>
        </p:txBody>
      </p:sp>
      <p:sp>
        <p:nvSpPr>
          <p:cNvPr id="5" name="Shape 3"/>
          <p:cNvSpPr/>
          <p:nvPr/>
        </p:nvSpPr>
        <p:spPr>
          <a:xfrm>
            <a:off x="960120" y="1901952"/>
            <a:ext cx="841248" cy="320040"/>
          </a:xfrm>
          <a:prstGeom prst="roundRect">
            <a:avLst>
              <a:gd name="adj" fmla="val 22857"/>
            </a:avLst>
          </a:prstGeom>
          <a:solidFill>
            <a:srgbClr val="E7F4EF"/>
          </a:solidFill>
          <a:ln w="12700">
            <a:solidFill>
              <a:srgbClr val="E7F4EF"/>
            </a:solidFill>
            <a:prstDash val="solid"/>
          </a:ln>
        </p:spPr>
        <p:txBody>
          <a:bodyPr/>
          <a:p/>
        </p:txBody>
      </p:sp>
      <p:sp>
        <p:nvSpPr>
          <p:cNvPr id="6" name="Text 4"/>
          <p:cNvSpPr txBox="1"/>
          <p:nvPr/>
        </p:nvSpPr>
        <p:spPr>
          <a:xfrm>
            <a:off x="960120" y="1901952"/>
            <a:ext cx="841248" cy="320040"/>
          </a:xfrm>
          <a:prstGeom prst="rect">
            <a:avLst/>
          </a:prstGeom>
          <a:noFill/>
          <a:ln/>
        </p:spPr>
        <p:txBody>
          <a:bodyPr wrap="square" lIns="0" tIns="0" rIns="0" bIns="0" rtlCol="0" anchor="ctr">
            <a:normAutofit/>
          </a:bodyPr>
          <a:lstStyle/>
          <a:p>
            <a:pPr algn="ctr" indent="0" marL="0">
              <a:buNone/>
            </a:pPr>
            <a:r>
              <a:rPr lang="de-DE" sz="1100" b="1" dirty="0">
                <a:solidFill>
                  <a:srgbClr val="173F35"/>
                </a:solidFill>
                <a:latin typeface="Calibri" pitchFamily="34" charset="0"/>
                <a:ea typeface="Calibri" pitchFamily="34" charset="-122"/>
                <a:cs typeface="Calibri" pitchFamily="34" charset="-120"/>
              </a:rPr>
              <a:t>ELTERN</a:t>
            </a:r>
            <a:endParaRPr lang="de-DE" sz="1100" dirty="0"/>
          </a:p>
        </p:txBody>
      </p:sp>
      <p:sp>
        <p:nvSpPr>
          <p:cNvPr id="7" name="Text 5"/>
          <p:cNvSpPr txBox="1"/>
          <p:nvPr/>
        </p:nvSpPr>
        <p:spPr>
          <a:xfrm>
            <a:off x="960120" y="2331720"/>
            <a:ext cx="2286000" cy="438912"/>
          </a:xfrm>
          <a:prstGeom prst="rect">
            <a:avLst/>
          </a:prstGeom>
          <a:noFill/>
          <a:ln/>
        </p:spPr>
        <p:txBody>
          <a:bodyPr wrap="square" lIns="0" tIns="0" rIns="0" bIns="0" rtlCol="0" anchor="ctr">
            <a:normAutofit/>
          </a:bodyPr>
          <a:lstStyle/>
          <a:p>
            <a:pPr algn="l" indent="0" marL="0">
              <a:buNone/>
            </a:pPr>
            <a:r>
              <a:rPr lang="de-DE" sz="2500" b="1" dirty="0">
                <a:solidFill>
                  <a:srgbClr val="17211E"/>
                </a:solidFill>
                <a:latin typeface="Cambria" pitchFamily="34" charset="0"/>
                <a:ea typeface="Cambria" pitchFamily="34" charset="-122"/>
                <a:cs typeface="Cambria" pitchFamily="34" charset="-120"/>
              </a:rPr>
              <a:t>Contact</a:t>
            </a:r>
            <a:endParaRPr lang="de-DE" sz="2500" dirty="0"/>
          </a:p>
        </p:txBody>
      </p:sp>
      <p:sp>
        <p:nvSpPr>
          <p:cNvPr id="8" name="Text 6"/>
          <p:cNvSpPr txBox="1"/>
          <p:nvPr/>
        </p:nvSpPr>
        <p:spPr>
          <a:xfrm>
            <a:off x="1005840" y="2990088"/>
            <a:ext cx="2834640" cy="283464"/>
          </a:xfrm>
          <a:prstGeom prst="rect">
            <a:avLst/>
          </a:prstGeom>
          <a:noFill/>
          <a:ln/>
        </p:spPr>
        <p:txBody>
          <a:bodyPr wrap="square" lIns="0" tIns="0" rIns="0" bIns="0" rtlCol="0" anchor="ctr">
            <a:normAutofit/>
          </a:bodyPr>
          <a:lstStyle/>
          <a:p>
            <a:pPr algn="l" indent="0" marL="0">
              <a:buNone/>
            </a:pPr>
            <a:r>
              <a:rPr lang="de-DE" sz="1300" b="1" dirty="0">
                <a:solidFill>
                  <a:srgbClr val="173F35"/>
                </a:solidFill>
                <a:latin typeface="Calibri" pitchFamily="34" charset="0"/>
                <a:ea typeface="Calibri" pitchFamily="34" charset="-122"/>
                <a:cs typeface="Calibri" pitchFamily="34" charset="-120"/>
              </a:rPr>
              <a:t>contactid  PK</a:t>
            </a:r>
            <a:endParaRPr lang="de-DE" sz="1300" dirty="0"/>
          </a:p>
        </p:txBody>
      </p:sp>
      <p:sp>
        <p:nvSpPr>
          <p:cNvPr id="9" name="Text 7"/>
          <p:cNvSpPr txBox="1"/>
          <p:nvPr/>
        </p:nvSpPr>
        <p:spPr>
          <a:xfrm>
            <a:off x="1005840" y="3429000"/>
            <a:ext cx="2834640" cy="283464"/>
          </a:xfrm>
          <a:prstGeom prst="rect">
            <a:avLst/>
          </a:prstGeom>
          <a:noFill/>
          <a:ln/>
        </p:spPr>
        <p:txBody>
          <a:bodyPr wrap="square" lIns="0" tIns="0" rIns="0" bIns="0" rtlCol="0" anchor="ctr">
            <a:normAutofit/>
          </a:bodyPr>
          <a:lstStyle/>
          <a:p>
            <a:pPr algn="l" indent="0" marL="0">
              <a:buNone/>
            </a:pPr>
            <a:r>
              <a:rPr lang="de-DE" sz="1300" dirty="0">
                <a:solidFill>
                  <a:srgbClr val="5E6C67"/>
                </a:solidFill>
                <a:latin typeface="Calibri" pitchFamily="34" charset="0"/>
                <a:ea typeface="Calibri" pitchFamily="34" charset="-122"/>
                <a:cs typeface="Calibri" pitchFamily="34" charset="-120"/>
              </a:rPr>
              <a:t>firstname · lastname</a:t>
            </a:r>
            <a:endParaRPr lang="de-DE" sz="1300" dirty="0"/>
          </a:p>
        </p:txBody>
      </p:sp>
      <p:sp>
        <p:nvSpPr>
          <p:cNvPr id="10" name="Text 8"/>
          <p:cNvSpPr txBox="1"/>
          <p:nvPr/>
        </p:nvSpPr>
        <p:spPr>
          <a:xfrm>
            <a:off x="1005840" y="3867912"/>
            <a:ext cx="2834640" cy="283464"/>
          </a:xfrm>
          <a:prstGeom prst="rect">
            <a:avLst/>
          </a:prstGeom>
          <a:noFill/>
          <a:ln/>
        </p:spPr>
        <p:txBody>
          <a:bodyPr wrap="square" lIns="0" tIns="0" rIns="0" bIns="0" rtlCol="0" anchor="ctr">
            <a:normAutofit/>
          </a:bodyPr>
          <a:lstStyle/>
          <a:p>
            <a:pPr algn="l" indent="0" marL="0">
              <a:buNone/>
            </a:pPr>
            <a:r>
              <a:rPr lang="de-DE" sz="1300" dirty="0">
                <a:solidFill>
                  <a:srgbClr val="5E6C67"/>
                </a:solidFill>
                <a:latin typeface="Calibri" pitchFamily="34" charset="0"/>
                <a:ea typeface="Calibri" pitchFamily="34" charset="-122"/>
                <a:cs typeface="Calibri" pitchFamily="34" charset="-120"/>
              </a:rPr>
              <a:t>emailaddress1</a:t>
            </a:r>
            <a:endParaRPr lang="de-DE" sz="1300" dirty="0"/>
          </a:p>
        </p:txBody>
      </p:sp>
      <p:sp>
        <p:nvSpPr>
          <p:cNvPr id="11" name="Text 9"/>
          <p:cNvSpPr txBox="1"/>
          <p:nvPr/>
        </p:nvSpPr>
        <p:spPr>
          <a:xfrm>
            <a:off x="1005840" y="4306824"/>
            <a:ext cx="2834640" cy="283464"/>
          </a:xfrm>
          <a:prstGeom prst="rect">
            <a:avLst/>
          </a:prstGeom>
          <a:noFill/>
          <a:ln/>
        </p:spPr>
        <p:txBody>
          <a:bodyPr wrap="square" lIns="0" tIns="0" rIns="0" bIns="0" rtlCol="0" anchor="ctr">
            <a:normAutofit/>
          </a:bodyPr>
          <a:lstStyle/>
          <a:p>
            <a:pPr algn="l" indent="0" marL="0">
              <a:buNone/>
            </a:pPr>
            <a:r>
              <a:rPr lang="de-DE" sz="1300" dirty="0">
                <a:solidFill>
                  <a:srgbClr val="5E6C67"/>
                </a:solidFill>
                <a:latin typeface="Calibri" pitchFamily="34" charset="0"/>
                <a:ea typeface="Calibri" pitchFamily="34" charset="-122"/>
                <a:cs typeface="Calibri" pitchFamily="34" charset="-120"/>
              </a:rPr>
              <a:t>createdon · statecode</a:t>
            </a:r>
            <a:endParaRPr lang="de-DE" sz="1300" dirty="0"/>
          </a:p>
        </p:txBody>
      </p:sp>
      <p:sp>
        <p:nvSpPr>
          <p:cNvPr id="12" name="Shape 10"/>
          <p:cNvSpPr/>
          <p:nvPr/>
        </p:nvSpPr>
        <p:spPr>
          <a:xfrm>
            <a:off x="7799832" y="1664208"/>
            <a:ext cx="3657600" cy="3456432"/>
          </a:xfrm>
          <a:prstGeom prst="roundRect">
            <a:avLst>
              <a:gd name="adj" fmla="val 2646"/>
            </a:avLst>
          </a:prstGeom>
          <a:solidFill>
            <a:srgbClr val="E7F4EF"/>
          </a:solidFill>
          <a:ln w="12700">
            <a:solidFill>
              <a:srgbClr val="55B99A"/>
            </a:solidFill>
            <a:prstDash val="solid"/>
          </a:ln>
        </p:spPr>
        <p:txBody>
          <a:bodyPr/>
          <a:p/>
        </p:txBody>
      </p:sp>
      <p:sp>
        <p:nvSpPr>
          <p:cNvPr id="13" name="Shape 11"/>
          <p:cNvSpPr/>
          <p:nvPr/>
        </p:nvSpPr>
        <p:spPr>
          <a:xfrm>
            <a:off x="8046720" y="1901952"/>
            <a:ext cx="749808" cy="320040"/>
          </a:xfrm>
          <a:prstGeom prst="roundRect">
            <a:avLst>
              <a:gd name="adj" fmla="val 22857"/>
            </a:avLst>
          </a:prstGeom>
          <a:solidFill>
            <a:srgbClr val="FFFFFF"/>
          </a:solidFill>
          <a:ln w="12700">
            <a:solidFill>
              <a:srgbClr val="FFFFFF"/>
            </a:solidFill>
            <a:prstDash val="solid"/>
          </a:ln>
        </p:spPr>
        <p:txBody>
          <a:bodyPr/>
          <a:p/>
        </p:txBody>
      </p:sp>
      <p:sp>
        <p:nvSpPr>
          <p:cNvPr id="14" name="Text 12"/>
          <p:cNvSpPr txBox="1"/>
          <p:nvPr/>
        </p:nvSpPr>
        <p:spPr>
          <a:xfrm>
            <a:off x="8046720" y="1901952"/>
            <a:ext cx="749808" cy="320040"/>
          </a:xfrm>
          <a:prstGeom prst="rect">
            <a:avLst/>
          </a:prstGeom>
          <a:noFill/>
          <a:ln/>
        </p:spPr>
        <p:txBody>
          <a:bodyPr wrap="square" lIns="0" tIns="0" rIns="0" bIns="0" rtlCol="0" anchor="ctr">
            <a:normAutofit/>
          </a:bodyPr>
          <a:lstStyle/>
          <a:p>
            <a:pPr algn="ctr" indent="0" marL="0">
              <a:buNone/>
            </a:pPr>
            <a:r>
              <a:rPr lang="de-DE" sz="1100" b="1" dirty="0">
                <a:solidFill>
                  <a:srgbClr val="173F35"/>
                </a:solidFill>
                <a:latin typeface="Calibri" pitchFamily="34" charset="0"/>
                <a:ea typeface="Calibri" pitchFamily="34" charset="-122"/>
                <a:cs typeface="Calibri" pitchFamily="34" charset="-120"/>
              </a:rPr>
              <a:t>KIND</a:t>
            </a:r>
            <a:endParaRPr lang="de-DE" sz="1100" dirty="0"/>
          </a:p>
        </p:txBody>
      </p:sp>
      <p:sp>
        <p:nvSpPr>
          <p:cNvPr id="15" name="Text 13"/>
          <p:cNvSpPr txBox="1"/>
          <p:nvPr/>
        </p:nvSpPr>
        <p:spPr>
          <a:xfrm>
            <a:off x="8046720" y="2331720"/>
            <a:ext cx="2743200" cy="438912"/>
          </a:xfrm>
          <a:prstGeom prst="rect">
            <a:avLst/>
          </a:prstGeom>
          <a:noFill/>
          <a:ln/>
        </p:spPr>
        <p:txBody>
          <a:bodyPr wrap="square" lIns="0" tIns="0" rIns="0" bIns="0" rtlCol="0" anchor="ctr">
            <a:normAutofit/>
          </a:bodyPr>
          <a:lstStyle/>
          <a:p>
            <a:pPr algn="l" indent="0" marL="0">
              <a:buNone/>
            </a:pPr>
            <a:r>
              <a:rPr lang="de-DE" sz="2500" b="1" dirty="0">
                <a:solidFill>
                  <a:srgbClr val="17211E"/>
                </a:solidFill>
                <a:latin typeface="Cambria" pitchFamily="34" charset="0"/>
                <a:ea typeface="Cambria" pitchFamily="34" charset="-122"/>
                <a:cs typeface="Cambria" pitchFamily="34" charset="-120"/>
              </a:rPr>
              <a:t>SalesOrder</a:t>
            </a:r>
            <a:endParaRPr lang="de-DE" sz="2500" dirty="0"/>
          </a:p>
        </p:txBody>
      </p:sp>
      <p:sp>
        <p:nvSpPr>
          <p:cNvPr id="16" name="Text 14"/>
          <p:cNvSpPr txBox="1"/>
          <p:nvPr/>
        </p:nvSpPr>
        <p:spPr>
          <a:xfrm>
            <a:off x="8092440" y="2990088"/>
            <a:ext cx="2743200" cy="283464"/>
          </a:xfrm>
          <a:prstGeom prst="rect">
            <a:avLst/>
          </a:prstGeom>
          <a:noFill/>
          <a:ln/>
        </p:spPr>
        <p:txBody>
          <a:bodyPr wrap="square" lIns="0" tIns="0" rIns="0" bIns="0" rtlCol="0" anchor="ctr">
            <a:normAutofit/>
          </a:bodyPr>
          <a:lstStyle/>
          <a:p>
            <a:pPr algn="l" indent="0" marL="0">
              <a:buNone/>
            </a:pPr>
            <a:r>
              <a:rPr lang="de-DE" sz="1300" dirty="0">
                <a:solidFill>
                  <a:srgbClr val="5E6C67"/>
                </a:solidFill>
                <a:latin typeface="Calibri" pitchFamily="34" charset="0"/>
                <a:ea typeface="Calibri" pitchFamily="34" charset="-122"/>
                <a:cs typeface="Calibri" pitchFamily="34" charset="-120"/>
              </a:rPr>
              <a:t>salesorderid  PK</a:t>
            </a:r>
            <a:endParaRPr lang="de-DE" sz="1300" dirty="0"/>
          </a:p>
        </p:txBody>
      </p:sp>
      <p:sp>
        <p:nvSpPr>
          <p:cNvPr id="17" name="Text 15"/>
          <p:cNvSpPr txBox="1"/>
          <p:nvPr/>
        </p:nvSpPr>
        <p:spPr>
          <a:xfrm>
            <a:off x="8092440" y="3429000"/>
            <a:ext cx="2743200" cy="283464"/>
          </a:xfrm>
          <a:prstGeom prst="rect">
            <a:avLst/>
          </a:prstGeom>
          <a:noFill/>
          <a:ln/>
        </p:spPr>
        <p:txBody>
          <a:bodyPr wrap="square" lIns="0" tIns="0" rIns="0" bIns="0" rtlCol="0" anchor="ctr">
            <a:normAutofit/>
          </a:bodyPr>
          <a:lstStyle/>
          <a:p>
            <a:pPr algn="l" indent="0" marL="0">
              <a:buNone/>
            </a:pPr>
            <a:r>
              <a:rPr lang="de-DE" sz="1300" b="1" dirty="0">
                <a:solidFill>
                  <a:srgbClr val="173F35"/>
                </a:solidFill>
                <a:latin typeface="Calibri" pitchFamily="34" charset="0"/>
                <a:ea typeface="Calibri" pitchFamily="34" charset="-122"/>
                <a:cs typeface="Calibri" pitchFamily="34" charset="-120"/>
              </a:rPr>
              <a:t>customerid  FK</a:t>
            </a:r>
            <a:endParaRPr lang="de-DE" sz="1300" dirty="0"/>
          </a:p>
        </p:txBody>
      </p:sp>
      <p:sp>
        <p:nvSpPr>
          <p:cNvPr id="18" name="Text 16"/>
          <p:cNvSpPr txBox="1"/>
          <p:nvPr/>
        </p:nvSpPr>
        <p:spPr>
          <a:xfrm>
            <a:off x="8092440" y="3867912"/>
            <a:ext cx="2743200" cy="283464"/>
          </a:xfrm>
          <a:prstGeom prst="rect">
            <a:avLst/>
          </a:prstGeom>
          <a:noFill/>
          <a:ln/>
        </p:spPr>
        <p:txBody>
          <a:bodyPr wrap="square" lIns="0" tIns="0" rIns="0" bIns="0" rtlCol="0" anchor="ctr">
            <a:normAutofit/>
          </a:bodyPr>
          <a:lstStyle/>
          <a:p>
            <a:pPr algn="l" indent="0" marL="0">
              <a:buNone/>
            </a:pPr>
            <a:r>
              <a:rPr lang="de-DE" sz="1300" dirty="0">
                <a:solidFill>
                  <a:srgbClr val="5E6C67"/>
                </a:solidFill>
                <a:latin typeface="Calibri" pitchFamily="34" charset="0"/>
                <a:ea typeface="Calibri" pitchFamily="34" charset="-122"/>
                <a:cs typeface="Calibri" pitchFamily="34" charset="-120"/>
              </a:rPr>
              <a:t>totalamount · decimal</a:t>
            </a:r>
            <a:endParaRPr lang="de-DE" sz="1300" dirty="0"/>
          </a:p>
        </p:txBody>
      </p:sp>
      <p:sp>
        <p:nvSpPr>
          <p:cNvPr id="19" name="Text 17"/>
          <p:cNvSpPr txBox="1"/>
          <p:nvPr/>
        </p:nvSpPr>
        <p:spPr>
          <a:xfrm>
            <a:off x="8092440" y="4306824"/>
            <a:ext cx="2743200" cy="283464"/>
          </a:xfrm>
          <a:prstGeom prst="rect">
            <a:avLst/>
          </a:prstGeom>
          <a:noFill/>
          <a:ln/>
        </p:spPr>
        <p:txBody>
          <a:bodyPr wrap="square" lIns="0" tIns="0" rIns="0" bIns="0" rtlCol="0" anchor="ctr">
            <a:normAutofit/>
          </a:bodyPr>
          <a:lstStyle/>
          <a:p>
            <a:pPr algn="l" indent="0" marL="0">
              <a:buNone/>
            </a:pPr>
            <a:r>
              <a:rPr lang="de-DE" sz="1300" dirty="0">
                <a:solidFill>
                  <a:srgbClr val="5E6C67"/>
                </a:solidFill>
                <a:latin typeface="Calibri" pitchFamily="34" charset="0"/>
                <a:ea typeface="Calibri" pitchFamily="34" charset="-122"/>
                <a:cs typeface="Calibri" pitchFamily="34" charset="-120"/>
              </a:rPr>
              <a:t>createdon · UTC</a:t>
            </a:r>
            <a:endParaRPr lang="de-DE" sz="1300" dirty="0"/>
          </a:p>
        </p:txBody>
      </p:sp>
      <p:sp>
        <p:nvSpPr>
          <p:cNvPr id="20" name="Shape 18"/>
          <p:cNvSpPr/>
          <p:nvPr/>
        </p:nvSpPr>
        <p:spPr>
          <a:xfrm>
            <a:off x="4572000" y="3291840"/>
            <a:ext cx="3017520" cy="0"/>
          </a:xfrm>
          <a:prstGeom prst="line">
            <a:avLst/>
          </a:prstGeom>
          <a:noFill/>
          <a:ln w="38100">
            <a:solidFill>
              <a:srgbClr val="55B99A"/>
            </a:solidFill>
            <a:prstDash val="solid"/>
            <a:tailEnd type="triangle"/>
          </a:ln>
        </p:spPr>
        <p:txBody>
          <a:bodyPr/>
          <a:p/>
        </p:txBody>
      </p:sp>
      <p:sp>
        <p:nvSpPr>
          <p:cNvPr id="21" name="Text 19"/>
          <p:cNvSpPr txBox="1"/>
          <p:nvPr/>
        </p:nvSpPr>
        <p:spPr>
          <a:xfrm>
            <a:off x="4736592" y="2852928"/>
            <a:ext cx="384048" cy="274320"/>
          </a:xfrm>
          <a:prstGeom prst="rect">
            <a:avLst/>
          </a:prstGeom>
          <a:noFill/>
          <a:ln/>
        </p:spPr>
        <p:txBody>
          <a:bodyPr wrap="square" lIns="0" tIns="0" rIns="0" bIns="0" rtlCol="0" anchor="ctr">
            <a:normAutofit/>
          </a:bodyPr>
          <a:lstStyle/>
          <a:p>
            <a:pPr algn="ctr" indent="0" marL="0">
              <a:buNone/>
            </a:pPr>
            <a:r>
              <a:rPr lang="de-DE" sz="1600" b="1" dirty="0">
                <a:solidFill>
                  <a:srgbClr val="173F35"/>
                </a:solidFill>
                <a:latin typeface="Calibri" pitchFamily="34" charset="0"/>
                <a:ea typeface="Calibri" pitchFamily="34" charset="-122"/>
                <a:cs typeface="Calibri" pitchFamily="34" charset="-120"/>
              </a:rPr>
              <a:t>1</a:t>
            </a:r>
            <a:endParaRPr lang="de-DE" sz="1600" dirty="0"/>
          </a:p>
        </p:txBody>
      </p:sp>
      <p:sp>
        <p:nvSpPr>
          <p:cNvPr id="22" name="Text 20"/>
          <p:cNvSpPr txBox="1"/>
          <p:nvPr/>
        </p:nvSpPr>
        <p:spPr>
          <a:xfrm>
            <a:off x="6830568" y="2852928"/>
            <a:ext cx="658368" cy="274320"/>
          </a:xfrm>
          <a:prstGeom prst="rect">
            <a:avLst/>
          </a:prstGeom>
          <a:noFill/>
          <a:ln/>
        </p:spPr>
        <p:txBody>
          <a:bodyPr wrap="square" lIns="0" tIns="0" rIns="0" bIns="0" rtlCol="0" anchor="ctr">
            <a:normAutofit/>
          </a:bodyPr>
          <a:lstStyle/>
          <a:p>
            <a:pPr algn="ctr" indent="0" marL="0">
              <a:buNone/>
            </a:pPr>
            <a:r>
              <a:rPr lang="de-DE" sz="1600" b="1" dirty="0">
                <a:solidFill>
                  <a:srgbClr val="173F35"/>
                </a:solidFill>
                <a:latin typeface="Calibri" pitchFamily="34" charset="0"/>
                <a:ea typeface="Calibri" pitchFamily="34" charset="-122"/>
                <a:cs typeface="Calibri" pitchFamily="34" charset="-120"/>
              </a:rPr>
              <a:t>0..N</a:t>
            </a:r>
            <a:endParaRPr lang="de-DE" sz="1600" dirty="0"/>
          </a:p>
        </p:txBody>
      </p:sp>
      <p:sp>
        <p:nvSpPr>
          <p:cNvPr id="23" name="Shape 21"/>
          <p:cNvSpPr/>
          <p:nvPr/>
        </p:nvSpPr>
        <p:spPr>
          <a:xfrm>
            <a:off x="4681728" y="3456432"/>
            <a:ext cx="2834640" cy="320040"/>
          </a:xfrm>
          <a:prstGeom prst="roundRect">
            <a:avLst>
              <a:gd name="adj" fmla="val 22857"/>
            </a:avLst>
          </a:prstGeom>
          <a:solidFill>
            <a:srgbClr val="E7F4EF"/>
          </a:solidFill>
          <a:ln w="12700">
            <a:solidFill>
              <a:srgbClr val="E7F4EF"/>
            </a:solidFill>
            <a:prstDash val="solid"/>
          </a:ln>
        </p:spPr>
        <p:txBody>
          <a:bodyPr/>
          <a:p/>
        </p:txBody>
      </p:sp>
      <p:sp>
        <p:nvSpPr>
          <p:cNvPr id="24" name="Text 22"/>
          <p:cNvSpPr txBox="1"/>
          <p:nvPr/>
        </p:nvSpPr>
        <p:spPr>
          <a:xfrm>
            <a:off x="4681728" y="3456432"/>
            <a:ext cx="2834640" cy="320040"/>
          </a:xfrm>
          <a:prstGeom prst="rect">
            <a:avLst/>
          </a:prstGeom>
          <a:noFill/>
          <a:ln/>
        </p:spPr>
        <p:txBody>
          <a:bodyPr wrap="square" lIns="0" tIns="0" rIns="0" bIns="0" rtlCol="0" anchor="ctr">
            <a:normAutofit/>
          </a:bodyPr>
          <a:lstStyle/>
          <a:p>
            <a:pPr algn="ctr" indent="0" marL="0">
              <a:buNone/>
            </a:pPr>
            <a:r>
              <a:rPr lang="de-DE" sz="1100" b="1" dirty="0">
                <a:solidFill>
                  <a:srgbClr val="173F35"/>
                </a:solidFill>
                <a:latin typeface="Calibri" pitchFamily="34" charset="0"/>
                <a:ea typeface="Calibri" pitchFamily="34" charset="-122"/>
                <a:cs typeface="Calibri" pitchFamily="34" charset="-120"/>
              </a:rPr>
              <a:t>contactid &lt;- customerid</a:t>
            </a:r>
            <a:endParaRPr lang="de-DE" sz="1100" dirty="0"/>
          </a:p>
        </p:txBody>
      </p:sp>
      <p:sp>
        <p:nvSpPr>
          <p:cNvPr id="25" name="Shape 23"/>
          <p:cNvSpPr/>
          <p:nvPr/>
        </p:nvSpPr>
        <p:spPr>
          <a:xfrm>
            <a:off x="4480560" y="4590288"/>
            <a:ext cx="3182112" cy="1078992"/>
          </a:xfrm>
          <a:prstGeom prst="roundRect">
            <a:avLst>
              <a:gd name="adj" fmla="val 8475"/>
            </a:avLst>
          </a:prstGeom>
          <a:solidFill>
            <a:srgbClr val="FBECEC"/>
          </a:solidFill>
          <a:ln w="12700">
            <a:solidFill>
              <a:srgbClr val="E9BABA"/>
            </a:solidFill>
            <a:prstDash val="solid"/>
          </a:ln>
        </p:spPr>
        <p:txBody>
          <a:bodyPr/>
          <a:p/>
        </p:txBody>
      </p:sp>
      <p:sp>
        <p:nvSpPr>
          <p:cNvPr id="26" name="Text 24"/>
          <p:cNvSpPr txBox="1"/>
          <p:nvPr/>
        </p:nvSpPr>
        <p:spPr>
          <a:xfrm>
            <a:off x="4709160" y="4727448"/>
            <a:ext cx="2697480" cy="274320"/>
          </a:xfrm>
          <a:prstGeom prst="rect">
            <a:avLst/>
          </a:prstGeom>
          <a:noFill/>
          <a:ln/>
        </p:spPr>
        <p:txBody>
          <a:bodyPr wrap="square" lIns="0" tIns="0" rIns="0" bIns="0" rtlCol="0" anchor="ctr">
            <a:normAutofit/>
          </a:bodyPr>
          <a:lstStyle/>
          <a:p>
            <a:pPr algn="l" indent="0" marL="0">
              <a:buNone/>
            </a:pPr>
            <a:r>
              <a:rPr lang="de-DE" sz="1500" b="1" dirty="0">
                <a:solidFill>
                  <a:srgbClr val="C95858"/>
                </a:solidFill>
                <a:latin typeface="Calibri" pitchFamily="34" charset="0"/>
                <a:ea typeface="Calibri" pitchFamily="34" charset="-122"/>
                <a:cs typeface="Calibri" pitchFamily="34" charset="-120"/>
              </a:rPr>
              <a:t>ORD-1005 → CST-999</a:t>
            </a:r>
            <a:endParaRPr lang="de-DE" sz="1500" dirty="0"/>
          </a:p>
        </p:txBody>
      </p:sp>
      <p:sp>
        <p:nvSpPr>
          <p:cNvPr id="27" name="Text 25"/>
          <p:cNvSpPr txBox="1"/>
          <p:nvPr/>
        </p:nvSpPr>
        <p:spPr>
          <a:xfrm>
            <a:off x="4709160" y="5047488"/>
            <a:ext cx="1508760" cy="274320"/>
          </a:xfrm>
          <a:prstGeom prst="rect">
            <a:avLst/>
          </a:prstGeom>
          <a:noFill/>
          <a:ln/>
        </p:spPr>
        <p:txBody>
          <a:bodyPr wrap="square" lIns="0" tIns="0" rIns="0" bIns="0" rtlCol="0" anchor="ctr">
            <a:normAutofit/>
          </a:bodyPr>
          <a:lstStyle/>
          <a:p>
            <a:pPr algn="l" indent="0" marL="0">
              <a:buNone/>
            </a:pPr>
            <a:r>
              <a:rPr lang="de-DE" sz="1200" b="1" dirty="0">
                <a:solidFill>
                  <a:srgbClr val="884141"/>
                </a:solidFill>
                <a:latin typeface="Calibri" pitchFamily="34" charset="0"/>
                <a:ea typeface="Calibri" pitchFamily="34" charset="-122"/>
                <a:cs typeface="Calibri" pitchFamily="34" charset="-120"/>
              </a:rPr>
              <a:t>Kein Contact-Treffer</a:t>
            </a:r>
            <a:endParaRPr lang="de-DE" sz="1200" dirty="0"/>
          </a:p>
        </p:txBody>
      </p:sp>
      <p:sp>
        <p:nvSpPr>
          <p:cNvPr id="28" name="Text 26"/>
          <p:cNvSpPr txBox="1"/>
          <p:nvPr/>
        </p:nvSpPr>
        <p:spPr>
          <a:xfrm>
            <a:off x="6089904" y="5047488"/>
            <a:ext cx="1325880" cy="274320"/>
          </a:xfrm>
          <a:prstGeom prst="rect">
            <a:avLst/>
          </a:prstGeom>
          <a:noFill/>
          <a:ln/>
        </p:spPr>
        <p:txBody>
          <a:bodyPr wrap="square" lIns="0" tIns="0" rIns="0" bIns="0" rtlCol="0" anchor="ctr">
            <a:normAutofit/>
          </a:bodyPr>
          <a:lstStyle/>
          <a:p>
            <a:pPr algn="l" indent="0" marL="0">
              <a:buNone/>
            </a:pPr>
            <a:r>
              <a:rPr lang="de-DE" sz="1200" b="1" dirty="0">
                <a:solidFill>
                  <a:srgbClr val="884141"/>
                </a:solidFill>
                <a:latin typeface="Calibri" pitchFamily="34" charset="0"/>
                <a:ea typeface="Calibri" pitchFamily="34" charset="-122"/>
                <a:cs typeface="Calibri" pitchFamily="34" charset="-120"/>
              </a:rPr>
              <a:t>→ Quarantäne + Log</a:t>
            </a:r>
            <a:endParaRPr lang="de-DE" sz="1200" dirty="0"/>
          </a:p>
        </p:txBody>
      </p:sp>
      <p:sp>
        <p:nvSpPr>
          <p:cNvPr id="29" name="Text 27"/>
          <p:cNvSpPr txBox="1"/>
          <p:nvPr/>
        </p:nvSpPr>
        <p:spPr>
          <a:xfrm>
            <a:off x="1005840" y="5760720"/>
            <a:ext cx="1097280" cy="256032"/>
          </a:xfrm>
          <a:prstGeom prst="rect">
            <a:avLst/>
          </a:prstGeom>
          <a:noFill/>
          <a:ln/>
        </p:spPr>
        <p:txBody>
          <a:bodyPr wrap="square" lIns="0" tIns="0" rIns="0" bIns="0" rtlCol="0" anchor="ctr">
            <a:normAutofit/>
          </a:bodyPr>
          <a:lstStyle/>
          <a:p>
            <a:pPr algn="l" indent="0" marL="0">
              <a:buNone/>
            </a:pPr>
            <a:r>
              <a:rPr lang="de-DE" sz="1200" b="1" dirty="0">
                <a:solidFill>
                  <a:srgbClr val="173F35"/>
                </a:solidFill>
                <a:latin typeface="Calibri" pitchFamily="34" charset="0"/>
                <a:ea typeface="Calibri" pitchFamily="34" charset="-122"/>
                <a:cs typeface="Calibri" pitchFamily="34" charset="-120"/>
              </a:rPr>
              <a:t>Sauberes Ziel</a:t>
            </a:r>
            <a:endParaRPr lang="de-DE" sz="1200" dirty="0"/>
          </a:p>
        </p:txBody>
      </p:sp>
      <p:sp>
        <p:nvSpPr>
          <p:cNvPr id="30" name="Text 28"/>
          <p:cNvSpPr txBox="1"/>
          <p:nvPr/>
        </p:nvSpPr>
        <p:spPr>
          <a:xfrm>
            <a:off x="2103120" y="5760720"/>
            <a:ext cx="2651760" cy="256032"/>
          </a:xfrm>
          <a:prstGeom prst="rect">
            <a:avLst/>
          </a:prstGeom>
          <a:noFill/>
          <a:ln/>
        </p:spPr>
        <p:txBody>
          <a:bodyPr wrap="square" lIns="0" tIns="0" rIns="0" bIns="0" rtlCol="0" anchor="ctr">
            <a:normAutofit/>
          </a:bodyPr>
          <a:lstStyle/>
          <a:p>
            <a:pPr algn="l" indent="0" marL="0">
              <a:buNone/>
            </a:pPr>
            <a:r>
              <a:rPr lang="de-DE" sz="1200" dirty="0">
                <a:solidFill>
                  <a:srgbClr val="5E6C67"/>
                </a:solidFill>
                <a:latin typeface="Calibri" pitchFamily="34" charset="0"/>
                <a:ea typeface="Calibri" pitchFamily="34" charset="-122"/>
                <a:cs typeface="Calibri" pitchFamily="34" charset="-120"/>
              </a:rPr>
              <a:t>Kein defekter Fremdschlüssel</a:t>
            </a:r>
            <a:endParaRPr lang="de-DE" sz="1200" dirty="0"/>
          </a:p>
        </p:txBody>
      </p:sp>
      <p:sp>
        <p:nvSpPr>
          <p:cNvPr id="31" name="Text 29"/>
          <p:cNvSpPr txBox="1"/>
          <p:nvPr/>
        </p:nvSpPr>
        <p:spPr>
          <a:xfrm>
            <a:off x="7955280" y="5760720"/>
            <a:ext cx="1481328" cy="256032"/>
          </a:xfrm>
          <a:prstGeom prst="rect">
            <a:avLst/>
          </a:prstGeom>
          <a:noFill/>
          <a:ln/>
        </p:spPr>
        <p:txBody>
          <a:bodyPr wrap="square" lIns="0" tIns="0" rIns="0" bIns="0" rtlCol="0" anchor="ctr">
            <a:normAutofit/>
          </a:bodyPr>
          <a:lstStyle/>
          <a:p>
            <a:pPr algn="l" indent="0" marL="0">
              <a:buNone/>
            </a:pPr>
            <a:r>
              <a:rPr lang="de-DE" sz="1200" b="1" dirty="0">
                <a:solidFill>
                  <a:srgbClr val="173F35"/>
                </a:solidFill>
                <a:latin typeface="Calibri" pitchFamily="34" charset="0"/>
                <a:ea typeface="Calibri" pitchFamily="34" charset="-122"/>
                <a:cs typeface="Calibri" pitchFamily="34" charset="-120"/>
              </a:rPr>
              <a:t>Nachvollziehbar</a:t>
            </a:r>
            <a:endParaRPr lang="de-DE" sz="1200" dirty="0"/>
          </a:p>
        </p:txBody>
      </p:sp>
      <p:sp>
        <p:nvSpPr>
          <p:cNvPr id="32" name="Text 30"/>
          <p:cNvSpPr txBox="1"/>
          <p:nvPr/>
        </p:nvSpPr>
        <p:spPr>
          <a:xfrm>
            <a:off x="9464040" y="5760720"/>
            <a:ext cx="1417320" cy="256032"/>
          </a:xfrm>
          <a:prstGeom prst="rect">
            <a:avLst/>
          </a:prstGeom>
          <a:noFill/>
          <a:ln/>
        </p:spPr>
        <p:txBody>
          <a:bodyPr wrap="square" lIns="0" tIns="0" rIns="0" bIns="0" rtlCol="0" anchor="ctr">
            <a:normAutofit/>
          </a:bodyPr>
          <a:lstStyle/>
          <a:p>
            <a:pPr algn="l" indent="0" marL="0">
              <a:buNone/>
            </a:pPr>
            <a:r>
              <a:rPr lang="de-DE" sz="1200" dirty="0">
                <a:solidFill>
                  <a:srgbClr val="5E6C67"/>
                </a:solidFill>
                <a:latin typeface="Calibri" pitchFamily="34" charset="0"/>
                <a:ea typeface="Calibri" pitchFamily="34" charset="-122"/>
                <a:cs typeface="Calibri" pitchFamily="34" charset="-120"/>
              </a:rPr>
              <a:t>Rohzeile + Grund</a:t>
            </a:r>
            <a:endParaRPr lang="de-DE" sz="1200" dirty="0"/>
          </a:p>
        </p:txBody>
      </p:sp>
      <p:sp>
        <p:nvSpPr>
          <p:cNvPr id="25" name="Slide Number Placeholder 0"/>
          <p:cNvSpPr>
            <a:spLocks noGrp="1"/>
          </p:cNvSpPr>
          <p:nvPr>
            <p:ph type="sldNum" sz="quarter" idx="4294967295"/>
          </p:nvPr>
        </p:nvSpPr>
        <p:spPr>
          <a:xfrm>
            <a:off x="1168603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B76"/>
                </a:solidFill>
                <a:latin typeface="Calibri"/>
                <a:ea typeface="Calibri"/>
                <a:cs typeface="Calibri"/>
              </a:defRPr>
            </a:lvl1pPr>
          </a:lstStyle>
          <a:p>
            <a:pPr algn="l"/>
            <a:fld id="{F7021451-1387-4CA6-816F-3879F97B5CBC}" type="slidenum">
              <a:rPr b="0" lang="de-DE"/>
              <a:t>3</a:t>
            </a:fld>
            <a:endParaRPr lang="de-D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2F29"/>
        </a:solidFill>
      </p:bgPr>
    </p:bg>
    <p:spTree>
      <p:nvGrpSpPr>
        <p:cNvPr id="1" name=""/>
        <p:cNvGrpSpPr/>
        <p:nvPr/>
      </p:nvGrpSpPr>
      <p:grpSpPr>
        <a:xfrm>
          <a:off x="0" y="0"/>
          <a:ext cx="0" cy="0"/>
          <a:chOff x="0" y="0"/>
          <a:chExt cx="0" cy="0"/>
        </a:xfrm>
      </p:grpSpPr>
      <p:sp>
        <p:nvSpPr>
          <p:cNvPr id="2" name="Shape 0"/>
          <p:cNvSpPr/>
          <p:nvPr/>
        </p:nvSpPr>
        <p:spPr>
          <a:xfrm>
            <a:off x="594360" y="475488"/>
            <a:ext cx="1444752" cy="320040"/>
          </a:xfrm>
          <a:prstGeom prst="roundRect">
            <a:avLst>
              <a:gd name="adj" fmla="val 22857"/>
            </a:avLst>
          </a:prstGeom>
          <a:solidFill>
            <a:srgbClr val="55B99A"/>
          </a:solidFill>
          <a:ln w="12700">
            <a:solidFill>
              <a:srgbClr val="55B99A"/>
            </a:solidFill>
            <a:prstDash val="solid"/>
          </a:ln>
        </p:spPr>
        <p:txBody>
          <a:bodyPr/>
          <a:p/>
        </p:txBody>
      </p:sp>
      <p:sp>
        <p:nvSpPr>
          <p:cNvPr id="3" name="Text 1"/>
          <p:cNvSpPr txBox="1"/>
          <p:nvPr/>
        </p:nvSpPr>
        <p:spPr>
          <a:xfrm>
            <a:off x="594360" y="475488"/>
            <a:ext cx="1444752" cy="320040"/>
          </a:xfrm>
          <a:prstGeom prst="rect">
            <a:avLst/>
          </a:prstGeom>
          <a:noFill/>
          <a:ln/>
        </p:spPr>
        <p:txBody>
          <a:bodyPr wrap="square" lIns="0" tIns="0" rIns="0" bIns="0" rtlCol="0" anchor="ctr">
            <a:normAutofit/>
          </a:bodyPr>
          <a:lstStyle/>
          <a:p>
            <a:pPr algn="ctr" indent="0" marL="0">
              <a:buNone/>
            </a:pPr>
            <a:r>
              <a:rPr lang="de-DE" sz="1100" b="1" dirty="0">
                <a:solidFill>
                  <a:srgbClr val="102F29"/>
                </a:solidFill>
                <a:latin typeface="Calibri" pitchFamily="34" charset="0"/>
                <a:ea typeface="Calibri" pitchFamily="34" charset="-122"/>
                <a:cs typeface="Calibri" pitchFamily="34" charset="-120"/>
              </a:rPr>
              <a:t>LOAD + BESCHREIBEN</a:t>
            </a:r>
            <a:endParaRPr lang="de-DE" sz="1100" dirty="0"/>
          </a:p>
        </p:txBody>
      </p:sp>
      <p:sp>
        <p:nvSpPr>
          <p:cNvPr id="4" name="Text 2"/>
          <p:cNvSpPr txBox="1"/>
          <p:nvPr/>
        </p:nvSpPr>
        <p:spPr>
          <a:xfrm>
            <a:off x="594360" y="1005840"/>
            <a:ext cx="10881360" cy="566928"/>
          </a:xfrm>
          <a:prstGeom prst="rect">
            <a:avLst/>
          </a:prstGeom>
          <a:noFill/>
          <a:ln/>
        </p:spPr>
        <p:txBody>
          <a:bodyPr wrap="square" lIns="0" tIns="0" rIns="0" bIns="0" rtlCol="0" anchor="ctr">
            <a:normAutofit/>
          </a:bodyPr>
          <a:lstStyle/>
          <a:p>
            <a:pPr algn="l" indent="0" marL="0">
              <a:buNone/>
            </a:pPr>
            <a:r>
              <a:rPr lang="de-DE" sz="3000" b="1" dirty="0">
                <a:solidFill>
                  <a:srgbClr val="FFFFFF"/>
                </a:solidFill>
                <a:latin typeface="Cambria" pitchFamily="34" charset="0"/>
                <a:ea typeface="Cambria" pitchFamily="34" charset="-122"/>
                <a:cs typeface="Cambria" pitchFamily="34" charset="-120"/>
              </a:rPr>
              <a:t>Ein Lauf schreibt Daten, Ablehnungen und Metadaten</a:t>
            </a:r>
            <a:endParaRPr lang="de-DE" sz="3000" dirty="0"/>
          </a:p>
        </p:txBody>
      </p:sp>
      <p:sp>
        <p:nvSpPr>
          <p:cNvPr id="5" name="Text 3"/>
          <p:cNvSpPr txBox="1"/>
          <p:nvPr/>
        </p:nvSpPr>
        <p:spPr>
          <a:xfrm>
            <a:off x="621792" y="1682496"/>
            <a:ext cx="7863840" cy="347472"/>
          </a:xfrm>
          <a:prstGeom prst="rect">
            <a:avLst/>
          </a:prstGeom>
          <a:noFill/>
          <a:ln/>
        </p:spPr>
        <p:txBody>
          <a:bodyPr wrap="square" lIns="0" tIns="0" rIns="0" bIns="0" rtlCol="0" anchor="ctr">
            <a:normAutofit/>
          </a:bodyPr>
          <a:lstStyle/>
          <a:p>
            <a:pPr algn="l" indent="0" marL="0">
              <a:buNone/>
            </a:pPr>
            <a:r>
              <a:rPr lang="de-DE" sz="1600" dirty="0">
                <a:solidFill>
                  <a:srgbClr val="DCEBE6"/>
                </a:solidFill>
                <a:latin typeface="Calibri" pitchFamily="34" charset="0"/>
                <a:ea typeface="Calibri" pitchFamily="34" charset="-122"/>
                <a:cs typeface="Calibri" pitchFamily="34" charset="-120"/>
              </a:rPr>
              <a:t>Die Entitätsmodelle halten CSV-Spalten und model.json-Attribute konsistent.</a:t>
            </a:r>
            <a:endParaRPr lang="de-DE" sz="1600" dirty="0"/>
          </a:p>
        </p:txBody>
      </p:sp>
      <p:sp>
        <p:nvSpPr>
          <p:cNvPr id="6" name="Shape 4"/>
          <p:cNvSpPr/>
          <p:nvPr/>
        </p:nvSpPr>
        <p:spPr>
          <a:xfrm>
            <a:off x="621792" y="2331720"/>
            <a:ext cx="5166360" cy="3364992"/>
          </a:xfrm>
          <a:prstGeom prst="roundRect">
            <a:avLst>
              <a:gd name="adj" fmla="val 2717"/>
            </a:avLst>
          </a:prstGeom>
          <a:solidFill>
            <a:srgbClr val="214D42"/>
          </a:solidFill>
          <a:ln w="12700">
            <a:solidFill>
              <a:srgbClr val="377365"/>
            </a:solidFill>
            <a:prstDash val="solid"/>
          </a:ln>
        </p:spPr>
        <p:txBody>
          <a:bodyPr/>
          <a:p/>
        </p:txBody>
      </p:sp>
      <p:sp>
        <p:nvSpPr>
          <p:cNvPr id="7" name="Text 5"/>
          <p:cNvSpPr txBox="1"/>
          <p:nvPr/>
        </p:nvSpPr>
        <p:spPr>
          <a:xfrm>
            <a:off x="914400" y="2596896"/>
            <a:ext cx="2377440" cy="320040"/>
          </a:xfrm>
          <a:prstGeom prst="rect">
            <a:avLst/>
          </a:prstGeom>
          <a:noFill/>
          <a:ln/>
        </p:spPr>
        <p:txBody>
          <a:bodyPr wrap="square" lIns="0" tIns="0" rIns="0" bIns="0" rtlCol="0" anchor="ctr">
            <a:normAutofit/>
          </a:bodyPr>
          <a:lstStyle/>
          <a:p>
            <a:pPr algn="l" indent="0" marL="0">
              <a:buNone/>
            </a:pPr>
            <a:r>
              <a:rPr lang="de-DE" sz="1700" b="1" dirty="0">
                <a:solidFill>
                  <a:srgbClr val="FFFFFF"/>
                </a:solidFill>
                <a:latin typeface="Calibri" pitchFamily="34" charset="0"/>
                <a:ea typeface="Calibri" pitchFamily="34" charset="-122"/>
                <a:cs typeface="Calibri" pitchFamily="34" charset="-120"/>
              </a:rPr>
              <a:t>python -m src.main</a:t>
            </a:r>
            <a:endParaRPr lang="de-DE" sz="1700" dirty="0"/>
          </a:p>
        </p:txBody>
      </p:sp>
      <p:sp>
        <p:nvSpPr>
          <p:cNvPr id="8" name="Text 6"/>
          <p:cNvSpPr txBox="1"/>
          <p:nvPr/>
        </p:nvSpPr>
        <p:spPr>
          <a:xfrm>
            <a:off x="978408" y="3136392"/>
            <a:ext cx="274320" cy="256032"/>
          </a:xfrm>
          <a:prstGeom prst="rect">
            <a:avLst/>
          </a:prstGeom>
          <a:noFill/>
          <a:ln/>
        </p:spPr>
        <p:txBody>
          <a:bodyPr wrap="square" lIns="0" tIns="0" rIns="0" bIns="0" rtlCol="0" anchor="ctr">
            <a:normAutofit/>
          </a:bodyPr>
          <a:lstStyle/>
          <a:p>
            <a:pPr algn="l" indent="0" marL="0">
              <a:buNone/>
            </a:pPr>
            <a:r>
              <a:rPr lang="de-DE" sz="1500" b="1" dirty="0">
                <a:solidFill>
                  <a:srgbClr val="F2C14E"/>
                </a:solidFill>
                <a:latin typeface="Calibri" pitchFamily="34" charset="0"/>
                <a:ea typeface="Calibri" pitchFamily="34" charset="-122"/>
                <a:cs typeface="Calibri" pitchFamily="34" charset="-120"/>
              </a:rPr>
              <a:t>↳</a:t>
            </a:r>
            <a:endParaRPr lang="de-DE" sz="1500" dirty="0"/>
          </a:p>
        </p:txBody>
      </p:sp>
      <p:sp>
        <p:nvSpPr>
          <p:cNvPr id="9" name="Text 7"/>
          <p:cNvSpPr txBox="1"/>
          <p:nvPr/>
        </p:nvSpPr>
        <p:spPr>
          <a:xfrm>
            <a:off x="1325880" y="3136392"/>
            <a:ext cx="1920240" cy="256032"/>
          </a:xfrm>
          <a:prstGeom prst="rect">
            <a:avLst/>
          </a:prstGeom>
          <a:noFill/>
          <a:ln/>
        </p:spPr>
        <p:txBody>
          <a:bodyPr wrap="square" lIns="0" tIns="0" rIns="0" bIns="0" rtlCol="0" anchor="ctr">
            <a:normAutofit/>
          </a:bodyPr>
          <a:lstStyle/>
          <a:p>
            <a:pPr algn="l" indent="0" marL="0">
              <a:buNone/>
            </a:pPr>
            <a:r>
              <a:rPr lang="de-DE" sz="1300" b="1" dirty="0">
                <a:solidFill>
                  <a:srgbClr val="FFFFFF"/>
                </a:solidFill>
                <a:latin typeface="Calibri" pitchFamily="34" charset="0"/>
                <a:ea typeface="Calibri" pitchFamily="34" charset="-122"/>
                <a:cs typeface="Calibri" pitchFamily="34" charset="-120"/>
              </a:rPr>
              <a:t>Contact.csv</a:t>
            </a:r>
            <a:endParaRPr lang="de-DE" sz="1300" dirty="0"/>
          </a:p>
        </p:txBody>
      </p:sp>
      <p:sp>
        <p:nvSpPr>
          <p:cNvPr id="10" name="Text 8"/>
          <p:cNvSpPr txBox="1"/>
          <p:nvPr/>
        </p:nvSpPr>
        <p:spPr>
          <a:xfrm>
            <a:off x="3246120" y="3136392"/>
            <a:ext cx="2176272" cy="256032"/>
          </a:xfrm>
          <a:prstGeom prst="rect">
            <a:avLst/>
          </a:prstGeom>
          <a:noFill/>
          <a:ln/>
        </p:spPr>
        <p:txBody>
          <a:bodyPr wrap="square" lIns="0" tIns="0" rIns="0" bIns="0" rtlCol="0" anchor="ctr">
            <a:normAutofit/>
          </a:bodyPr>
          <a:lstStyle/>
          <a:p>
            <a:pPr algn="l" indent="0" marL="0">
              <a:buNone/>
            </a:pPr>
            <a:r>
              <a:rPr lang="de-DE" sz="1200" dirty="0">
                <a:solidFill>
                  <a:srgbClr val="BDD8CF"/>
                </a:solidFill>
                <a:latin typeface="Calibri" pitchFamily="34" charset="0"/>
                <a:ea typeface="Calibri" pitchFamily="34" charset="-122"/>
                <a:cs typeface="Calibri" pitchFamily="34" charset="-120"/>
              </a:rPr>
              <a:t>5 validierte Kontakte</a:t>
            </a:r>
            <a:endParaRPr lang="de-DE" sz="1200" dirty="0"/>
          </a:p>
        </p:txBody>
      </p:sp>
      <p:sp>
        <p:nvSpPr>
          <p:cNvPr id="11" name="Text 9"/>
          <p:cNvSpPr txBox="1"/>
          <p:nvPr/>
        </p:nvSpPr>
        <p:spPr>
          <a:xfrm>
            <a:off x="978408" y="3703320"/>
            <a:ext cx="274320" cy="256032"/>
          </a:xfrm>
          <a:prstGeom prst="rect">
            <a:avLst/>
          </a:prstGeom>
          <a:noFill/>
          <a:ln/>
        </p:spPr>
        <p:txBody>
          <a:bodyPr wrap="square" lIns="0" tIns="0" rIns="0" bIns="0" rtlCol="0" anchor="ctr">
            <a:normAutofit/>
          </a:bodyPr>
          <a:lstStyle/>
          <a:p>
            <a:pPr algn="l" indent="0" marL="0">
              <a:buNone/>
            </a:pPr>
            <a:r>
              <a:rPr lang="de-DE" sz="1500" b="1" dirty="0">
                <a:solidFill>
                  <a:srgbClr val="F2C14E"/>
                </a:solidFill>
                <a:latin typeface="Calibri" pitchFamily="34" charset="0"/>
                <a:ea typeface="Calibri" pitchFamily="34" charset="-122"/>
                <a:cs typeface="Calibri" pitchFamily="34" charset="-120"/>
              </a:rPr>
              <a:t>↳</a:t>
            </a:r>
            <a:endParaRPr lang="de-DE" sz="1500" dirty="0"/>
          </a:p>
        </p:txBody>
      </p:sp>
      <p:sp>
        <p:nvSpPr>
          <p:cNvPr id="12" name="Text 10"/>
          <p:cNvSpPr txBox="1"/>
          <p:nvPr/>
        </p:nvSpPr>
        <p:spPr>
          <a:xfrm>
            <a:off x="1325880" y="3703320"/>
            <a:ext cx="1920240" cy="256032"/>
          </a:xfrm>
          <a:prstGeom prst="rect">
            <a:avLst/>
          </a:prstGeom>
          <a:noFill/>
          <a:ln/>
        </p:spPr>
        <p:txBody>
          <a:bodyPr wrap="square" lIns="0" tIns="0" rIns="0" bIns="0" rtlCol="0" anchor="ctr">
            <a:normAutofit/>
          </a:bodyPr>
          <a:lstStyle/>
          <a:p>
            <a:pPr algn="l" indent="0" marL="0">
              <a:buNone/>
            </a:pPr>
            <a:r>
              <a:rPr lang="de-DE" sz="1300" b="1" dirty="0">
                <a:solidFill>
                  <a:srgbClr val="FFFFFF"/>
                </a:solidFill>
                <a:latin typeface="Calibri" pitchFamily="34" charset="0"/>
                <a:ea typeface="Calibri" pitchFamily="34" charset="-122"/>
                <a:cs typeface="Calibri" pitchFamily="34" charset="-120"/>
              </a:rPr>
              <a:t>SalesOrder.csv</a:t>
            </a:r>
            <a:endParaRPr lang="de-DE" sz="1300" dirty="0"/>
          </a:p>
        </p:txBody>
      </p:sp>
      <p:sp>
        <p:nvSpPr>
          <p:cNvPr id="13" name="Text 11"/>
          <p:cNvSpPr txBox="1"/>
          <p:nvPr/>
        </p:nvSpPr>
        <p:spPr>
          <a:xfrm>
            <a:off x="3246120" y="3703320"/>
            <a:ext cx="2176272" cy="256032"/>
          </a:xfrm>
          <a:prstGeom prst="rect">
            <a:avLst/>
          </a:prstGeom>
          <a:noFill/>
          <a:ln/>
        </p:spPr>
        <p:txBody>
          <a:bodyPr wrap="square" lIns="0" tIns="0" rIns="0" bIns="0" rtlCol="0" anchor="ctr">
            <a:normAutofit/>
          </a:bodyPr>
          <a:lstStyle/>
          <a:p>
            <a:pPr algn="l" indent="0" marL="0">
              <a:buNone/>
            </a:pPr>
            <a:r>
              <a:rPr lang="de-DE" sz="1200" dirty="0">
                <a:solidFill>
                  <a:srgbClr val="BDD8CF"/>
                </a:solidFill>
                <a:latin typeface="Calibri" pitchFamily="34" charset="0"/>
                <a:ea typeface="Calibri" pitchFamily="34" charset="-122"/>
                <a:cs typeface="Calibri" pitchFamily="34" charset="-120"/>
              </a:rPr>
              <a:t>4 gültige Aufträge</a:t>
            </a:r>
            <a:endParaRPr lang="de-DE" sz="1200" dirty="0"/>
          </a:p>
        </p:txBody>
      </p:sp>
      <p:sp>
        <p:nvSpPr>
          <p:cNvPr id="14" name="Text 12"/>
          <p:cNvSpPr txBox="1"/>
          <p:nvPr/>
        </p:nvSpPr>
        <p:spPr>
          <a:xfrm>
            <a:off x="978408" y="4270248"/>
            <a:ext cx="274320" cy="256032"/>
          </a:xfrm>
          <a:prstGeom prst="rect">
            <a:avLst/>
          </a:prstGeom>
          <a:noFill/>
          <a:ln/>
        </p:spPr>
        <p:txBody>
          <a:bodyPr wrap="square" lIns="0" tIns="0" rIns="0" bIns="0" rtlCol="0" anchor="ctr">
            <a:normAutofit/>
          </a:bodyPr>
          <a:lstStyle/>
          <a:p>
            <a:pPr algn="l" indent="0" marL="0">
              <a:buNone/>
            </a:pPr>
            <a:r>
              <a:rPr lang="de-DE" sz="1500" b="1" dirty="0">
                <a:solidFill>
                  <a:srgbClr val="F2C14E"/>
                </a:solidFill>
                <a:latin typeface="Calibri" pitchFamily="34" charset="0"/>
                <a:ea typeface="Calibri" pitchFamily="34" charset="-122"/>
                <a:cs typeface="Calibri" pitchFamily="34" charset="-120"/>
              </a:rPr>
              <a:t>↳</a:t>
            </a:r>
            <a:endParaRPr lang="de-DE" sz="1500" dirty="0"/>
          </a:p>
        </p:txBody>
      </p:sp>
      <p:sp>
        <p:nvSpPr>
          <p:cNvPr id="15" name="Text 13"/>
          <p:cNvSpPr txBox="1"/>
          <p:nvPr/>
        </p:nvSpPr>
        <p:spPr>
          <a:xfrm>
            <a:off x="1325880" y="4270248"/>
            <a:ext cx="1920240" cy="256032"/>
          </a:xfrm>
          <a:prstGeom prst="rect">
            <a:avLst/>
          </a:prstGeom>
          <a:noFill/>
          <a:ln/>
        </p:spPr>
        <p:txBody>
          <a:bodyPr wrap="square" lIns="0" tIns="0" rIns="0" bIns="0" rtlCol="0" anchor="ctr">
            <a:normAutofit/>
          </a:bodyPr>
          <a:lstStyle/>
          <a:p>
            <a:pPr algn="l" indent="0" marL="0">
              <a:buNone/>
            </a:pPr>
            <a:r>
              <a:rPr lang="de-DE" sz="1300" b="1" dirty="0">
                <a:solidFill>
                  <a:srgbClr val="FFFFFF"/>
                </a:solidFill>
                <a:latin typeface="Calibri" pitchFamily="34" charset="0"/>
                <a:ea typeface="Calibri" pitchFamily="34" charset="-122"/>
                <a:cs typeface="Calibri" pitchFamily="34" charset="-120"/>
              </a:rPr>
              <a:t>quarantine/*.csv</a:t>
            </a:r>
            <a:endParaRPr lang="de-DE" sz="1300" dirty="0"/>
          </a:p>
        </p:txBody>
      </p:sp>
      <p:sp>
        <p:nvSpPr>
          <p:cNvPr id="16" name="Text 14"/>
          <p:cNvSpPr txBox="1"/>
          <p:nvPr/>
        </p:nvSpPr>
        <p:spPr>
          <a:xfrm>
            <a:off x="3246120" y="4270248"/>
            <a:ext cx="2176272" cy="256032"/>
          </a:xfrm>
          <a:prstGeom prst="rect">
            <a:avLst/>
          </a:prstGeom>
          <a:noFill/>
          <a:ln/>
        </p:spPr>
        <p:txBody>
          <a:bodyPr wrap="square" lIns="0" tIns="0" rIns="0" bIns="0" rtlCol="0" anchor="ctr">
            <a:normAutofit/>
          </a:bodyPr>
          <a:lstStyle/>
          <a:p>
            <a:pPr algn="l" indent="0" marL="0">
              <a:buNone/>
            </a:pPr>
            <a:r>
              <a:rPr lang="de-DE" sz="1200" dirty="0">
                <a:solidFill>
                  <a:srgbClr val="BDD8CF"/>
                </a:solidFill>
                <a:latin typeface="Calibri" pitchFamily="34" charset="0"/>
                <a:ea typeface="Calibri" pitchFamily="34" charset="-122"/>
                <a:cs typeface="Calibri" pitchFamily="34" charset="-120"/>
              </a:rPr>
              <a:t>Rohzeile + Ablehnungsgrund</a:t>
            </a:r>
            <a:endParaRPr lang="de-DE" sz="1200" dirty="0"/>
          </a:p>
        </p:txBody>
      </p:sp>
      <p:sp>
        <p:nvSpPr>
          <p:cNvPr id="17" name="Text 15"/>
          <p:cNvSpPr txBox="1"/>
          <p:nvPr/>
        </p:nvSpPr>
        <p:spPr>
          <a:xfrm>
            <a:off x="978408" y="4837176"/>
            <a:ext cx="274320" cy="256032"/>
          </a:xfrm>
          <a:prstGeom prst="rect">
            <a:avLst/>
          </a:prstGeom>
          <a:noFill/>
          <a:ln/>
        </p:spPr>
        <p:txBody>
          <a:bodyPr wrap="square" lIns="0" tIns="0" rIns="0" bIns="0" rtlCol="0" anchor="ctr">
            <a:normAutofit/>
          </a:bodyPr>
          <a:lstStyle/>
          <a:p>
            <a:pPr algn="l" indent="0" marL="0">
              <a:buNone/>
            </a:pPr>
            <a:r>
              <a:rPr lang="de-DE" sz="1500" b="1" dirty="0">
                <a:solidFill>
                  <a:srgbClr val="F2C14E"/>
                </a:solidFill>
                <a:latin typeface="Calibri" pitchFamily="34" charset="0"/>
                <a:ea typeface="Calibri" pitchFamily="34" charset="-122"/>
                <a:cs typeface="Calibri" pitchFamily="34" charset="-120"/>
              </a:rPr>
              <a:t>↳</a:t>
            </a:r>
            <a:endParaRPr lang="de-DE" sz="1500" dirty="0"/>
          </a:p>
        </p:txBody>
      </p:sp>
      <p:sp>
        <p:nvSpPr>
          <p:cNvPr id="18" name="Text 16"/>
          <p:cNvSpPr txBox="1"/>
          <p:nvPr/>
        </p:nvSpPr>
        <p:spPr>
          <a:xfrm>
            <a:off x="1325880" y="4837176"/>
            <a:ext cx="1920240" cy="256032"/>
          </a:xfrm>
          <a:prstGeom prst="rect">
            <a:avLst/>
          </a:prstGeom>
          <a:noFill/>
          <a:ln/>
        </p:spPr>
        <p:txBody>
          <a:bodyPr wrap="square" lIns="0" tIns="0" rIns="0" bIns="0" rtlCol="0" anchor="ctr">
            <a:normAutofit/>
          </a:bodyPr>
          <a:lstStyle/>
          <a:p>
            <a:pPr algn="l" indent="0" marL="0">
              <a:buNone/>
            </a:pPr>
            <a:r>
              <a:rPr lang="de-DE" sz="1300" b="1" dirty="0">
                <a:solidFill>
                  <a:srgbClr val="FFFFFF"/>
                </a:solidFill>
                <a:latin typeface="Calibri" pitchFamily="34" charset="0"/>
                <a:ea typeface="Calibri" pitchFamily="34" charset="-122"/>
                <a:cs typeface="Calibri" pitchFamily="34" charset="-120"/>
              </a:rPr>
              <a:t>pipeline-run.log</a:t>
            </a:r>
            <a:endParaRPr lang="de-DE" sz="1300" dirty="0"/>
          </a:p>
        </p:txBody>
      </p:sp>
      <p:sp>
        <p:nvSpPr>
          <p:cNvPr id="19" name="Text 17"/>
          <p:cNvSpPr txBox="1"/>
          <p:nvPr/>
        </p:nvSpPr>
        <p:spPr>
          <a:xfrm>
            <a:off x="3246120" y="4837176"/>
            <a:ext cx="2176272" cy="256032"/>
          </a:xfrm>
          <a:prstGeom prst="rect">
            <a:avLst/>
          </a:prstGeom>
          <a:noFill/>
          <a:ln/>
        </p:spPr>
        <p:txBody>
          <a:bodyPr wrap="square" lIns="0" tIns="0" rIns="0" bIns="0" rtlCol="0" anchor="ctr">
            <a:normAutofit/>
          </a:bodyPr>
          <a:lstStyle/>
          <a:p>
            <a:pPr algn="l" indent="0" marL="0">
              <a:buNone/>
            </a:pPr>
            <a:r>
              <a:rPr lang="de-DE" sz="1200" dirty="0">
                <a:solidFill>
                  <a:srgbClr val="BDD8CF"/>
                </a:solidFill>
                <a:latin typeface="Calibri" pitchFamily="34" charset="0"/>
                <a:ea typeface="Calibri" pitchFamily="34" charset="-122"/>
                <a:cs typeface="Calibri" pitchFamily="34" charset="-120"/>
              </a:rPr>
              <a:t>Warnungen + Endzahlen</a:t>
            </a:r>
            <a:endParaRPr lang="de-DE" sz="1200" dirty="0"/>
          </a:p>
        </p:txBody>
      </p:sp>
      <p:sp>
        <p:nvSpPr>
          <p:cNvPr id="20" name="Shape 18"/>
          <p:cNvSpPr/>
          <p:nvPr/>
        </p:nvSpPr>
        <p:spPr>
          <a:xfrm>
            <a:off x="6172200" y="2331720"/>
            <a:ext cx="5349240" cy="3364992"/>
          </a:xfrm>
          <a:prstGeom prst="roundRect">
            <a:avLst>
              <a:gd name="adj" fmla="val 2717"/>
            </a:avLst>
          </a:prstGeom>
          <a:solidFill>
            <a:srgbClr val="FFFFFF"/>
          </a:solidFill>
          <a:ln w="12700">
            <a:solidFill>
              <a:srgbClr val="FFFFFF"/>
            </a:solidFill>
            <a:prstDash val="solid"/>
          </a:ln>
        </p:spPr>
        <p:txBody>
          <a:bodyPr/>
          <a:p/>
        </p:txBody>
      </p:sp>
      <p:sp>
        <p:nvSpPr>
          <p:cNvPr id="21" name="Text 19"/>
          <p:cNvSpPr txBox="1"/>
          <p:nvPr/>
        </p:nvSpPr>
        <p:spPr>
          <a:xfrm>
            <a:off x="6473952" y="2596896"/>
            <a:ext cx="2011680" cy="320040"/>
          </a:xfrm>
          <a:prstGeom prst="rect">
            <a:avLst/>
          </a:prstGeom>
          <a:noFill/>
          <a:ln/>
        </p:spPr>
        <p:txBody>
          <a:bodyPr wrap="square" lIns="0" tIns="0" rIns="0" bIns="0" rtlCol="0" anchor="ctr">
            <a:normAutofit/>
          </a:bodyPr>
          <a:lstStyle/>
          <a:p>
            <a:pPr algn="l" indent="0" marL="0">
              <a:buNone/>
            </a:pPr>
            <a:r>
              <a:rPr lang="de-DE" sz="1800" b="1" dirty="0">
                <a:solidFill>
                  <a:srgbClr val="102F29"/>
                </a:solidFill>
                <a:latin typeface="Calibri" pitchFamily="34" charset="0"/>
                <a:ea typeface="Calibri" pitchFamily="34" charset="-122"/>
                <a:cs typeface="Calibri" pitchFamily="34" charset="-120"/>
              </a:rPr>
              <a:t>model.json</a:t>
            </a:r>
            <a:endParaRPr lang="de-DE" sz="1800" dirty="0"/>
          </a:p>
        </p:txBody>
      </p:sp>
      <p:sp>
        <p:nvSpPr>
          <p:cNvPr id="22" name="Text 20"/>
          <p:cNvSpPr txBox="1"/>
          <p:nvPr/>
        </p:nvSpPr>
        <p:spPr>
          <a:xfrm>
            <a:off x="6492240" y="3081528"/>
            <a:ext cx="1280160" cy="265176"/>
          </a:xfrm>
          <a:prstGeom prst="rect">
            <a:avLst/>
          </a:prstGeom>
          <a:noFill/>
          <a:ln/>
        </p:spPr>
        <p:txBody>
          <a:bodyPr wrap="square" lIns="0" tIns="0" rIns="0" bIns="0" rtlCol="0" anchor="ctr">
            <a:normAutofit/>
          </a:bodyPr>
          <a:lstStyle/>
          <a:p>
            <a:pPr algn="l" indent="0" marL="0">
              <a:buNone/>
            </a:pPr>
            <a:r>
              <a:rPr lang="de-DE" sz="1200" b="1" dirty="0">
                <a:solidFill>
                  <a:srgbClr val="173F35"/>
                </a:solidFill>
                <a:latin typeface="Calibri" pitchFamily="34" charset="0"/>
                <a:ea typeface="Calibri" pitchFamily="34" charset="-122"/>
                <a:cs typeface="Calibri" pitchFamily="34" charset="-120"/>
              </a:rPr>
              <a:t>Metadaten</a:t>
            </a:r>
            <a:endParaRPr lang="de-DE" sz="1200" dirty="0"/>
          </a:p>
        </p:txBody>
      </p:sp>
      <p:sp>
        <p:nvSpPr>
          <p:cNvPr id="23" name="Text 21"/>
          <p:cNvSpPr txBox="1"/>
          <p:nvPr/>
        </p:nvSpPr>
        <p:spPr>
          <a:xfrm>
            <a:off x="7909560" y="3081528"/>
            <a:ext cx="3154680" cy="265176"/>
          </a:xfrm>
          <a:prstGeom prst="rect">
            <a:avLst/>
          </a:prstGeom>
          <a:noFill/>
          <a:ln/>
        </p:spPr>
        <p:txBody>
          <a:bodyPr wrap="square" lIns="0" tIns="0" rIns="0" bIns="0" rtlCol="0" anchor="ctr">
            <a:normAutofit/>
          </a:bodyPr>
          <a:lstStyle/>
          <a:p>
            <a:pPr algn="l" indent="0" marL="0">
              <a:buNone/>
            </a:pPr>
            <a:r>
              <a:rPr lang="de-DE" sz="1200" dirty="0">
                <a:solidFill>
                  <a:srgbClr val="5E6C67"/>
                </a:solidFill>
                <a:latin typeface="Calibri" pitchFamily="34" charset="0"/>
                <a:ea typeface="Calibri" pitchFamily="34" charset="-122"/>
                <a:cs typeface="Calibri" pitchFamily="34" charset="-120"/>
              </a:rPr>
              <a:t>Name · Beschreibung · Version</a:t>
            </a:r>
            <a:endParaRPr lang="de-DE" sz="1200" dirty="0"/>
          </a:p>
        </p:txBody>
      </p:sp>
      <p:sp>
        <p:nvSpPr>
          <p:cNvPr id="24" name="Text 22"/>
          <p:cNvSpPr txBox="1"/>
          <p:nvPr/>
        </p:nvSpPr>
        <p:spPr>
          <a:xfrm>
            <a:off x="6492240" y="3557016"/>
            <a:ext cx="1280160" cy="265176"/>
          </a:xfrm>
          <a:prstGeom prst="rect">
            <a:avLst/>
          </a:prstGeom>
          <a:noFill/>
          <a:ln/>
        </p:spPr>
        <p:txBody>
          <a:bodyPr wrap="square" lIns="0" tIns="0" rIns="0" bIns="0" rtlCol="0" anchor="ctr">
            <a:normAutofit/>
          </a:bodyPr>
          <a:lstStyle/>
          <a:p>
            <a:pPr algn="l" indent="0" marL="0">
              <a:buNone/>
            </a:pPr>
            <a:r>
              <a:rPr lang="de-DE" sz="1200" b="1" dirty="0">
                <a:solidFill>
                  <a:srgbClr val="173F35"/>
                </a:solidFill>
                <a:latin typeface="Calibri" pitchFamily="34" charset="0"/>
                <a:ea typeface="Calibri" pitchFamily="34" charset="-122"/>
                <a:cs typeface="Calibri" pitchFamily="34" charset="-120"/>
              </a:rPr>
              <a:t>Entitäten</a:t>
            </a:r>
            <a:endParaRPr lang="de-DE" sz="1200" dirty="0"/>
          </a:p>
        </p:txBody>
      </p:sp>
      <p:sp>
        <p:nvSpPr>
          <p:cNvPr id="25" name="Text 23"/>
          <p:cNvSpPr txBox="1"/>
          <p:nvPr/>
        </p:nvSpPr>
        <p:spPr>
          <a:xfrm>
            <a:off x="7909560" y="3557016"/>
            <a:ext cx="3154680" cy="265176"/>
          </a:xfrm>
          <a:prstGeom prst="rect">
            <a:avLst/>
          </a:prstGeom>
          <a:noFill/>
          <a:ln/>
        </p:spPr>
        <p:txBody>
          <a:bodyPr wrap="square" lIns="0" tIns="0" rIns="0" bIns="0" rtlCol="0" anchor="ctr">
            <a:normAutofit/>
          </a:bodyPr>
          <a:lstStyle/>
          <a:p>
            <a:pPr algn="l" indent="0" marL="0">
              <a:buNone/>
            </a:pPr>
            <a:r>
              <a:rPr lang="de-DE" sz="1200" dirty="0">
                <a:solidFill>
                  <a:srgbClr val="5E6C67"/>
                </a:solidFill>
                <a:latin typeface="Calibri" pitchFamily="34" charset="0"/>
                <a:ea typeface="Calibri" pitchFamily="34" charset="-122"/>
                <a:cs typeface="Calibri" pitchFamily="34" charset="-120"/>
              </a:rPr>
              <a:t>Contact · SalesOrder</a:t>
            </a:r>
            <a:endParaRPr lang="de-DE" sz="1200" dirty="0"/>
          </a:p>
        </p:txBody>
      </p:sp>
      <p:sp>
        <p:nvSpPr>
          <p:cNvPr id="26" name="Text 24"/>
          <p:cNvSpPr txBox="1"/>
          <p:nvPr/>
        </p:nvSpPr>
        <p:spPr>
          <a:xfrm>
            <a:off x="6492240" y="4032504"/>
            <a:ext cx="1280160" cy="265176"/>
          </a:xfrm>
          <a:prstGeom prst="rect">
            <a:avLst/>
          </a:prstGeom>
          <a:noFill/>
          <a:ln/>
        </p:spPr>
        <p:txBody>
          <a:bodyPr wrap="square" lIns="0" tIns="0" rIns="0" bIns="0" rtlCol="0" anchor="ctr">
            <a:normAutofit/>
          </a:bodyPr>
          <a:lstStyle/>
          <a:p>
            <a:pPr algn="l" indent="0" marL="0">
              <a:buNone/>
            </a:pPr>
            <a:r>
              <a:rPr lang="de-DE" sz="1200" b="1" dirty="0">
                <a:solidFill>
                  <a:srgbClr val="173F35"/>
                </a:solidFill>
                <a:latin typeface="Calibri" pitchFamily="34" charset="0"/>
                <a:ea typeface="Calibri" pitchFamily="34" charset="-122"/>
                <a:cs typeface="Calibri" pitchFamily="34" charset="-120"/>
              </a:rPr>
              <a:t>Attribute</a:t>
            </a:r>
            <a:endParaRPr lang="de-DE" sz="1200" dirty="0"/>
          </a:p>
        </p:txBody>
      </p:sp>
      <p:sp>
        <p:nvSpPr>
          <p:cNvPr id="27" name="Text 25"/>
          <p:cNvSpPr txBox="1"/>
          <p:nvPr/>
        </p:nvSpPr>
        <p:spPr>
          <a:xfrm>
            <a:off x="7909560" y="4032504"/>
            <a:ext cx="3154680" cy="265176"/>
          </a:xfrm>
          <a:prstGeom prst="rect">
            <a:avLst/>
          </a:prstGeom>
          <a:noFill/>
          <a:ln/>
        </p:spPr>
        <p:txBody>
          <a:bodyPr wrap="square" lIns="0" tIns="0" rIns="0" bIns="0" rtlCol="0" anchor="ctr">
            <a:normAutofit/>
          </a:bodyPr>
          <a:lstStyle/>
          <a:p>
            <a:pPr algn="l" indent="0" marL="0">
              <a:buNone/>
            </a:pPr>
            <a:r>
              <a:rPr lang="de-DE" sz="1200" dirty="0">
                <a:solidFill>
                  <a:srgbClr val="5E6C67"/>
                </a:solidFill>
                <a:latin typeface="Calibri" pitchFamily="34" charset="0"/>
                <a:ea typeface="Calibri" pitchFamily="34" charset="-122"/>
                <a:cs typeface="Calibri" pitchFamily="34" charset="-120"/>
              </a:rPr>
              <a:t>Name · CDM-Datentyp</a:t>
            </a:r>
            <a:endParaRPr lang="de-DE" sz="1200" dirty="0"/>
          </a:p>
        </p:txBody>
      </p:sp>
      <p:sp>
        <p:nvSpPr>
          <p:cNvPr id="28" name="Text 26"/>
          <p:cNvSpPr txBox="1"/>
          <p:nvPr/>
        </p:nvSpPr>
        <p:spPr>
          <a:xfrm>
            <a:off x="6492240" y="4507992"/>
            <a:ext cx="1280160" cy="265176"/>
          </a:xfrm>
          <a:prstGeom prst="rect">
            <a:avLst/>
          </a:prstGeom>
          <a:noFill/>
          <a:ln/>
        </p:spPr>
        <p:txBody>
          <a:bodyPr wrap="square" lIns="0" tIns="0" rIns="0" bIns="0" rtlCol="0" anchor="ctr">
            <a:normAutofit/>
          </a:bodyPr>
          <a:lstStyle/>
          <a:p>
            <a:pPr algn="l" indent="0" marL="0">
              <a:buNone/>
            </a:pPr>
            <a:r>
              <a:rPr lang="de-DE" sz="1200" b="1" dirty="0">
                <a:solidFill>
                  <a:srgbClr val="173F35"/>
                </a:solidFill>
                <a:latin typeface="Calibri" pitchFamily="34" charset="0"/>
                <a:ea typeface="Calibri" pitchFamily="34" charset="-122"/>
                <a:cs typeface="Calibri" pitchFamily="34" charset="-120"/>
              </a:rPr>
              <a:t>Partitionen</a:t>
            </a:r>
            <a:endParaRPr lang="de-DE" sz="1200" dirty="0"/>
          </a:p>
        </p:txBody>
      </p:sp>
      <p:sp>
        <p:nvSpPr>
          <p:cNvPr id="29" name="Text 27"/>
          <p:cNvSpPr txBox="1"/>
          <p:nvPr/>
        </p:nvSpPr>
        <p:spPr>
          <a:xfrm>
            <a:off x="7909560" y="4507992"/>
            <a:ext cx="3154680" cy="265176"/>
          </a:xfrm>
          <a:prstGeom prst="rect">
            <a:avLst/>
          </a:prstGeom>
          <a:noFill/>
          <a:ln/>
        </p:spPr>
        <p:txBody>
          <a:bodyPr wrap="square" lIns="0" tIns="0" rIns="0" bIns="0" rtlCol="0" anchor="ctr">
            <a:normAutofit/>
          </a:bodyPr>
          <a:lstStyle/>
          <a:p>
            <a:pPr algn="l" indent="0" marL="0">
              <a:buNone/>
            </a:pPr>
            <a:r>
              <a:rPr lang="de-DE" sz="1200" dirty="0">
                <a:solidFill>
                  <a:srgbClr val="5E6C67"/>
                </a:solidFill>
                <a:latin typeface="Calibri" pitchFamily="34" charset="0"/>
                <a:ea typeface="Calibri" pitchFamily="34" charset="-122"/>
                <a:cs typeface="Calibri" pitchFamily="34" charset="-120"/>
              </a:rPr>
              <a:t>relative CSV-Pfade</a:t>
            </a:r>
            <a:endParaRPr lang="de-DE" sz="1200" dirty="0"/>
          </a:p>
        </p:txBody>
      </p:sp>
      <p:sp>
        <p:nvSpPr>
          <p:cNvPr id="30" name="Text 28"/>
          <p:cNvSpPr txBox="1"/>
          <p:nvPr/>
        </p:nvSpPr>
        <p:spPr>
          <a:xfrm>
            <a:off x="6492240" y="4983480"/>
            <a:ext cx="1280160" cy="265176"/>
          </a:xfrm>
          <a:prstGeom prst="rect">
            <a:avLst/>
          </a:prstGeom>
          <a:noFill/>
          <a:ln/>
        </p:spPr>
        <p:txBody>
          <a:bodyPr wrap="square" lIns="0" tIns="0" rIns="0" bIns="0" rtlCol="0" anchor="ctr">
            <a:normAutofit/>
          </a:bodyPr>
          <a:lstStyle/>
          <a:p>
            <a:pPr algn="l" indent="0" marL="0">
              <a:buNone/>
            </a:pPr>
            <a:r>
              <a:rPr lang="de-DE" sz="1200" b="1" dirty="0">
                <a:solidFill>
                  <a:srgbClr val="173F35"/>
                </a:solidFill>
                <a:latin typeface="Calibri" pitchFamily="34" charset="0"/>
                <a:ea typeface="Calibri" pitchFamily="34" charset="-122"/>
                <a:cs typeface="Calibri" pitchFamily="34" charset="-120"/>
              </a:rPr>
              <a:t>Beziehung</a:t>
            </a:r>
            <a:endParaRPr lang="de-DE" sz="1200" dirty="0"/>
          </a:p>
        </p:txBody>
      </p:sp>
      <p:sp>
        <p:nvSpPr>
          <p:cNvPr id="31" name="Text 29"/>
          <p:cNvSpPr txBox="1"/>
          <p:nvPr/>
        </p:nvSpPr>
        <p:spPr>
          <a:xfrm>
            <a:off x="7909560" y="4983480"/>
            <a:ext cx="3154680" cy="265176"/>
          </a:xfrm>
          <a:prstGeom prst="rect">
            <a:avLst/>
          </a:prstGeom>
          <a:noFill/>
          <a:ln/>
        </p:spPr>
        <p:txBody>
          <a:bodyPr wrap="square" lIns="0" tIns="0" rIns="0" bIns="0" rtlCol="0" anchor="ctr">
            <a:normAutofit/>
          </a:bodyPr>
          <a:lstStyle/>
          <a:p>
            <a:pPr algn="l" indent="0" marL="0">
              <a:buNone/>
            </a:pPr>
            <a:r>
              <a:rPr lang="de-DE" sz="1200" dirty="0">
                <a:solidFill>
                  <a:srgbClr val="5E6C67"/>
                </a:solidFill>
                <a:latin typeface="Calibri" pitchFamily="34" charset="0"/>
                <a:ea typeface="Calibri" pitchFamily="34" charset="-122"/>
                <a:cs typeface="Calibri" pitchFamily="34" charset="-120"/>
              </a:rPr>
              <a:t>customerid → contactid</a:t>
            </a:r>
            <a:endParaRPr lang="de-DE" sz="1200" dirty="0"/>
          </a:p>
        </p:txBody>
      </p:sp>
      <p:sp>
        <p:nvSpPr>
          <p:cNvPr id="32" name="Shape 30"/>
          <p:cNvSpPr/>
          <p:nvPr/>
        </p:nvSpPr>
        <p:spPr>
          <a:xfrm>
            <a:off x="5468112" y="3941064"/>
            <a:ext cx="539496" cy="0"/>
          </a:xfrm>
          <a:prstGeom prst="line">
            <a:avLst/>
          </a:prstGeom>
          <a:noFill/>
          <a:ln w="38100">
            <a:solidFill>
              <a:srgbClr val="F2C14E"/>
            </a:solidFill>
            <a:prstDash val="solid"/>
            <a:tailEnd type="triangle"/>
          </a:ln>
        </p:spPr>
        <p:txBody>
          <a:bodyPr/>
          <a:p/>
        </p:txBody>
      </p:sp>
      <p:sp>
        <p:nvSpPr>
          <p:cNvPr id="33" name="Text 31"/>
          <p:cNvSpPr txBox="1"/>
          <p:nvPr/>
        </p:nvSpPr>
        <p:spPr>
          <a:xfrm>
            <a:off x="4754880" y="3493008"/>
            <a:ext cx="1353312" cy="246888"/>
          </a:xfrm>
          <a:prstGeom prst="rect">
            <a:avLst/>
          </a:prstGeom>
          <a:noFill/>
          <a:ln/>
        </p:spPr>
        <p:txBody>
          <a:bodyPr wrap="square" lIns="0" tIns="0" rIns="0" bIns="0" rtlCol="0" anchor="ctr">
            <a:normAutofit/>
          </a:bodyPr>
          <a:lstStyle/>
          <a:p>
            <a:pPr algn="ctr" indent="0" marL="0">
              <a:buNone/>
            </a:pPr>
            <a:r>
              <a:rPr lang="de-DE" sz="1100" b="1" dirty="0">
                <a:solidFill>
                  <a:srgbClr val="F2C14E"/>
                </a:solidFill>
                <a:latin typeface="Calibri" pitchFamily="34" charset="0"/>
                <a:ea typeface="Calibri" pitchFamily="34" charset="-122"/>
                <a:cs typeface="Calibri" pitchFamily="34" charset="-120"/>
              </a:rPr>
              <a:t>gleiche Modelle</a:t>
            </a:r>
            <a:endParaRPr lang="de-DE" sz="1100" dirty="0"/>
          </a:p>
        </p:txBody>
      </p:sp>
      <p:sp>
        <p:nvSpPr>
          <p:cNvPr id="34" name="Text 32"/>
          <p:cNvSpPr txBox="1"/>
          <p:nvPr/>
        </p:nvSpPr>
        <p:spPr>
          <a:xfrm>
            <a:off x="658368" y="6016752"/>
            <a:ext cx="7589520" cy="274320"/>
          </a:xfrm>
          <a:prstGeom prst="rect">
            <a:avLst/>
          </a:prstGeom>
          <a:noFill/>
          <a:ln/>
        </p:spPr>
        <p:txBody>
          <a:bodyPr wrap="square" lIns="0" tIns="0" rIns="0" bIns="0" rtlCol="0" anchor="ctr">
            <a:normAutofit/>
          </a:bodyPr>
          <a:lstStyle/>
          <a:p>
            <a:pPr algn="l" indent="0" marL="0">
              <a:buNone/>
            </a:pPr>
            <a:r>
              <a:rPr lang="de-DE" sz="1300" b="1" dirty="0">
                <a:solidFill>
                  <a:srgbClr val="F2C14E"/>
                </a:solidFill>
                <a:latin typeface="Calibri" pitchFamily="34" charset="0"/>
                <a:ea typeface="Calibri" pitchFamily="34" charset="-122"/>
                <a:cs typeface="Calibri" pitchFamily="34" charset="-120"/>
              </a:rPr>
              <a:t>Ergebnis: Ein erneuter Lauf erzeugt dasselbe vollständige CDM-Paket.</a:t>
            </a:r>
            <a:endParaRPr lang="de-DE"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reeeliance take-home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CDM Pipeline – Technischer Walkthrough</dc:title>
  <dc:subject>Technischer Walkthrough der CDM-Ingestion-Pipeline</dc:subject>
  <dc:creator>Tahasanul Ibrahim</dc:creator>
  <cp:lastModifiedBy>Tahasanul Ibrahim</cp:lastModifiedBy>
  <cp:revision>1</cp:revision>
  <dcterms:created xsi:type="dcterms:W3CDTF">2026-10-25T15:38:25Z</dcterms:created>
  <dcterms:modified xsi:type="dcterms:W3CDTF">2026-10-25T15:38:25Z</dcterms:modified>
  <dc:language>de-DE</dc:language>
</cp:coreProperties>
</file>