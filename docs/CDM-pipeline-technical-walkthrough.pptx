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result. Two supplied CSV files become Contact and SalesOrder, with a CDM model.json. The implementation covers all four tasks in the brief. It writes five contacts and four valid orders, quarantines the one orphan order, and serializes timestamps in exact UTC ISO 8601 format. Repository: https://github.com/ghostkernel-core/cdm-pipeline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John Smith as the running example: uppercase email becomes lowercase and the no-zone timestamp is treated as UTC. The reader also repairs CST-005 when it is split over two lines. Pydantic validates each entity. The same model definitions control the CSV column order and model.json attributes, preventing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is the parent and SalesOrder.customerid is the foreign key. One Contact can have zero or many orders. ORD-1005 references CST-999, which does not exist. It is excluded from the clean SalesOrder output, preserved in quarantine/SalesOrder_rejected.csv with the reason, and recorded in logs/pipeline-run.log.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reproducibility. The final entity data, quarantine rows, deterministic run log and model.json are committed. CI reruns the pipeline and fails if any output drifts. Forty-seven tests pass with 98.93 percent coverage; the workflow is green on Python 3.11 and 3.13. Repository: https://github.com/ghostkernel-core/cdm-pipeline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82880"/>
            <a:ext cx="1828800" cy="201168"/>
          </a:xfrm>
          <a:prstGeom prst="rect">
            <a:avLst/>
          </a:prstGeom>
          <a:noFill/>
          <a:ln/>
        </p:spPr>
        <p:txBody>
          <a:bodyPr wrap="square" lIns="0" tIns="0" rIns="0" bIns="0" rtlCol="0" anchor="ctr"/>
          <a:lstStyle/>
          <a:p>
            <a:pPr indent="0" marL="0">
              <a:buNone/>
            </a:pPr>
            <a:r>
              <a:rPr lang="en-US" sz="1000" b="1" spc="160" kern="0" dirty="0">
                <a:solidFill>
                  <a:srgbClr val="477064"/>
                </a:solidFill>
                <a:latin typeface="Calibri" pitchFamily="34" charset="0"/>
                <a:ea typeface="Calibri" pitchFamily="34" charset="-122"/>
                <a:cs typeface="Calibri" pitchFamily="34" charset="-120"/>
              </a:rPr>
              <a:t>CDM PIPELINE</a:t>
            </a:r>
            <a:endParaRPr lang="en-US" sz="1000" dirty="0"/>
          </a:p>
        </p:txBody>
      </p:sp>
      <p:sp>
        <p:nvSpPr>
          <p:cNvPr id="3" name="Text 1"/>
          <p:cNvSpPr/>
          <p:nvPr/>
        </p:nvSpPr>
        <p:spPr>
          <a:xfrm>
            <a:off x="9464040" y="6492240"/>
            <a:ext cx="2148840" cy="164592"/>
          </a:xfrm>
          <a:prstGeom prst="rect">
            <a:avLst/>
          </a:prstGeom>
          <a:noFill/>
          <a:ln/>
        </p:spPr>
        <p:txBody>
          <a:bodyPr wrap="square" lIns="0" tIns="0" rIns="0" bIns="0" rtlCol="0" anchor="ctr"/>
          <a:lstStyle/>
          <a:p>
            <a:pPr algn="r" indent="0" marL="0">
              <a:buNone/>
            </a:pPr>
            <a:r>
              <a:rPr lang="en-US" sz="900" dirty="0">
                <a:solidFill>
                  <a:srgbClr val="6B7B76"/>
                </a:solidFill>
                <a:latin typeface="Calibri" pitchFamily="34" charset="0"/>
                <a:ea typeface="Calibri" pitchFamily="34" charset="-122"/>
                <a:cs typeface="Calibri" pitchFamily="34" charset="-120"/>
              </a:rPr>
              <a:t>Tahasanul Ibrahim</a:t>
            </a:r>
            <a:endParaRPr lang="en-US" sz="900" dirty="0"/>
          </a:p>
        </p:txBody>
      </p:sp>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F29"/>
        </a:solidFill>
      </p:bgPr>
    </p:bg>
    <p:spTree>
      <p:nvGrpSpPr>
        <p:cNvPr id="1" name=""/>
        <p:cNvGrpSpPr/>
        <p:nvPr/>
      </p:nvGrpSpPr>
      <p:grpSpPr>
        <a:xfrm>
          <a:off x="0" y="0"/>
          <a:ext cx="0" cy="0"/>
          <a:chOff x="0" y="0"/>
          <a:chExt cx="0" cy="0"/>
        </a:xfrm>
      </p:grpSpPr>
      <p:sp>
        <p:nvSpPr>
          <p:cNvPr id="2" name="Shape 0"/>
          <p:cNvSpPr/>
          <p:nvPr/>
        </p:nvSpPr>
        <p:spPr>
          <a:xfrm>
            <a:off x="566928" y="502920"/>
            <a:ext cx="2103120" cy="320040"/>
          </a:xfrm>
          <a:prstGeom prst="roundRect">
            <a:avLst>
              <a:gd name="adj" fmla="val 22857"/>
            </a:avLst>
          </a:prstGeom>
          <a:solidFill>
            <a:srgbClr val="55B99A"/>
          </a:solidFill>
          <a:ln w="12700">
            <a:solidFill>
              <a:srgbClr val="55B99A"/>
            </a:solidFill>
            <a:prstDash val="solid"/>
          </a:ln>
        </p:spPr>
      </p:sp>
      <p:sp>
        <p:nvSpPr>
          <p:cNvPr id="3" name="Text 1"/>
          <p:cNvSpPr txBox="1"/>
          <p:nvPr/>
        </p:nvSpPr>
        <p:spPr>
          <a:xfrm>
            <a:off x="566928" y="502920"/>
            <a:ext cx="2103120" cy="320040"/>
          </a:xfrm>
          <a:prstGeom prst="rect">
            <a:avLst/>
          </a:prstGeom>
          <a:noFill/>
          <a:ln/>
        </p:spPr>
        <p:txBody>
          <a:bodyPr wrap="square" lIns="0" tIns="0" rIns="0" bIns="0" rtlCol="0" anchor="ctr">
            <a:normAutofit/>
          </a:bodyPr>
          <a:lstStyle/>
          <a:p>
            <a:pPr algn="ctr" indent="0" marL="0">
              <a:buNone/>
            </a:pPr>
            <a:r>
              <a:rPr lang="en-US" sz="1100" b="1" dirty="0">
                <a:solidFill>
                  <a:srgbClr val="102F29"/>
                </a:solidFill>
                <a:latin typeface="Calibri" pitchFamily="34" charset="0"/>
                <a:ea typeface="Calibri" pitchFamily="34" charset="-122"/>
                <a:cs typeface="Calibri" pitchFamily="34" charset="-120"/>
              </a:rPr>
              <a:t>TECHNICAL WALKTHROUGH</a:t>
            </a:r>
            <a:endParaRPr lang="en-US" sz="1100" dirty="0"/>
          </a:p>
        </p:txBody>
      </p:sp>
      <p:sp>
        <p:nvSpPr>
          <p:cNvPr id="4" name="Text 2"/>
          <p:cNvSpPr txBox="1"/>
          <p:nvPr/>
        </p:nvSpPr>
        <p:spPr>
          <a:xfrm>
            <a:off x="566928" y="1115568"/>
            <a:ext cx="5715000" cy="1280160"/>
          </a:xfrm>
          <a:prstGeom prst="rect">
            <a:avLst/>
          </a:prstGeom>
          <a:noFill/>
          <a:ln/>
        </p:spPr>
        <p:txBody>
          <a:bodyPr wrap="square" lIns="0" tIns="0" rIns="0" bIns="0" rtlCol="0" anchor="ctr">
            <a:normAutofit/>
          </a:bodyPr>
          <a:lstStyle/>
          <a:p>
            <a:pPr algn="l" indent="0" marL="0">
              <a:buNone/>
            </a:pPr>
            <a:r>
              <a:rPr lang="en-US" sz="3400" b="1" dirty="0">
                <a:solidFill>
                  <a:srgbClr val="FFFFFF"/>
                </a:solidFill>
                <a:latin typeface="Cambria" pitchFamily="34" charset="0"/>
                <a:ea typeface="Cambria" pitchFamily="34" charset="-122"/>
                <a:cs typeface="Cambria" pitchFamily="34" charset="-120"/>
              </a:rPr>
              <a:t>Raw CSVs become</a:t>
            </a:r>
            <a:endParaRPr lang="en-US" sz="3400" dirty="0"/>
          </a:p>
          <a:p>
            <a:pPr algn="l" indent="0" marL="0">
              <a:buNone/>
            </a:pPr>
            <a:r>
              <a:rPr lang="en-US" sz="3400" b="1" dirty="0">
                <a:solidFill>
                  <a:srgbClr val="FFFFFF"/>
                </a:solidFill>
                <a:latin typeface="Cambria" pitchFamily="34" charset="0"/>
                <a:ea typeface="Cambria" pitchFamily="34" charset="-122"/>
                <a:cs typeface="Cambria" pitchFamily="34" charset="-120"/>
              </a:rPr>
              <a:t>CDM-ready data</a:t>
            </a:r>
            <a:endParaRPr lang="en-US" sz="3400" dirty="0"/>
          </a:p>
        </p:txBody>
      </p:sp>
      <p:sp>
        <p:nvSpPr>
          <p:cNvPr id="5" name="Text 3"/>
          <p:cNvSpPr txBox="1"/>
          <p:nvPr/>
        </p:nvSpPr>
        <p:spPr>
          <a:xfrm>
            <a:off x="594360" y="2560320"/>
            <a:ext cx="5669280" cy="411480"/>
          </a:xfrm>
          <a:prstGeom prst="rect">
            <a:avLst/>
          </a:prstGeom>
          <a:noFill/>
          <a:ln/>
        </p:spPr>
        <p:txBody>
          <a:bodyPr wrap="square" lIns="0" tIns="0" rIns="0" bIns="0" rtlCol="0" anchor="ctr">
            <a:normAutofit/>
          </a:bodyPr>
          <a:lstStyle/>
          <a:p>
            <a:pPr algn="l" indent="0" marL="0">
              <a:buNone/>
            </a:pPr>
            <a:r>
              <a:rPr lang="en-US" sz="1800" dirty="0">
                <a:solidFill>
                  <a:srgbClr val="DCEBE6"/>
                </a:solidFill>
                <a:latin typeface="Calibri" pitchFamily="34" charset="0"/>
                <a:ea typeface="Calibri" pitchFamily="34" charset="-122"/>
                <a:cs typeface="Calibri" pitchFamily="34" charset="-120"/>
              </a:rPr>
              <a:t>One reproducible path: transform, store, describe and explain.</a:t>
            </a:r>
            <a:endParaRPr lang="en-US" sz="1800" dirty="0"/>
          </a:p>
        </p:txBody>
      </p:sp>
      <p:sp>
        <p:nvSpPr>
          <p:cNvPr id="6" name="Shape 4"/>
          <p:cNvSpPr/>
          <p:nvPr/>
        </p:nvSpPr>
        <p:spPr>
          <a:xfrm>
            <a:off x="6720840" y="960120"/>
            <a:ext cx="1508760" cy="1024128"/>
          </a:xfrm>
          <a:prstGeom prst="roundRect">
            <a:avLst>
              <a:gd name="adj" fmla="val 8929"/>
            </a:avLst>
          </a:prstGeom>
          <a:solidFill>
            <a:srgbClr val="FFFFFF"/>
          </a:solidFill>
          <a:ln w="12700">
            <a:solidFill>
              <a:srgbClr val="FFFFFF"/>
            </a:solidFill>
            <a:prstDash val="solid"/>
          </a:ln>
        </p:spPr>
      </p:sp>
      <p:sp>
        <p:nvSpPr>
          <p:cNvPr id="7" name="Text 5"/>
          <p:cNvSpPr txBox="1"/>
          <p:nvPr/>
        </p:nvSpPr>
        <p:spPr>
          <a:xfrm>
            <a:off x="6720840" y="1161288"/>
            <a:ext cx="1508760" cy="228600"/>
          </a:xfrm>
          <a:prstGeom prst="rect">
            <a:avLst/>
          </a:prstGeom>
          <a:noFill/>
          <a:ln/>
        </p:spPr>
        <p:txBody>
          <a:bodyPr wrap="square" lIns="0" tIns="0" rIns="0" bIns="0" rtlCol="0" anchor="ctr">
            <a:normAutofit/>
          </a:bodyPr>
          <a:lstStyle/>
          <a:p>
            <a:pPr algn="ctr" indent="0" marL="0">
              <a:buNone/>
            </a:pPr>
            <a:r>
              <a:rPr lang="en-US" sz="1200" b="1" dirty="0">
                <a:solidFill>
                  <a:srgbClr val="5E6C67"/>
                </a:solidFill>
                <a:latin typeface="Calibri" pitchFamily="34" charset="0"/>
                <a:ea typeface="Calibri" pitchFamily="34" charset="-122"/>
                <a:cs typeface="Calibri" pitchFamily="34" charset="-120"/>
              </a:rPr>
              <a:t>RAW</a:t>
            </a:r>
            <a:endParaRPr lang="en-US" sz="1200" dirty="0"/>
          </a:p>
        </p:txBody>
      </p:sp>
      <p:sp>
        <p:nvSpPr>
          <p:cNvPr id="8" name="Text 6"/>
          <p:cNvSpPr txBox="1"/>
          <p:nvPr/>
        </p:nvSpPr>
        <p:spPr>
          <a:xfrm>
            <a:off x="6720840" y="1463040"/>
            <a:ext cx="1508760" cy="274320"/>
          </a:xfrm>
          <a:prstGeom prst="rect">
            <a:avLst/>
          </a:prstGeom>
          <a:noFill/>
          <a:ln/>
        </p:spPr>
        <p:txBody>
          <a:bodyPr wrap="square" lIns="0" tIns="0" rIns="0" bIns="0" rtlCol="0" anchor="ctr">
            <a:normAutofit/>
          </a:bodyPr>
          <a:lstStyle/>
          <a:p>
            <a:pPr algn="ctr" indent="0" marL="0">
              <a:buNone/>
            </a:pPr>
            <a:r>
              <a:rPr lang="en-US" sz="1900" b="1" dirty="0">
                <a:solidFill>
                  <a:srgbClr val="17211E"/>
                </a:solidFill>
                <a:latin typeface="Calibri" pitchFamily="34" charset="0"/>
                <a:ea typeface="Calibri" pitchFamily="34" charset="-122"/>
                <a:cs typeface="Calibri" pitchFamily="34" charset="-120"/>
              </a:rPr>
              <a:t>2 CSVs</a:t>
            </a:r>
            <a:endParaRPr lang="en-US" sz="1900" dirty="0"/>
          </a:p>
        </p:txBody>
      </p:sp>
      <p:sp>
        <p:nvSpPr>
          <p:cNvPr id="9" name="Shape 7"/>
          <p:cNvSpPr/>
          <p:nvPr/>
        </p:nvSpPr>
        <p:spPr>
          <a:xfrm>
            <a:off x="8339328" y="1481328"/>
            <a:ext cx="640080" cy="0"/>
          </a:xfrm>
          <a:prstGeom prst="line">
            <a:avLst/>
          </a:prstGeom>
          <a:noFill/>
          <a:ln w="38100">
            <a:solidFill>
              <a:srgbClr val="F2C14E"/>
            </a:solidFill>
            <a:prstDash val="solid"/>
            <a:tailEnd type="triangle"/>
          </a:ln>
        </p:spPr>
      </p:sp>
      <p:sp>
        <p:nvSpPr>
          <p:cNvPr id="10" name="Shape 8"/>
          <p:cNvSpPr/>
          <p:nvPr/>
        </p:nvSpPr>
        <p:spPr>
          <a:xfrm>
            <a:off x="9098280" y="960120"/>
            <a:ext cx="2331720" cy="1024128"/>
          </a:xfrm>
          <a:prstGeom prst="roundRect">
            <a:avLst>
              <a:gd name="adj" fmla="val 8929"/>
            </a:avLst>
          </a:prstGeom>
          <a:solidFill>
            <a:srgbClr val="E7F4EF"/>
          </a:solidFill>
          <a:ln w="12700">
            <a:solidFill>
              <a:srgbClr val="E7F4EF"/>
            </a:solidFill>
            <a:prstDash val="solid"/>
          </a:ln>
        </p:spPr>
      </p:sp>
      <p:sp>
        <p:nvSpPr>
          <p:cNvPr id="11" name="Text 9"/>
          <p:cNvSpPr txBox="1"/>
          <p:nvPr/>
        </p:nvSpPr>
        <p:spPr>
          <a:xfrm>
            <a:off x="9098280" y="1161288"/>
            <a:ext cx="2331720" cy="228600"/>
          </a:xfrm>
          <a:prstGeom prst="rect">
            <a:avLst/>
          </a:prstGeom>
          <a:noFill/>
          <a:ln/>
        </p:spPr>
        <p:txBody>
          <a:bodyPr wrap="square" lIns="0" tIns="0" rIns="0" bIns="0" rtlCol="0" anchor="ctr">
            <a:normAutofit/>
          </a:bodyPr>
          <a:lstStyle/>
          <a:p>
            <a:pPr algn="ctr" indent="0" marL="0">
              <a:buNone/>
            </a:pPr>
            <a:r>
              <a:rPr lang="en-US" sz="1200" b="1" dirty="0">
                <a:solidFill>
                  <a:srgbClr val="173F35"/>
                </a:solidFill>
                <a:latin typeface="Calibri" pitchFamily="34" charset="0"/>
                <a:ea typeface="Calibri" pitchFamily="34" charset="-122"/>
                <a:cs typeface="Calibri" pitchFamily="34" charset="-120"/>
              </a:rPr>
              <a:t>CDM OUTPUT</a:t>
            </a:r>
            <a:endParaRPr lang="en-US" sz="1200" dirty="0"/>
          </a:p>
        </p:txBody>
      </p:sp>
      <p:sp>
        <p:nvSpPr>
          <p:cNvPr id="12" name="Text 10"/>
          <p:cNvSpPr txBox="1"/>
          <p:nvPr/>
        </p:nvSpPr>
        <p:spPr>
          <a:xfrm>
            <a:off x="9098280" y="1463040"/>
            <a:ext cx="2331720" cy="274320"/>
          </a:xfrm>
          <a:prstGeom prst="rect">
            <a:avLst/>
          </a:prstGeom>
          <a:noFill/>
          <a:ln/>
        </p:spPr>
        <p:txBody>
          <a:bodyPr wrap="square" lIns="0" tIns="0" rIns="0" bIns="0" rtlCol="0" anchor="ctr">
            <a:normAutofit/>
          </a:bodyPr>
          <a:lstStyle/>
          <a:p>
            <a:pPr algn="ctr" indent="0" marL="0">
              <a:buNone/>
            </a:pPr>
            <a:r>
              <a:rPr lang="en-US" sz="1700" b="1" dirty="0">
                <a:solidFill>
                  <a:srgbClr val="102F29"/>
                </a:solidFill>
                <a:latin typeface="Calibri" pitchFamily="34" charset="0"/>
                <a:ea typeface="Calibri" pitchFamily="34" charset="-122"/>
                <a:cs typeface="Calibri" pitchFamily="34" charset="-120"/>
              </a:rPr>
              <a:t>2 entities + model.json</a:t>
            </a:r>
            <a:endParaRPr lang="en-US" sz="1700" dirty="0"/>
          </a:p>
        </p:txBody>
      </p:sp>
      <p:sp>
        <p:nvSpPr>
          <p:cNvPr id="13" name="Shape 11"/>
          <p:cNvSpPr/>
          <p:nvPr/>
        </p:nvSpPr>
        <p:spPr>
          <a:xfrm>
            <a:off x="594360" y="3813048"/>
            <a:ext cx="2441448" cy="1024128"/>
          </a:xfrm>
          <a:prstGeom prst="roundRect">
            <a:avLst>
              <a:gd name="adj" fmla="val 8929"/>
            </a:avLst>
          </a:prstGeom>
          <a:solidFill>
            <a:srgbClr val="214D42"/>
          </a:solidFill>
          <a:ln w="12700">
            <a:solidFill>
              <a:srgbClr val="377365"/>
            </a:solidFill>
            <a:prstDash val="solid"/>
          </a:ln>
        </p:spPr>
      </p:sp>
      <p:sp>
        <p:nvSpPr>
          <p:cNvPr id="14" name="Text 12"/>
          <p:cNvSpPr txBox="1"/>
          <p:nvPr/>
        </p:nvSpPr>
        <p:spPr>
          <a:xfrm>
            <a:off x="758952" y="3968496"/>
            <a:ext cx="713232" cy="411480"/>
          </a:xfrm>
          <a:prstGeom prst="rect">
            <a:avLst/>
          </a:prstGeom>
          <a:noFill/>
          <a:ln/>
        </p:spPr>
        <p:txBody>
          <a:bodyPr wrap="square" lIns="0" tIns="0" rIns="0" bIns="0" rtlCol="0" anchor="ctr">
            <a:normAutofit/>
          </a:bodyPr>
          <a:lstStyle/>
          <a:p>
            <a:pPr algn="l" indent="0" marL="0">
              <a:buNone/>
            </a:pPr>
            <a:r>
              <a:rPr lang="en-US" sz="2500" b="1" dirty="0">
                <a:solidFill>
                  <a:srgbClr val="FFFFFF"/>
                </a:solidFill>
                <a:latin typeface="Calibri" pitchFamily="34" charset="0"/>
                <a:ea typeface="Calibri" pitchFamily="34" charset="-122"/>
                <a:cs typeface="Calibri" pitchFamily="34" charset="-120"/>
              </a:rPr>
              <a:t>5</a:t>
            </a:r>
            <a:endParaRPr lang="en-US" sz="2500" dirty="0"/>
          </a:p>
        </p:txBody>
      </p:sp>
      <p:sp>
        <p:nvSpPr>
          <p:cNvPr id="15" name="Text 13"/>
          <p:cNvSpPr txBox="1"/>
          <p:nvPr/>
        </p:nvSpPr>
        <p:spPr>
          <a:xfrm>
            <a:off x="1453896" y="3977640"/>
            <a:ext cx="1353312" cy="393192"/>
          </a:xfrm>
          <a:prstGeom prst="rect">
            <a:avLst/>
          </a:prstGeom>
          <a:noFill/>
          <a:ln/>
        </p:spPr>
        <p:txBody>
          <a:bodyPr wrap="square" lIns="0" tIns="0" rIns="0" bIns="0" rtlCol="0" anchor="ctr">
            <a:normAutofit/>
          </a:bodyPr>
          <a:lstStyle/>
          <a:p>
            <a:pPr algn="l" indent="0" marL="0">
              <a:buNone/>
            </a:pPr>
            <a:r>
              <a:rPr lang="en-US" sz="1300" b="1" dirty="0">
                <a:solidFill>
                  <a:srgbClr val="DCEBE6"/>
                </a:solidFill>
                <a:latin typeface="Calibri" pitchFamily="34" charset="0"/>
                <a:ea typeface="Calibri" pitchFamily="34" charset="-122"/>
                <a:cs typeface="Calibri" pitchFamily="34" charset="-120"/>
              </a:rPr>
              <a:t>contacts</a:t>
            </a:r>
            <a:endParaRPr lang="en-US" sz="1300" dirty="0"/>
          </a:p>
        </p:txBody>
      </p:sp>
      <p:sp>
        <p:nvSpPr>
          <p:cNvPr id="16" name="Shape 14"/>
          <p:cNvSpPr/>
          <p:nvPr/>
        </p:nvSpPr>
        <p:spPr>
          <a:xfrm>
            <a:off x="3364992" y="3813048"/>
            <a:ext cx="2441448" cy="1024128"/>
          </a:xfrm>
          <a:prstGeom prst="roundRect">
            <a:avLst>
              <a:gd name="adj" fmla="val 8929"/>
            </a:avLst>
          </a:prstGeom>
          <a:solidFill>
            <a:srgbClr val="214D42"/>
          </a:solidFill>
          <a:ln w="12700">
            <a:solidFill>
              <a:srgbClr val="377365"/>
            </a:solidFill>
            <a:prstDash val="solid"/>
          </a:ln>
        </p:spPr>
      </p:sp>
      <p:sp>
        <p:nvSpPr>
          <p:cNvPr id="17" name="Text 15"/>
          <p:cNvSpPr txBox="1"/>
          <p:nvPr/>
        </p:nvSpPr>
        <p:spPr>
          <a:xfrm>
            <a:off x="3529584" y="3968496"/>
            <a:ext cx="713232" cy="411480"/>
          </a:xfrm>
          <a:prstGeom prst="rect">
            <a:avLst/>
          </a:prstGeom>
          <a:noFill/>
          <a:ln/>
        </p:spPr>
        <p:txBody>
          <a:bodyPr wrap="square" lIns="0" tIns="0" rIns="0" bIns="0" rtlCol="0" anchor="ctr">
            <a:normAutofit/>
          </a:bodyPr>
          <a:lstStyle/>
          <a:p>
            <a:pPr algn="l" indent="0" marL="0">
              <a:buNone/>
            </a:pPr>
            <a:r>
              <a:rPr lang="en-US" sz="2500" b="1" dirty="0">
                <a:solidFill>
                  <a:srgbClr val="FFFFFF"/>
                </a:solidFill>
                <a:latin typeface="Calibri" pitchFamily="34" charset="0"/>
                <a:ea typeface="Calibri" pitchFamily="34" charset="-122"/>
                <a:cs typeface="Calibri" pitchFamily="34" charset="-120"/>
              </a:rPr>
              <a:t>4</a:t>
            </a:r>
            <a:endParaRPr lang="en-US" sz="2500" dirty="0"/>
          </a:p>
        </p:txBody>
      </p:sp>
      <p:sp>
        <p:nvSpPr>
          <p:cNvPr id="18" name="Text 16"/>
          <p:cNvSpPr txBox="1"/>
          <p:nvPr/>
        </p:nvSpPr>
        <p:spPr>
          <a:xfrm>
            <a:off x="4224528" y="3977640"/>
            <a:ext cx="1353312" cy="393192"/>
          </a:xfrm>
          <a:prstGeom prst="rect">
            <a:avLst/>
          </a:prstGeom>
          <a:noFill/>
          <a:ln/>
        </p:spPr>
        <p:txBody>
          <a:bodyPr wrap="square" lIns="0" tIns="0" rIns="0" bIns="0" rtlCol="0" anchor="ctr">
            <a:normAutofit/>
          </a:bodyPr>
          <a:lstStyle/>
          <a:p>
            <a:pPr algn="l" indent="0" marL="0">
              <a:buNone/>
            </a:pPr>
            <a:r>
              <a:rPr lang="en-US" sz="1300" b="1" dirty="0">
                <a:solidFill>
                  <a:srgbClr val="DCEBE6"/>
                </a:solidFill>
                <a:latin typeface="Calibri" pitchFamily="34" charset="0"/>
                <a:ea typeface="Calibri" pitchFamily="34" charset="-122"/>
                <a:cs typeface="Calibri" pitchFamily="34" charset="-120"/>
              </a:rPr>
              <a:t>valid orders</a:t>
            </a:r>
            <a:endParaRPr lang="en-US" sz="1300" dirty="0"/>
          </a:p>
        </p:txBody>
      </p:sp>
      <p:sp>
        <p:nvSpPr>
          <p:cNvPr id="19" name="Shape 17"/>
          <p:cNvSpPr/>
          <p:nvPr/>
        </p:nvSpPr>
        <p:spPr>
          <a:xfrm>
            <a:off x="6135624" y="3813048"/>
            <a:ext cx="2441448" cy="1024128"/>
          </a:xfrm>
          <a:prstGeom prst="roundRect">
            <a:avLst>
              <a:gd name="adj" fmla="val 8929"/>
            </a:avLst>
          </a:prstGeom>
          <a:solidFill>
            <a:srgbClr val="214D42"/>
          </a:solidFill>
          <a:ln w="12700">
            <a:solidFill>
              <a:srgbClr val="377365"/>
            </a:solidFill>
            <a:prstDash val="solid"/>
          </a:ln>
        </p:spPr>
      </p:sp>
      <p:sp>
        <p:nvSpPr>
          <p:cNvPr id="20" name="Text 18"/>
          <p:cNvSpPr txBox="1"/>
          <p:nvPr/>
        </p:nvSpPr>
        <p:spPr>
          <a:xfrm>
            <a:off x="6300216" y="3968496"/>
            <a:ext cx="713232" cy="411480"/>
          </a:xfrm>
          <a:prstGeom prst="rect">
            <a:avLst/>
          </a:prstGeom>
          <a:noFill/>
          <a:ln/>
        </p:spPr>
        <p:txBody>
          <a:bodyPr wrap="square" lIns="0" tIns="0" rIns="0" bIns="0" rtlCol="0" anchor="ctr">
            <a:normAutofit/>
          </a:bodyPr>
          <a:lstStyle/>
          <a:p>
            <a:pPr algn="l" indent="0" marL="0">
              <a:buNone/>
            </a:pPr>
            <a:r>
              <a:rPr lang="en-US" sz="2500" b="1" dirty="0">
                <a:solidFill>
                  <a:srgbClr val="FFFFFF"/>
                </a:solidFill>
                <a:latin typeface="Calibri" pitchFamily="34" charset="0"/>
                <a:ea typeface="Calibri" pitchFamily="34" charset="-122"/>
                <a:cs typeface="Calibri" pitchFamily="34" charset="-120"/>
              </a:rPr>
              <a:t>1</a:t>
            </a:r>
            <a:endParaRPr lang="en-US" sz="2500" dirty="0"/>
          </a:p>
        </p:txBody>
      </p:sp>
      <p:sp>
        <p:nvSpPr>
          <p:cNvPr id="21" name="Text 19"/>
          <p:cNvSpPr txBox="1"/>
          <p:nvPr/>
        </p:nvSpPr>
        <p:spPr>
          <a:xfrm>
            <a:off x="6995160" y="3977640"/>
            <a:ext cx="1353312" cy="393192"/>
          </a:xfrm>
          <a:prstGeom prst="rect">
            <a:avLst/>
          </a:prstGeom>
          <a:noFill/>
          <a:ln/>
        </p:spPr>
        <p:txBody>
          <a:bodyPr wrap="square" lIns="0" tIns="0" rIns="0" bIns="0" rtlCol="0" anchor="ctr">
            <a:normAutofit/>
          </a:bodyPr>
          <a:lstStyle/>
          <a:p>
            <a:pPr algn="l" indent="0" marL="0">
              <a:buNone/>
            </a:pPr>
            <a:r>
              <a:rPr lang="en-US" sz="1300" b="1" dirty="0">
                <a:solidFill>
                  <a:srgbClr val="DCEBE6"/>
                </a:solidFill>
                <a:latin typeface="Calibri" pitchFamily="34" charset="0"/>
                <a:ea typeface="Calibri" pitchFamily="34" charset="-122"/>
                <a:cs typeface="Calibri" pitchFamily="34" charset="-120"/>
              </a:rPr>
              <a:t>quarantined</a:t>
            </a:r>
            <a:endParaRPr lang="en-US" sz="1300" dirty="0"/>
          </a:p>
        </p:txBody>
      </p:sp>
      <p:sp>
        <p:nvSpPr>
          <p:cNvPr id="22" name="Shape 20"/>
          <p:cNvSpPr/>
          <p:nvPr/>
        </p:nvSpPr>
        <p:spPr>
          <a:xfrm>
            <a:off x="8906256" y="3813048"/>
            <a:ext cx="2441448" cy="1024128"/>
          </a:xfrm>
          <a:prstGeom prst="roundRect">
            <a:avLst>
              <a:gd name="adj" fmla="val 8929"/>
            </a:avLst>
          </a:prstGeom>
          <a:solidFill>
            <a:srgbClr val="FFF5D9"/>
          </a:solidFill>
          <a:ln w="12700">
            <a:solidFill>
              <a:srgbClr val="FFF5D9"/>
            </a:solidFill>
            <a:prstDash val="solid"/>
          </a:ln>
        </p:spPr>
      </p:sp>
      <p:sp>
        <p:nvSpPr>
          <p:cNvPr id="23" name="Text 21"/>
          <p:cNvSpPr txBox="1"/>
          <p:nvPr/>
        </p:nvSpPr>
        <p:spPr>
          <a:xfrm>
            <a:off x="9070848" y="3968496"/>
            <a:ext cx="713232" cy="411480"/>
          </a:xfrm>
          <a:prstGeom prst="rect">
            <a:avLst/>
          </a:prstGeom>
          <a:noFill/>
          <a:ln/>
        </p:spPr>
        <p:txBody>
          <a:bodyPr wrap="square" lIns="0" tIns="0" rIns="0" bIns="0" rtlCol="0" anchor="ctr">
            <a:normAutofit/>
          </a:bodyPr>
          <a:lstStyle/>
          <a:p>
            <a:pPr algn="l" indent="0" marL="0">
              <a:buNone/>
            </a:pPr>
            <a:r>
              <a:rPr lang="en-US" sz="2500" b="1" dirty="0">
                <a:solidFill>
                  <a:srgbClr val="102F29"/>
                </a:solidFill>
                <a:latin typeface="Calibri" pitchFamily="34" charset="0"/>
                <a:ea typeface="Calibri" pitchFamily="34" charset="-122"/>
                <a:cs typeface="Calibri" pitchFamily="34" charset="-120"/>
              </a:rPr>
              <a:t>ISO</a:t>
            </a:r>
            <a:endParaRPr lang="en-US" sz="2500" dirty="0"/>
          </a:p>
        </p:txBody>
      </p:sp>
      <p:sp>
        <p:nvSpPr>
          <p:cNvPr id="24" name="Text 22"/>
          <p:cNvSpPr txBox="1"/>
          <p:nvPr/>
        </p:nvSpPr>
        <p:spPr>
          <a:xfrm>
            <a:off x="9765792" y="3977640"/>
            <a:ext cx="1353312" cy="393192"/>
          </a:xfrm>
          <a:prstGeom prst="rect">
            <a:avLst/>
          </a:prstGeom>
          <a:noFill/>
          <a:ln/>
        </p:spPr>
        <p:txBody>
          <a:bodyPr wrap="square" lIns="0" tIns="0" rIns="0" bIns="0" rtlCol="0" anchor="ctr">
            <a:normAutofit/>
          </a:bodyPr>
          <a:lstStyle/>
          <a:p>
            <a:pPr algn="l" indent="0" marL="0">
              <a:buNone/>
            </a:pPr>
            <a:r>
              <a:rPr lang="en-US" sz="1300" b="1" dirty="0">
                <a:solidFill>
                  <a:srgbClr val="102F29"/>
                </a:solidFill>
                <a:latin typeface="Calibri" pitchFamily="34" charset="0"/>
                <a:ea typeface="Calibri" pitchFamily="34" charset="-122"/>
                <a:cs typeface="Calibri" pitchFamily="34" charset="-120"/>
              </a:rPr>
              <a:t>UTC timestamps</a:t>
            </a:r>
            <a:endParaRPr lang="en-US" sz="1300" dirty="0"/>
          </a:p>
        </p:txBody>
      </p:sp>
      <p:sp>
        <p:nvSpPr>
          <p:cNvPr id="25" name="Shape 23"/>
          <p:cNvSpPr/>
          <p:nvPr/>
        </p:nvSpPr>
        <p:spPr>
          <a:xfrm>
            <a:off x="612648" y="5257800"/>
            <a:ext cx="246888" cy="246888"/>
          </a:xfrm>
          <a:prstGeom prst="ellipse">
            <a:avLst/>
          </a:prstGeom>
          <a:solidFill>
            <a:srgbClr val="55B99A"/>
          </a:solidFill>
          <a:ln w="12700">
            <a:solidFill>
              <a:srgbClr val="55B99A"/>
            </a:solidFill>
            <a:prstDash val="solid"/>
          </a:ln>
        </p:spPr>
      </p:sp>
      <p:sp>
        <p:nvSpPr>
          <p:cNvPr id="26" name="Text 24"/>
          <p:cNvSpPr txBox="1"/>
          <p:nvPr/>
        </p:nvSpPr>
        <p:spPr>
          <a:xfrm>
            <a:off x="612648" y="5248656"/>
            <a:ext cx="246888" cy="2468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7" name="Text 25"/>
          <p:cNvSpPr txBox="1"/>
          <p:nvPr/>
        </p:nvSpPr>
        <p:spPr>
          <a:xfrm>
            <a:off x="960120" y="5212080"/>
            <a:ext cx="2103120" cy="347472"/>
          </a:xfrm>
          <a:prstGeom prst="rect">
            <a:avLst/>
          </a:prstGeom>
          <a:noFill/>
          <a:ln/>
        </p:spPr>
        <p:txBody>
          <a:bodyPr wrap="square" lIns="0" tIns="0" rIns="0" bIns="0" rtlCol="0" anchor="ctr">
            <a:normAutofit/>
          </a:bodyPr>
          <a:lstStyle/>
          <a:p>
            <a:pPr algn="l" indent="0" marL="0">
              <a:buNone/>
            </a:pPr>
            <a:r>
              <a:rPr lang="en-US" sz="1200" b="1" dirty="0">
                <a:solidFill>
                  <a:srgbClr val="DCEBE6"/>
                </a:solidFill>
                <a:latin typeface="Calibri" pitchFamily="34" charset="0"/>
                <a:ea typeface="Calibri" pitchFamily="34" charset="-122"/>
                <a:cs typeface="Calibri" pitchFamily="34" charset="-120"/>
              </a:rPr>
              <a:t>clean entity CSVs</a:t>
            </a:r>
            <a:endParaRPr lang="en-US" sz="1200" dirty="0"/>
          </a:p>
        </p:txBody>
      </p:sp>
      <p:sp>
        <p:nvSpPr>
          <p:cNvPr id="28" name="Shape 26"/>
          <p:cNvSpPr/>
          <p:nvPr/>
        </p:nvSpPr>
        <p:spPr>
          <a:xfrm>
            <a:off x="3383280" y="5257800"/>
            <a:ext cx="246888" cy="246888"/>
          </a:xfrm>
          <a:prstGeom prst="ellipse">
            <a:avLst/>
          </a:prstGeom>
          <a:solidFill>
            <a:srgbClr val="55B99A"/>
          </a:solidFill>
          <a:ln w="12700">
            <a:solidFill>
              <a:srgbClr val="55B99A"/>
            </a:solidFill>
            <a:prstDash val="solid"/>
          </a:ln>
        </p:spPr>
      </p:sp>
      <p:sp>
        <p:nvSpPr>
          <p:cNvPr id="29" name="Text 27"/>
          <p:cNvSpPr txBox="1"/>
          <p:nvPr/>
        </p:nvSpPr>
        <p:spPr>
          <a:xfrm>
            <a:off x="3383280" y="5248656"/>
            <a:ext cx="246888" cy="2468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3730752" y="5212080"/>
            <a:ext cx="2103120" cy="347472"/>
          </a:xfrm>
          <a:prstGeom prst="rect">
            <a:avLst/>
          </a:prstGeom>
          <a:noFill/>
          <a:ln/>
        </p:spPr>
        <p:txBody>
          <a:bodyPr wrap="square" lIns="0" tIns="0" rIns="0" bIns="0" rtlCol="0" anchor="ctr">
            <a:normAutofit/>
          </a:bodyPr>
          <a:lstStyle/>
          <a:p>
            <a:pPr algn="l" indent="0" marL="0">
              <a:buNone/>
            </a:pPr>
            <a:r>
              <a:rPr lang="en-US" sz="1200" b="1" dirty="0">
                <a:solidFill>
                  <a:srgbClr val="DCEBE6"/>
                </a:solidFill>
                <a:latin typeface="Calibri" pitchFamily="34" charset="0"/>
                <a:ea typeface="Calibri" pitchFamily="34" charset="-122"/>
                <a:cs typeface="Calibri" pitchFamily="34" charset="-120"/>
              </a:rPr>
              <a:t>required folder layout</a:t>
            </a:r>
            <a:endParaRPr lang="en-US" sz="1200" dirty="0"/>
          </a:p>
        </p:txBody>
      </p:sp>
      <p:sp>
        <p:nvSpPr>
          <p:cNvPr id="31" name="Shape 29"/>
          <p:cNvSpPr/>
          <p:nvPr/>
        </p:nvSpPr>
        <p:spPr>
          <a:xfrm>
            <a:off x="6153912" y="5257800"/>
            <a:ext cx="246888" cy="246888"/>
          </a:xfrm>
          <a:prstGeom prst="ellipse">
            <a:avLst/>
          </a:prstGeom>
          <a:solidFill>
            <a:srgbClr val="55B99A"/>
          </a:solidFill>
          <a:ln w="12700">
            <a:solidFill>
              <a:srgbClr val="55B99A"/>
            </a:solidFill>
            <a:prstDash val="solid"/>
          </a:ln>
        </p:spPr>
      </p:sp>
      <p:sp>
        <p:nvSpPr>
          <p:cNvPr id="32" name="Text 30"/>
          <p:cNvSpPr txBox="1"/>
          <p:nvPr/>
        </p:nvSpPr>
        <p:spPr>
          <a:xfrm>
            <a:off x="6153912" y="5248656"/>
            <a:ext cx="246888" cy="2468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3" name="Text 31"/>
          <p:cNvSpPr txBox="1"/>
          <p:nvPr/>
        </p:nvSpPr>
        <p:spPr>
          <a:xfrm>
            <a:off x="6501384" y="5212080"/>
            <a:ext cx="2103120" cy="347472"/>
          </a:xfrm>
          <a:prstGeom prst="rect">
            <a:avLst/>
          </a:prstGeom>
          <a:noFill/>
          <a:ln/>
        </p:spPr>
        <p:txBody>
          <a:bodyPr wrap="square" lIns="0" tIns="0" rIns="0" bIns="0" rtlCol="0" anchor="ctr">
            <a:normAutofit/>
          </a:bodyPr>
          <a:lstStyle/>
          <a:p>
            <a:pPr algn="l" indent="0" marL="0">
              <a:buNone/>
            </a:pPr>
            <a:r>
              <a:rPr lang="en-US" sz="1200" b="1" dirty="0">
                <a:solidFill>
                  <a:srgbClr val="DCEBE6"/>
                </a:solidFill>
                <a:latin typeface="Calibri" pitchFamily="34" charset="0"/>
                <a:ea typeface="Calibri" pitchFamily="34" charset="-122"/>
                <a:cs typeface="Calibri" pitchFamily="34" charset="-120"/>
              </a:rPr>
              <a:t>CDM model.json</a:t>
            </a:r>
            <a:endParaRPr lang="en-US" sz="1200" dirty="0"/>
          </a:p>
        </p:txBody>
      </p:sp>
      <p:sp>
        <p:nvSpPr>
          <p:cNvPr id="34" name="Shape 32"/>
          <p:cNvSpPr/>
          <p:nvPr/>
        </p:nvSpPr>
        <p:spPr>
          <a:xfrm>
            <a:off x="8924544" y="5257800"/>
            <a:ext cx="246888" cy="246888"/>
          </a:xfrm>
          <a:prstGeom prst="ellipse">
            <a:avLst/>
          </a:prstGeom>
          <a:solidFill>
            <a:srgbClr val="55B99A"/>
          </a:solidFill>
          <a:ln w="12700">
            <a:solidFill>
              <a:srgbClr val="55B99A"/>
            </a:solidFill>
            <a:prstDash val="solid"/>
          </a:ln>
        </p:spPr>
      </p:sp>
      <p:sp>
        <p:nvSpPr>
          <p:cNvPr id="35" name="Text 33"/>
          <p:cNvSpPr txBox="1"/>
          <p:nvPr/>
        </p:nvSpPr>
        <p:spPr>
          <a:xfrm>
            <a:off x="8924544" y="5248656"/>
            <a:ext cx="246888" cy="2468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6" name="Text 34"/>
          <p:cNvSpPr txBox="1"/>
          <p:nvPr/>
        </p:nvSpPr>
        <p:spPr>
          <a:xfrm>
            <a:off x="9272016" y="5212080"/>
            <a:ext cx="2103120" cy="347472"/>
          </a:xfrm>
          <a:prstGeom prst="rect">
            <a:avLst/>
          </a:prstGeom>
          <a:noFill/>
          <a:ln/>
        </p:spPr>
        <p:txBody>
          <a:bodyPr wrap="square" lIns="0" tIns="0" rIns="0" bIns="0" rtlCol="0" anchor="ctr">
            <a:normAutofit/>
          </a:bodyPr>
          <a:lstStyle/>
          <a:p>
            <a:pPr algn="l" indent="0" marL="0">
              <a:buNone/>
            </a:pPr>
            <a:r>
              <a:rPr lang="en-US" sz="1200" b="1" dirty="0">
                <a:solidFill>
                  <a:srgbClr val="DCEBE6"/>
                </a:solidFill>
                <a:latin typeface="Calibri" pitchFamily="34" charset="0"/>
                <a:ea typeface="Calibri" pitchFamily="34" charset="-122"/>
                <a:cs typeface="Calibri" pitchFamily="34" charset="-120"/>
              </a:rPr>
              <a:t>mapping + ERD + storage</a:t>
            </a:r>
            <a:endParaRPr lang="en-US" sz="1200" dirty="0"/>
          </a:p>
        </p:txBody>
      </p:sp>
      <p:sp>
        <p:nvSpPr>
          <p:cNvPr id="37" name="Text 35"/>
          <p:cNvSpPr txBox="1"/>
          <p:nvPr/>
        </p:nvSpPr>
        <p:spPr>
          <a:xfrm>
            <a:off x="612648" y="6080760"/>
            <a:ext cx="4937760" cy="256032"/>
          </a:xfrm>
          <a:prstGeom prst="rect">
            <a:avLst/>
          </a:prstGeom>
          <a:noFill/>
          <a:ln/>
        </p:spPr>
        <p:txBody>
          <a:bodyPr wrap="square" lIns="0" tIns="0" rIns="0" bIns="0" rtlCol="0" anchor="ctr">
            <a:normAutofit/>
          </a:bodyPr>
          <a:lstStyle/>
          <a:p>
            <a:pPr algn="l" indent="0" marL="0">
              <a:buNone/>
            </a:pPr>
            <a:r>
              <a:rPr lang="en-US" sz="1200" b="1" dirty="0">
                <a:solidFill>
                  <a:srgbClr val="F2C14E"/>
                </a:solidFill>
                <a:latin typeface="Calibri" pitchFamily="34" charset="0"/>
                <a:ea typeface="Calibri" pitchFamily="34" charset="-122"/>
                <a:cs typeface="Calibri" pitchFamily="34" charset="-120"/>
              </a:rPr>
              <a:t>github.com/ghostkernel-core/cdm-pipeline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566928"/>
            <a:ext cx="11109960" cy="502920"/>
          </a:xfrm>
          <a:prstGeom prst="rect">
            <a:avLst/>
          </a:prstGeom>
          <a:noFill/>
          <a:ln/>
        </p:spPr>
        <p:txBody>
          <a:bodyPr wrap="square" lIns="0" tIns="0" rIns="0" bIns="0" rtlCol="0" anchor="ctr">
            <a:normAutofit/>
          </a:bodyPr>
          <a:lstStyle/>
          <a:p>
            <a:pPr algn="l" indent="0" marL="0">
              <a:buNone/>
            </a:pPr>
            <a:r>
              <a:rPr lang="en-US" sz="3000" b="1" dirty="0">
                <a:solidFill>
                  <a:srgbClr val="17211E"/>
                </a:solidFill>
                <a:latin typeface="Cambria" pitchFamily="34" charset="0"/>
                <a:ea typeface="Cambria" pitchFamily="34" charset="-122"/>
                <a:cs typeface="Cambria" pitchFamily="34" charset="-120"/>
              </a:rPr>
              <a:t>One path from source row to CDM</a:t>
            </a:r>
            <a:endParaRPr lang="en-US" sz="3000" dirty="0"/>
          </a:p>
        </p:txBody>
      </p:sp>
      <p:sp>
        <p:nvSpPr>
          <p:cNvPr id="3" name="Text 1"/>
          <p:cNvSpPr txBox="1"/>
          <p:nvPr/>
        </p:nvSpPr>
        <p:spPr>
          <a:xfrm>
            <a:off x="521208" y="1115568"/>
            <a:ext cx="10789920" cy="292608"/>
          </a:xfrm>
          <a:prstGeom prst="rect">
            <a:avLst/>
          </a:prstGeom>
          <a:noFill/>
          <a:ln/>
        </p:spPr>
        <p:txBody>
          <a:bodyPr wrap="square" lIns="0" tIns="0" rIns="0" bIns="0" rtlCol="0" anchor="ctr">
            <a:normAutofit/>
          </a:bodyPr>
          <a:lstStyle/>
          <a:p>
            <a:pPr algn="l" indent="0" marL="0">
              <a:buNone/>
            </a:pPr>
            <a:r>
              <a:rPr lang="en-US" sz="1400" dirty="0">
                <a:solidFill>
                  <a:srgbClr val="5E6C67"/>
                </a:solidFill>
                <a:latin typeface="Calibri" pitchFamily="34" charset="0"/>
                <a:ea typeface="Calibri" pitchFamily="34" charset="-122"/>
                <a:cs typeface="Calibri" pitchFamily="34" charset="-120"/>
              </a:rPr>
              <a:t>The target models drive validation, CSV columns and manifest attributes.</a:t>
            </a:r>
            <a:endParaRPr lang="en-US" sz="1400" dirty="0"/>
          </a:p>
        </p:txBody>
      </p:sp>
      <p:sp>
        <p:nvSpPr>
          <p:cNvPr id="4" name="Shape 2"/>
          <p:cNvSpPr/>
          <p:nvPr/>
        </p:nvSpPr>
        <p:spPr>
          <a:xfrm>
            <a:off x="566928" y="1645920"/>
            <a:ext cx="2221992" cy="1024128"/>
          </a:xfrm>
          <a:prstGeom prst="roundRect">
            <a:avLst>
              <a:gd name="adj" fmla="val 8929"/>
            </a:avLst>
          </a:prstGeom>
          <a:solidFill>
            <a:srgbClr val="F4F8F6"/>
          </a:solidFill>
          <a:ln w="12700">
            <a:solidFill>
              <a:srgbClr val="B9CCC5"/>
            </a:solidFill>
            <a:prstDash val="solid"/>
          </a:ln>
        </p:spPr>
      </p:sp>
      <p:sp>
        <p:nvSpPr>
          <p:cNvPr id="5" name="Shape 3"/>
          <p:cNvSpPr/>
          <p:nvPr/>
        </p:nvSpPr>
        <p:spPr>
          <a:xfrm>
            <a:off x="713232" y="1828800"/>
            <a:ext cx="384048" cy="320040"/>
          </a:xfrm>
          <a:prstGeom prst="roundRect">
            <a:avLst>
              <a:gd name="adj" fmla="val 22857"/>
            </a:avLst>
          </a:prstGeom>
          <a:solidFill>
            <a:srgbClr val="173F35"/>
          </a:solidFill>
          <a:ln w="12700">
            <a:solidFill>
              <a:srgbClr val="173F35"/>
            </a:solidFill>
            <a:prstDash val="solid"/>
          </a:ln>
        </p:spPr>
      </p:sp>
      <p:sp>
        <p:nvSpPr>
          <p:cNvPr id="6" name="Text 4"/>
          <p:cNvSpPr txBox="1"/>
          <p:nvPr/>
        </p:nvSpPr>
        <p:spPr>
          <a:xfrm>
            <a:off x="713232" y="1828800"/>
            <a:ext cx="384048" cy="32004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207008" y="1810512"/>
            <a:ext cx="1399032" cy="274320"/>
          </a:xfrm>
          <a:prstGeom prst="rect">
            <a:avLst/>
          </a:prstGeom>
          <a:noFill/>
          <a:ln/>
        </p:spPr>
        <p:txBody>
          <a:bodyPr wrap="square" lIns="0" tIns="0" rIns="0" bIns="0" rtlCol="0" anchor="ctr">
            <a:normAutofit/>
          </a:bodyPr>
          <a:lstStyle/>
          <a:p>
            <a:pPr algn="l" indent="0" marL="0">
              <a:buNone/>
            </a:pPr>
            <a:r>
              <a:rPr lang="en-US" sz="1400" b="1" dirty="0">
                <a:solidFill>
                  <a:srgbClr val="17211E"/>
                </a:solidFill>
                <a:latin typeface="Calibri" pitchFamily="34" charset="0"/>
                <a:ea typeface="Calibri" pitchFamily="34" charset="-122"/>
                <a:cs typeface="Calibri" pitchFamily="34" charset="-120"/>
              </a:rPr>
              <a:t>READ</a:t>
            </a:r>
            <a:endParaRPr lang="en-US" sz="1400" dirty="0"/>
          </a:p>
        </p:txBody>
      </p:sp>
      <p:sp>
        <p:nvSpPr>
          <p:cNvPr id="8" name="Text 6"/>
          <p:cNvSpPr txBox="1"/>
          <p:nvPr/>
        </p:nvSpPr>
        <p:spPr>
          <a:xfrm>
            <a:off x="713232" y="2267712"/>
            <a:ext cx="1874520" cy="256032"/>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repair split row</a:t>
            </a:r>
            <a:endParaRPr lang="en-US" sz="1100" dirty="0"/>
          </a:p>
        </p:txBody>
      </p:sp>
      <p:sp>
        <p:nvSpPr>
          <p:cNvPr id="9" name="Shape 7"/>
          <p:cNvSpPr/>
          <p:nvPr/>
        </p:nvSpPr>
        <p:spPr>
          <a:xfrm>
            <a:off x="2843784" y="2157984"/>
            <a:ext cx="402336" cy="0"/>
          </a:xfrm>
          <a:prstGeom prst="line">
            <a:avLst/>
          </a:prstGeom>
          <a:noFill/>
          <a:ln w="25400">
            <a:solidFill>
              <a:srgbClr val="55B99A"/>
            </a:solidFill>
            <a:prstDash val="solid"/>
            <a:tailEnd type="triangle"/>
          </a:ln>
        </p:spPr>
      </p:sp>
      <p:sp>
        <p:nvSpPr>
          <p:cNvPr id="10" name="Shape 8"/>
          <p:cNvSpPr/>
          <p:nvPr/>
        </p:nvSpPr>
        <p:spPr>
          <a:xfrm>
            <a:off x="3346704" y="1645920"/>
            <a:ext cx="2221992" cy="1024128"/>
          </a:xfrm>
          <a:prstGeom prst="roundRect">
            <a:avLst>
              <a:gd name="adj" fmla="val 8929"/>
            </a:avLst>
          </a:prstGeom>
          <a:solidFill>
            <a:srgbClr val="E7F4EF"/>
          </a:solidFill>
          <a:ln w="12700">
            <a:solidFill>
              <a:srgbClr val="55B99A"/>
            </a:solidFill>
            <a:prstDash val="solid"/>
          </a:ln>
        </p:spPr>
      </p:sp>
      <p:sp>
        <p:nvSpPr>
          <p:cNvPr id="11" name="Shape 9"/>
          <p:cNvSpPr/>
          <p:nvPr/>
        </p:nvSpPr>
        <p:spPr>
          <a:xfrm>
            <a:off x="3493008" y="1828800"/>
            <a:ext cx="384048" cy="320040"/>
          </a:xfrm>
          <a:prstGeom prst="roundRect">
            <a:avLst>
              <a:gd name="adj" fmla="val 22857"/>
            </a:avLst>
          </a:prstGeom>
          <a:solidFill>
            <a:srgbClr val="55B99A"/>
          </a:solidFill>
          <a:ln w="12700">
            <a:solidFill>
              <a:srgbClr val="55B99A"/>
            </a:solidFill>
            <a:prstDash val="solid"/>
          </a:ln>
        </p:spPr>
      </p:sp>
      <p:sp>
        <p:nvSpPr>
          <p:cNvPr id="12" name="Text 10"/>
          <p:cNvSpPr txBox="1"/>
          <p:nvPr/>
        </p:nvSpPr>
        <p:spPr>
          <a:xfrm>
            <a:off x="3493008" y="1828800"/>
            <a:ext cx="384048" cy="32004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3986784" y="1810512"/>
            <a:ext cx="1399032" cy="274320"/>
          </a:xfrm>
          <a:prstGeom prst="rect">
            <a:avLst/>
          </a:prstGeom>
          <a:noFill/>
          <a:ln/>
        </p:spPr>
        <p:txBody>
          <a:bodyPr wrap="square" lIns="0" tIns="0" rIns="0" bIns="0" rtlCol="0" anchor="ctr">
            <a:normAutofit/>
          </a:bodyPr>
          <a:lstStyle/>
          <a:p>
            <a:pPr algn="l" indent="0" marL="0">
              <a:buNone/>
            </a:pPr>
            <a:r>
              <a:rPr lang="en-US" sz="1400" b="1" dirty="0">
                <a:solidFill>
                  <a:srgbClr val="17211E"/>
                </a:solidFill>
                <a:latin typeface="Calibri" pitchFamily="34" charset="0"/>
                <a:ea typeface="Calibri" pitchFamily="34" charset="-122"/>
                <a:cs typeface="Calibri" pitchFamily="34" charset="-120"/>
              </a:rPr>
              <a:t>CLEAN + MODEL</a:t>
            </a:r>
            <a:endParaRPr lang="en-US" sz="1400" dirty="0"/>
          </a:p>
        </p:txBody>
      </p:sp>
      <p:sp>
        <p:nvSpPr>
          <p:cNvPr id="14" name="Text 12"/>
          <p:cNvSpPr txBox="1"/>
          <p:nvPr/>
        </p:nvSpPr>
        <p:spPr>
          <a:xfrm>
            <a:off x="3493008" y="2267712"/>
            <a:ext cx="1874520" cy="256032"/>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Pydantic validation</a:t>
            </a:r>
            <a:endParaRPr lang="en-US" sz="1100" dirty="0"/>
          </a:p>
        </p:txBody>
      </p:sp>
      <p:sp>
        <p:nvSpPr>
          <p:cNvPr id="15" name="Shape 13"/>
          <p:cNvSpPr/>
          <p:nvPr/>
        </p:nvSpPr>
        <p:spPr>
          <a:xfrm>
            <a:off x="5623560" y="2157984"/>
            <a:ext cx="402336" cy="0"/>
          </a:xfrm>
          <a:prstGeom prst="line">
            <a:avLst/>
          </a:prstGeom>
          <a:noFill/>
          <a:ln w="25400">
            <a:solidFill>
              <a:srgbClr val="55B99A"/>
            </a:solidFill>
            <a:prstDash val="solid"/>
            <a:tailEnd type="triangle"/>
          </a:ln>
        </p:spPr>
      </p:sp>
      <p:sp>
        <p:nvSpPr>
          <p:cNvPr id="16" name="Shape 14"/>
          <p:cNvSpPr/>
          <p:nvPr/>
        </p:nvSpPr>
        <p:spPr>
          <a:xfrm>
            <a:off x="6126480" y="1645920"/>
            <a:ext cx="2221992" cy="1024128"/>
          </a:xfrm>
          <a:prstGeom prst="roundRect">
            <a:avLst>
              <a:gd name="adj" fmla="val 8929"/>
            </a:avLst>
          </a:prstGeom>
          <a:solidFill>
            <a:srgbClr val="F4F8F6"/>
          </a:solidFill>
          <a:ln w="12700">
            <a:solidFill>
              <a:srgbClr val="B9CCC5"/>
            </a:solidFill>
            <a:prstDash val="solid"/>
          </a:ln>
        </p:spPr>
      </p:sp>
      <p:sp>
        <p:nvSpPr>
          <p:cNvPr id="17" name="Shape 15"/>
          <p:cNvSpPr/>
          <p:nvPr/>
        </p:nvSpPr>
        <p:spPr>
          <a:xfrm>
            <a:off x="6272784" y="1828800"/>
            <a:ext cx="384048" cy="320040"/>
          </a:xfrm>
          <a:prstGeom prst="roundRect">
            <a:avLst>
              <a:gd name="adj" fmla="val 22857"/>
            </a:avLst>
          </a:prstGeom>
          <a:solidFill>
            <a:srgbClr val="173F35"/>
          </a:solidFill>
          <a:ln w="12700">
            <a:solidFill>
              <a:srgbClr val="173F35"/>
            </a:solidFill>
            <a:prstDash val="solid"/>
          </a:ln>
        </p:spPr>
      </p:sp>
      <p:sp>
        <p:nvSpPr>
          <p:cNvPr id="18" name="Text 16"/>
          <p:cNvSpPr txBox="1"/>
          <p:nvPr/>
        </p:nvSpPr>
        <p:spPr>
          <a:xfrm>
            <a:off x="6272784" y="1828800"/>
            <a:ext cx="384048" cy="32004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6766560" y="1810512"/>
            <a:ext cx="1399032" cy="274320"/>
          </a:xfrm>
          <a:prstGeom prst="rect">
            <a:avLst/>
          </a:prstGeom>
          <a:noFill/>
          <a:ln/>
        </p:spPr>
        <p:txBody>
          <a:bodyPr wrap="square" lIns="0" tIns="0" rIns="0" bIns="0" rtlCol="0" anchor="ctr">
            <a:normAutofit/>
          </a:bodyPr>
          <a:lstStyle/>
          <a:p>
            <a:pPr algn="l" indent="0" marL="0">
              <a:buNone/>
            </a:pPr>
            <a:r>
              <a:rPr lang="en-US" sz="1400" b="1" dirty="0">
                <a:solidFill>
                  <a:srgbClr val="17211E"/>
                </a:solidFill>
                <a:latin typeface="Calibri" pitchFamily="34" charset="0"/>
                <a:ea typeface="Calibri" pitchFamily="34" charset="-122"/>
                <a:cs typeface="Calibri" pitchFamily="34" charset="-120"/>
              </a:rPr>
              <a:t>WRITE</a:t>
            </a:r>
            <a:endParaRPr lang="en-US" sz="1400" dirty="0"/>
          </a:p>
        </p:txBody>
      </p:sp>
      <p:sp>
        <p:nvSpPr>
          <p:cNvPr id="20" name="Text 18"/>
          <p:cNvSpPr txBox="1"/>
          <p:nvPr/>
        </p:nvSpPr>
        <p:spPr>
          <a:xfrm>
            <a:off x="6272784" y="2267712"/>
            <a:ext cx="1874520" cy="256032"/>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data · quarantine · logs</a:t>
            </a:r>
            <a:endParaRPr lang="en-US" sz="1100" dirty="0"/>
          </a:p>
        </p:txBody>
      </p:sp>
      <p:sp>
        <p:nvSpPr>
          <p:cNvPr id="21" name="Shape 19"/>
          <p:cNvSpPr/>
          <p:nvPr/>
        </p:nvSpPr>
        <p:spPr>
          <a:xfrm>
            <a:off x="8403336" y="2157984"/>
            <a:ext cx="402336" cy="0"/>
          </a:xfrm>
          <a:prstGeom prst="line">
            <a:avLst/>
          </a:prstGeom>
          <a:noFill/>
          <a:ln w="25400">
            <a:solidFill>
              <a:srgbClr val="55B99A"/>
            </a:solidFill>
            <a:prstDash val="solid"/>
            <a:tailEnd type="triangle"/>
          </a:ln>
        </p:spPr>
      </p:sp>
      <p:sp>
        <p:nvSpPr>
          <p:cNvPr id="22" name="Shape 20"/>
          <p:cNvSpPr/>
          <p:nvPr/>
        </p:nvSpPr>
        <p:spPr>
          <a:xfrm>
            <a:off x="8906256" y="1645920"/>
            <a:ext cx="2221992" cy="1024128"/>
          </a:xfrm>
          <a:prstGeom prst="roundRect">
            <a:avLst>
              <a:gd name="adj" fmla="val 8929"/>
            </a:avLst>
          </a:prstGeom>
          <a:solidFill>
            <a:srgbClr val="F4F8F6"/>
          </a:solidFill>
          <a:ln w="12700">
            <a:solidFill>
              <a:srgbClr val="B9CCC5"/>
            </a:solidFill>
            <a:prstDash val="solid"/>
          </a:ln>
        </p:spPr>
      </p:sp>
      <p:sp>
        <p:nvSpPr>
          <p:cNvPr id="23" name="Shape 21"/>
          <p:cNvSpPr/>
          <p:nvPr/>
        </p:nvSpPr>
        <p:spPr>
          <a:xfrm>
            <a:off x="9052560" y="1828800"/>
            <a:ext cx="384048" cy="320040"/>
          </a:xfrm>
          <a:prstGeom prst="roundRect">
            <a:avLst>
              <a:gd name="adj" fmla="val 22857"/>
            </a:avLst>
          </a:prstGeom>
          <a:solidFill>
            <a:srgbClr val="173F35"/>
          </a:solidFill>
          <a:ln w="12700">
            <a:solidFill>
              <a:srgbClr val="173F35"/>
            </a:solidFill>
            <a:prstDash val="solid"/>
          </a:ln>
        </p:spPr>
      </p:sp>
      <p:sp>
        <p:nvSpPr>
          <p:cNvPr id="24" name="Text 22"/>
          <p:cNvSpPr txBox="1"/>
          <p:nvPr/>
        </p:nvSpPr>
        <p:spPr>
          <a:xfrm>
            <a:off x="9052560" y="1828800"/>
            <a:ext cx="384048" cy="32004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9546336" y="1810512"/>
            <a:ext cx="1399032" cy="274320"/>
          </a:xfrm>
          <a:prstGeom prst="rect">
            <a:avLst/>
          </a:prstGeom>
          <a:noFill/>
          <a:ln/>
        </p:spPr>
        <p:txBody>
          <a:bodyPr wrap="square" lIns="0" tIns="0" rIns="0" bIns="0" rtlCol="0" anchor="ctr">
            <a:normAutofit/>
          </a:bodyPr>
          <a:lstStyle/>
          <a:p>
            <a:pPr algn="l" indent="0" marL="0">
              <a:buNone/>
            </a:pPr>
            <a:r>
              <a:rPr lang="en-US" sz="1400" b="1" dirty="0">
                <a:solidFill>
                  <a:srgbClr val="17211E"/>
                </a:solidFill>
                <a:latin typeface="Calibri" pitchFamily="34" charset="0"/>
                <a:ea typeface="Calibri" pitchFamily="34" charset="-122"/>
                <a:cs typeface="Calibri" pitchFamily="34" charset="-120"/>
              </a:rPr>
              <a:t>DESCRIBE</a:t>
            </a:r>
            <a:endParaRPr lang="en-US" sz="1400" dirty="0"/>
          </a:p>
        </p:txBody>
      </p:sp>
      <p:sp>
        <p:nvSpPr>
          <p:cNvPr id="26" name="Text 24"/>
          <p:cNvSpPr txBox="1"/>
          <p:nvPr/>
        </p:nvSpPr>
        <p:spPr>
          <a:xfrm>
            <a:off x="9052560" y="2267712"/>
            <a:ext cx="1874520" cy="256032"/>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generate model.json</a:t>
            </a:r>
            <a:endParaRPr lang="en-US" sz="1100" dirty="0"/>
          </a:p>
        </p:txBody>
      </p:sp>
      <p:sp>
        <p:nvSpPr>
          <p:cNvPr id="27" name="Text 25"/>
          <p:cNvSpPr txBox="1"/>
          <p:nvPr/>
        </p:nvSpPr>
        <p:spPr>
          <a:xfrm>
            <a:off x="640080" y="3108960"/>
            <a:ext cx="1920240" cy="274320"/>
          </a:xfrm>
          <a:prstGeom prst="rect">
            <a:avLst/>
          </a:prstGeom>
          <a:noFill/>
          <a:ln/>
        </p:spPr>
        <p:txBody>
          <a:bodyPr wrap="square" lIns="0" tIns="0" rIns="0" bIns="0" rtlCol="0" anchor="ctr">
            <a:normAutofit/>
          </a:bodyPr>
          <a:lstStyle/>
          <a:p>
            <a:pPr algn="l" indent="0" marL="0">
              <a:buNone/>
            </a:pPr>
            <a:r>
              <a:rPr lang="en-US" sz="1500" b="1" dirty="0">
                <a:solidFill>
                  <a:srgbClr val="5E6C67"/>
                </a:solidFill>
                <a:latin typeface="Calibri" pitchFamily="34" charset="0"/>
                <a:ea typeface="Calibri" pitchFamily="34" charset="-122"/>
                <a:cs typeface="Calibri" pitchFamily="34" charset="-120"/>
              </a:rPr>
              <a:t>raw_customers.csv</a:t>
            </a:r>
            <a:endParaRPr lang="en-US" sz="1500" dirty="0"/>
          </a:p>
        </p:txBody>
      </p:sp>
      <p:sp>
        <p:nvSpPr>
          <p:cNvPr id="28" name="Text 26"/>
          <p:cNvSpPr txBox="1"/>
          <p:nvPr/>
        </p:nvSpPr>
        <p:spPr>
          <a:xfrm>
            <a:off x="9189720" y="3108960"/>
            <a:ext cx="1737360" cy="274320"/>
          </a:xfrm>
          <a:prstGeom prst="rect">
            <a:avLst/>
          </a:prstGeom>
          <a:noFill/>
          <a:ln/>
        </p:spPr>
        <p:txBody>
          <a:bodyPr wrap="square" lIns="0" tIns="0" rIns="0" bIns="0" rtlCol="0" anchor="ctr">
            <a:normAutofit/>
          </a:bodyPr>
          <a:lstStyle/>
          <a:p>
            <a:pPr algn="l" indent="0" marL="0">
              <a:buNone/>
            </a:pPr>
            <a:r>
              <a:rPr lang="en-US" sz="1500" b="1" dirty="0">
                <a:solidFill>
                  <a:srgbClr val="173F35"/>
                </a:solidFill>
                <a:latin typeface="Calibri" pitchFamily="34" charset="0"/>
                <a:ea typeface="Calibri" pitchFamily="34" charset="-122"/>
                <a:cs typeface="Calibri" pitchFamily="34" charset="-120"/>
              </a:rPr>
              <a:t>Contact</a:t>
            </a:r>
            <a:endParaRPr lang="en-US" sz="1500" dirty="0"/>
          </a:p>
        </p:txBody>
      </p:sp>
      <p:sp>
        <p:nvSpPr>
          <p:cNvPr id="29" name="Shape 27"/>
          <p:cNvSpPr/>
          <p:nvPr/>
        </p:nvSpPr>
        <p:spPr>
          <a:xfrm>
            <a:off x="640080" y="3547872"/>
            <a:ext cx="1874520" cy="347472"/>
          </a:xfrm>
          <a:prstGeom prst="roundRect">
            <a:avLst>
              <a:gd name="adj" fmla="val 26316"/>
            </a:avLst>
          </a:prstGeom>
          <a:solidFill>
            <a:srgbClr val="FFFFFF"/>
          </a:solidFill>
          <a:ln w="12700">
            <a:solidFill>
              <a:srgbClr val="B9CCC5"/>
            </a:solidFill>
            <a:prstDash val="solid"/>
          </a:ln>
        </p:spPr>
      </p:sp>
      <p:sp>
        <p:nvSpPr>
          <p:cNvPr id="30" name="Text 28"/>
          <p:cNvSpPr txBox="1"/>
          <p:nvPr/>
        </p:nvSpPr>
        <p:spPr>
          <a:xfrm>
            <a:off x="749808" y="3547872"/>
            <a:ext cx="1655064" cy="347472"/>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full_name</a:t>
            </a:r>
            <a:endParaRPr lang="en-US" sz="1200" dirty="0"/>
          </a:p>
        </p:txBody>
      </p:sp>
      <p:sp>
        <p:nvSpPr>
          <p:cNvPr id="31" name="Shape 29"/>
          <p:cNvSpPr/>
          <p:nvPr/>
        </p:nvSpPr>
        <p:spPr>
          <a:xfrm>
            <a:off x="9189720" y="3547872"/>
            <a:ext cx="2258568" cy="347472"/>
          </a:xfrm>
          <a:prstGeom prst="roundRect">
            <a:avLst>
              <a:gd name="adj" fmla="val 26316"/>
            </a:avLst>
          </a:prstGeom>
          <a:solidFill>
            <a:srgbClr val="E7F4EF"/>
          </a:solidFill>
          <a:ln w="12700">
            <a:solidFill>
              <a:srgbClr val="55B99A"/>
            </a:solidFill>
            <a:prstDash val="solid"/>
          </a:ln>
        </p:spPr>
      </p:sp>
      <p:sp>
        <p:nvSpPr>
          <p:cNvPr id="32" name="Text 30"/>
          <p:cNvSpPr txBox="1"/>
          <p:nvPr/>
        </p:nvSpPr>
        <p:spPr>
          <a:xfrm>
            <a:off x="9299448" y="3547872"/>
            <a:ext cx="2039112" cy="347472"/>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firstname + lastname</a:t>
            </a:r>
            <a:endParaRPr lang="en-US" sz="1200" dirty="0"/>
          </a:p>
        </p:txBody>
      </p:sp>
      <p:sp>
        <p:nvSpPr>
          <p:cNvPr id="33" name="Shape 31"/>
          <p:cNvSpPr/>
          <p:nvPr/>
        </p:nvSpPr>
        <p:spPr>
          <a:xfrm>
            <a:off x="2642616" y="3721608"/>
            <a:ext cx="6391656" cy="0"/>
          </a:xfrm>
          <a:prstGeom prst="line">
            <a:avLst/>
          </a:prstGeom>
          <a:noFill/>
          <a:ln w="25400">
            <a:solidFill>
              <a:srgbClr val="55B99A"/>
            </a:solidFill>
            <a:prstDash val="solid"/>
            <a:tailEnd type="triangle"/>
          </a:ln>
        </p:spPr>
      </p:sp>
      <p:sp>
        <p:nvSpPr>
          <p:cNvPr id="34" name="Shape 32"/>
          <p:cNvSpPr/>
          <p:nvPr/>
        </p:nvSpPr>
        <p:spPr>
          <a:xfrm>
            <a:off x="4389120" y="3561588"/>
            <a:ext cx="2907792" cy="320040"/>
          </a:xfrm>
          <a:prstGeom prst="roundRect">
            <a:avLst>
              <a:gd name="adj" fmla="val 22857"/>
            </a:avLst>
          </a:prstGeom>
          <a:solidFill>
            <a:srgbClr val="E7F4EF"/>
          </a:solidFill>
          <a:ln w="12700">
            <a:solidFill>
              <a:srgbClr val="E7F4EF"/>
            </a:solidFill>
            <a:prstDash val="solid"/>
          </a:ln>
        </p:spPr>
      </p:sp>
      <p:sp>
        <p:nvSpPr>
          <p:cNvPr id="35" name="Text 33"/>
          <p:cNvSpPr txBox="1"/>
          <p:nvPr/>
        </p:nvSpPr>
        <p:spPr>
          <a:xfrm>
            <a:off x="4389120" y="3561588"/>
            <a:ext cx="2907792"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split first word / rest</a:t>
            </a:r>
            <a:endParaRPr lang="en-US" sz="1100" dirty="0"/>
          </a:p>
        </p:txBody>
      </p:sp>
      <p:sp>
        <p:nvSpPr>
          <p:cNvPr id="36" name="Shape 34"/>
          <p:cNvSpPr/>
          <p:nvPr/>
        </p:nvSpPr>
        <p:spPr>
          <a:xfrm>
            <a:off x="640080" y="4114800"/>
            <a:ext cx="1874520" cy="347472"/>
          </a:xfrm>
          <a:prstGeom prst="roundRect">
            <a:avLst>
              <a:gd name="adj" fmla="val 26316"/>
            </a:avLst>
          </a:prstGeom>
          <a:solidFill>
            <a:srgbClr val="FFFFFF"/>
          </a:solidFill>
          <a:ln w="12700">
            <a:solidFill>
              <a:srgbClr val="B9CCC5"/>
            </a:solidFill>
            <a:prstDash val="solid"/>
          </a:ln>
        </p:spPr>
      </p:sp>
      <p:sp>
        <p:nvSpPr>
          <p:cNvPr id="37" name="Text 35"/>
          <p:cNvSpPr txBox="1"/>
          <p:nvPr/>
        </p:nvSpPr>
        <p:spPr>
          <a:xfrm>
            <a:off x="749808" y="4114800"/>
            <a:ext cx="1655064" cy="347472"/>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email_addr</a:t>
            </a:r>
            <a:endParaRPr lang="en-US" sz="1200" dirty="0"/>
          </a:p>
        </p:txBody>
      </p:sp>
      <p:sp>
        <p:nvSpPr>
          <p:cNvPr id="38" name="Shape 36"/>
          <p:cNvSpPr/>
          <p:nvPr/>
        </p:nvSpPr>
        <p:spPr>
          <a:xfrm>
            <a:off x="9189720" y="4114800"/>
            <a:ext cx="2258568" cy="347472"/>
          </a:xfrm>
          <a:prstGeom prst="roundRect">
            <a:avLst>
              <a:gd name="adj" fmla="val 26316"/>
            </a:avLst>
          </a:prstGeom>
          <a:solidFill>
            <a:srgbClr val="E7F4EF"/>
          </a:solidFill>
          <a:ln w="12700">
            <a:solidFill>
              <a:srgbClr val="55B99A"/>
            </a:solidFill>
            <a:prstDash val="solid"/>
          </a:ln>
        </p:spPr>
      </p:sp>
      <p:sp>
        <p:nvSpPr>
          <p:cNvPr id="39" name="Text 37"/>
          <p:cNvSpPr txBox="1"/>
          <p:nvPr/>
        </p:nvSpPr>
        <p:spPr>
          <a:xfrm>
            <a:off x="9299448" y="4114800"/>
            <a:ext cx="2039112" cy="347472"/>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emailaddress1</a:t>
            </a:r>
            <a:endParaRPr lang="en-US" sz="1200" dirty="0"/>
          </a:p>
        </p:txBody>
      </p:sp>
      <p:sp>
        <p:nvSpPr>
          <p:cNvPr id="40" name="Shape 38"/>
          <p:cNvSpPr/>
          <p:nvPr/>
        </p:nvSpPr>
        <p:spPr>
          <a:xfrm>
            <a:off x="2642616" y="4288536"/>
            <a:ext cx="6391656" cy="0"/>
          </a:xfrm>
          <a:prstGeom prst="line">
            <a:avLst/>
          </a:prstGeom>
          <a:noFill/>
          <a:ln w="25400">
            <a:solidFill>
              <a:srgbClr val="55B99A"/>
            </a:solidFill>
            <a:prstDash val="solid"/>
            <a:tailEnd type="triangle"/>
          </a:ln>
        </p:spPr>
      </p:sp>
      <p:sp>
        <p:nvSpPr>
          <p:cNvPr id="41" name="Shape 39"/>
          <p:cNvSpPr/>
          <p:nvPr/>
        </p:nvSpPr>
        <p:spPr>
          <a:xfrm>
            <a:off x="4389120" y="4128516"/>
            <a:ext cx="2907792" cy="320040"/>
          </a:xfrm>
          <a:prstGeom prst="roundRect">
            <a:avLst>
              <a:gd name="adj" fmla="val 22857"/>
            </a:avLst>
          </a:prstGeom>
          <a:solidFill>
            <a:srgbClr val="E7F4EF"/>
          </a:solidFill>
          <a:ln w="12700">
            <a:solidFill>
              <a:srgbClr val="E7F4EF"/>
            </a:solidFill>
            <a:prstDash val="solid"/>
          </a:ln>
        </p:spPr>
      </p:sp>
      <p:sp>
        <p:nvSpPr>
          <p:cNvPr id="42" name="Text 40"/>
          <p:cNvSpPr txBox="1"/>
          <p:nvPr/>
        </p:nvSpPr>
        <p:spPr>
          <a:xfrm>
            <a:off x="4389120" y="4128516"/>
            <a:ext cx="2907792"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lowercase · invalid empty</a:t>
            </a:r>
            <a:endParaRPr lang="en-US" sz="1100" dirty="0"/>
          </a:p>
        </p:txBody>
      </p:sp>
      <p:sp>
        <p:nvSpPr>
          <p:cNvPr id="43" name="Shape 41"/>
          <p:cNvSpPr/>
          <p:nvPr/>
        </p:nvSpPr>
        <p:spPr>
          <a:xfrm>
            <a:off x="640080" y="4681728"/>
            <a:ext cx="1874520" cy="347472"/>
          </a:xfrm>
          <a:prstGeom prst="roundRect">
            <a:avLst>
              <a:gd name="adj" fmla="val 26316"/>
            </a:avLst>
          </a:prstGeom>
          <a:solidFill>
            <a:srgbClr val="FFFFFF"/>
          </a:solidFill>
          <a:ln w="12700">
            <a:solidFill>
              <a:srgbClr val="B9CCC5"/>
            </a:solidFill>
            <a:prstDash val="solid"/>
          </a:ln>
        </p:spPr>
      </p:sp>
      <p:sp>
        <p:nvSpPr>
          <p:cNvPr id="44" name="Text 42"/>
          <p:cNvSpPr txBox="1"/>
          <p:nvPr/>
        </p:nvSpPr>
        <p:spPr>
          <a:xfrm>
            <a:off x="749808" y="4681728"/>
            <a:ext cx="1655064" cy="347472"/>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signup_date</a:t>
            </a:r>
            <a:endParaRPr lang="en-US" sz="1200" dirty="0"/>
          </a:p>
        </p:txBody>
      </p:sp>
      <p:sp>
        <p:nvSpPr>
          <p:cNvPr id="45" name="Shape 43"/>
          <p:cNvSpPr/>
          <p:nvPr/>
        </p:nvSpPr>
        <p:spPr>
          <a:xfrm>
            <a:off x="9189720" y="4681728"/>
            <a:ext cx="2258568" cy="347472"/>
          </a:xfrm>
          <a:prstGeom prst="roundRect">
            <a:avLst>
              <a:gd name="adj" fmla="val 26316"/>
            </a:avLst>
          </a:prstGeom>
          <a:solidFill>
            <a:srgbClr val="E7F4EF"/>
          </a:solidFill>
          <a:ln w="12700">
            <a:solidFill>
              <a:srgbClr val="55B99A"/>
            </a:solidFill>
            <a:prstDash val="solid"/>
          </a:ln>
        </p:spPr>
      </p:sp>
      <p:sp>
        <p:nvSpPr>
          <p:cNvPr id="46" name="Text 44"/>
          <p:cNvSpPr txBox="1"/>
          <p:nvPr/>
        </p:nvSpPr>
        <p:spPr>
          <a:xfrm>
            <a:off x="9299448" y="4681728"/>
            <a:ext cx="2039112" cy="347472"/>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createdon</a:t>
            </a:r>
            <a:endParaRPr lang="en-US" sz="1200" dirty="0"/>
          </a:p>
        </p:txBody>
      </p:sp>
      <p:sp>
        <p:nvSpPr>
          <p:cNvPr id="47" name="Shape 45"/>
          <p:cNvSpPr/>
          <p:nvPr/>
        </p:nvSpPr>
        <p:spPr>
          <a:xfrm>
            <a:off x="2642616" y="4855464"/>
            <a:ext cx="6391656" cy="0"/>
          </a:xfrm>
          <a:prstGeom prst="line">
            <a:avLst/>
          </a:prstGeom>
          <a:noFill/>
          <a:ln w="25400">
            <a:solidFill>
              <a:srgbClr val="F2C14E"/>
            </a:solidFill>
            <a:prstDash val="solid"/>
            <a:tailEnd type="triangle"/>
          </a:ln>
        </p:spPr>
      </p:sp>
      <p:sp>
        <p:nvSpPr>
          <p:cNvPr id="48" name="Shape 46"/>
          <p:cNvSpPr/>
          <p:nvPr/>
        </p:nvSpPr>
        <p:spPr>
          <a:xfrm>
            <a:off x="4389120" y="4695444"/>
            <a:ext cx="2907792" cy="320040"/>
          </a:xfrm>
          <a:prstGeom prst="roundRect">
            <a:avLst>
              <a:gd name="adj" fmla="val 22857"/>
            </a:avLst>
          </a:prstGeom>
          <a:solidFill>
            <a:srgbClr val="FFF5D9"/>
          </a:solidFill>
          <a:ln w="12700">
            <a:solidFill>
              <a:srgbClr val="FFF5D9"/>
            </a:solidFill>
            <a:prstDash val="solid"/>
          </a:ln>
        </p:spPr>
      </p:sp>
      <p:sp>
        <p:nvSpPr>
          <p:cNvPr id="49" name="Text 47"/>
          <p:cNvSpPr txBox="1"/>
          <p:nvPr/>
        </p:nvSpPr>
        <p:spPr>
          <a:xfrm>
            <a:off x="4389120" y="4695444"/>
            <a:ext cx="2907792" cy="320040"/>
          </a:xfrm>
          <a:prstGeom prst="rect">
            <a:avLst/>
          </a:prstGeom>
          <a:noFill/>
          <a:ln/>
        </p:spPr>
        <p:txBody>
          <a:bodyPr wrap="square" lIns="0" tIns="0" rIns="0" bIns="0" rtlCol="0" anchor="ctr">
            <a:normAutofit/>
          </a:bodyPr>
          <a:lstStyle/>
          <a:p>
            <a:pPr algn="ctr" indent="0" marL="0">
              <a:buNone/>
            </a:pPr>
            <a:r>
              <a:rPr lang="en-US" sz="1100" b="1" dirty="0">
                <a:solidFill>
                  <a:srgbClr val="102F29"/>
                </a:solidFill>
                <a:latin typeface="Calibri" pitchFamily="34" charset="0"/>
                <a:ea typeface="Calibri" pitchFamily="34" charset="-122"/>
                <a:cs typeface="Calibri" pitchFamily="34" charset="-120"/>
              </a:rPr>
              <a:t>UTC YYYY-MM-DDTHH:MM:SSZ</a:t>
            </a:r>
            <a:endParaRPr lang="en-US" sz="1100" dirty="0"/>
          </a:p>
        </p:txBody>
      </p:sp>
      <p:sp>
        <p:nvSpPr>
          <p:cNvPr id="50" name="Shape 48"/>
          <p:cNvSpPr/>
          <p:nvPr/>
        </p:nvSpPr>
        <p:spPr>
          <a:xfrm>
            <a:off x="640080" y="5248656"/>
            <a:ext cx="1874520" cy="347472"/>
          </a:xfrm>
          <a:prstGeom prst="roundRect">
            <a:avLst>
              <a:gd name="adj" fmla="val 26316"/>
            </a:avLst>
          </a:prstGeom>
          <a:solidFill>
            <a:srgbClr val="FFFFFF"/>
          </a:solidFill>
          <a:ln w="12700">
            <a:solidFill>
              <a:srgbClr val="B9CCC5"/>
            </a:solidFill>
            <a:prstDash val="solid"/>
          </a:ln>
        </p:spPr>
      </p:sp>
      <p:sp>
        <p:nvSpPr>
          <p:cNvPr id="51" name="Text 49"/>
          <p:cNvSpPr txBox="1"/>
          <p:nvPr/>
        </p:nvSpPr>
        <p:spPr>
          <a:xfrm>
            <a:off x="749808" y="5248656"/>
            <a:ext cx="1655064" cy="347472"/>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user_status</a:t>
            </a:r>
            <a:endParaRPr lang="en-US" sz="1200" dirty="0"/>
          </a:p>
        </p:txBody>
      </p:sp>
      <p:sp>
        <p:nvSpPr>
          <p:cNvPr id="52" name="Shape 50"/>
          <p:cNvSpPr/>
          <p:nvPr/>
        </p:nvSpPr>
        <p:spPr>
          <a:xfrm>
            <a:off x="9189720" y="5248656"/>
            <a:ext cx="2258568" cy="347472"/>
          </a:xfrm>
          <a:prstGeom prst="roundRect">
            <a:avLst>
              <a:gd name="adj" fmla="val 26316"/>
            </a:avLst>
          </a:prstGeom>
          <a:solidFill>
            <a:srgbClr val="E7F4EF"/>
          </a:solidFill>
          <a:ln w="12700">
            <a:solidFill>
              <a:srgbClr val="55B99A"/>
            </a:solidFill>
            <a:prstDash val="solid"/>
          </a:ln>
        </p:spPr>
      </p:sp>
      <p:sp>
        <p:nvSpPr>
          <p:cNvPr id="53" name="Text 51"/>
          <p:cNvSpPr txBox="1"/>
          <p:nvPr/>
        </p:nvSpPr>
        <p:spPr>
          <a:xfrm>
            <a:off x="9299448" y="5248656"/>
            <a:ext cx="2039112" cy="347472"/>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statecode</a:t>
            </a:r>
            <a:endParaRPr lang="en-US" sz="1200" dirty="0"/>
          </a:p>
        </p:txBody>
      </p:sp>
      <p:sp>
        <p:nvSpPr>
          <p:cNvPr id="54" name="Shape 52"/>
          <p:cNvSpPr/>
          <p:nvPr/>
        </p:nvSpPr>
        <p:spPr>
          <a:xfrm>
            <a:off x="2642616" y="5422392"/>
            <a:ext cx="6391656" cy="0"/>
          </a:xfrm>
          <a:prstGeom prst="line">
            <a:avLst/>
          </a:prstGeom>
          <a:noFill/>
          <a:ln w="25400">
            <a:solidFill>
              <a:srgbClr val="55B99A"/>
            </a:solidFill>
            <a:prstDash val="solid"/>
            <a:tailEnd type="triangle"/>
          </a:ln>
        </p:spPr>
      </p:sp>
      <p:sp>
        <p:nvSpPr>
          <p:cNvPr id="55" name="Shape 53"/>
          <p:cNvSpPr/>
          <p:nvPr/>
        </p:nvSpPr>
        <p:spPr>
          <a:xfrm>
            <a:off x="4389120" y="5262372"/>
            <a:ext cx="2907792" cy="320040"/>
          </a:xfrm>
          <a:prstGeom prst="roundRect">
            <a:avLst>
              <a:gd name="adj" fmla="val 22857"/>
            </a:avLst>
          </a:prstGeom>
          <a:solidFill>
            <a:srgbClr val="E7F4EF"/>
          </a:solidFill>
          <a:ln w="12700">
            <a:solidFill>
              <a:srgbClr val="E7F4EF"/>
            </a:solidFill>
            <a:prstDash val="solid"/>
          </a:ln>
        </p:spPr>
      </p:sp>
      <p:sp>
        <p:nvSpPr>
          <p:cNvPr id="56" name="Text 54"/>
          <p:cNvSpPr txBox="1"/>
          <p:nvPr/>
        </p:nvSpPr>
        <p:spPr>
          <a:xfrm>
            <a:off x="4389120" y="5262372"/>
            <a:ext cx="2907792"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active 0 · inactive 1</a:t>
            </a:r>
            <a:endParaRPr lang="en-US" sz="1100" dirty="0"/>
          </a:p>
        </p:txBody>
      </p:sp>
      <p:sp>
        <p:nvSpPr>
          <p:cNvPr id="57" name="Shape 55"/>
          <p:cNvSpPr/>
          <p:nvPr/>
        </p:nvSpPr>
        <p:spPr>
          <a:xfrm>
            <a:off x="658368" y="6016752"/>
            <a:ext cx="749808" cy="320040"/>
          </a:xfrm>
          <a:prstGeom prst="roundRect">
            <a:avLst>
              <a:gd name="adj" fmla="val 22857"/>
            </a:avLst>
          </a:prstGeom>
          <a:solidFill>
            <a:srgbClr val="E7F4EF"/>
          </a:solidFill>
          <a:ln w="12700">
            <a:solidFill>
              <a:srgbClr val="E7F4EF"/>
            </a:solidFill>
            <a:prstDash val="solid"/>
          </a:ln>
        </p:spPr>
      </p:sp>
      <p:sp>
        <p:nvSpPr>
          <p:cNvPr id="58" name="Text 56"/>
          <p:cNvSpPr txBox="1"/>
          <p:nvPr/>
        </p:nvSpPr>
        <p:spPr>
          <a:xfrm>
            <a:off x="658368" y="6016752"/>
            <a:ext cx="749808"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AUTO</a:t>
            </a:r>
            <a:endParaRPr lang="en-US" sz="1100" dirty="0"/>
          </a:p>
        </p:txBody>
      </p:sp>
      <p:sp>
        <p:nvSpPr>
          <p:cNvPr id="59" name="Text 57"/>
          <p:cNvSpPr txBox="1"/>
          <p:nvPr/>
        </p:nvSpPr>
        <p:spPr>
          <a:xfrm>
            <a:off x="1517904" y="6016752"/>
            <a:ext cx="1005840" cy="320040"/>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one command</a:t>
            </a:r>
            <a:endParaRPr lang="en-US" sz="1100" dirty="0"/>
          </a:p>
        </p:txBody>
      </p:sp>
      <p:sp>
        <p:nvSpPr>
          <p:cNvPr id="60" name="Shape 58"/>
          <p:cNvSpPr/>
          <p:nvPr/>
        </p:nvSpPr>
        <p:spPr>
          <a:xfrm>
            <a:off x="2807208" y="6016752"/>
            <a:ext cx="859536" cy="320040"/>
          </a:xfrm>
          <a:prstGeom prst="roundRect">
            <a:avLst>
              <a:gd name="adj" fmla="val 22857"/>
            </a:avLst>
          </a:prstGeom>
          <a:solidFill>
            <a:srgbClr val="FFF5D9"/>
          </a:solidFill>
          <a:ln w="12700">
            <a:solidFill>
              <a:srgbClr val="FFF5D9"/>
            </a:solidFill>
            <a:prstDash val="solid"/>
          </a:ln>
        </p:spPr>
      </p:sp>
      <p:sp>
        <p:nvSpPr>
          <p:cNvPr id="61" name="Text 59"/>
          <p:cNvSpPr txBox="1"/>
          <p:nvPr/>
        </p:nvSpPr>
        <p:spPr>
          <a:xfrm>
            <a:off x="2807208" y="6016752"/>
            <a:ext cx="859536" cy="320040"/>
          </a:xfrm>
          <a:prstGeom prst="rect">
            <a:avLst/>
          </a:prstGeom>
          <a:noFill/>
          <a:ln/>
        </p:spPr>
        <p:txBody>
          <a:bodyPr wrap="square" lIns="0" tIns="0" rIns="0" bIns="0" rtlCol="0" anchor="ctr">
            <a:normAutofit/>
          </a:bodyPr>
          <a:lstStyle/>
          <a:p>
            <a:pPr algn="ctr" indent="0" marL="0">
              <a:buNone/>
            </a:pPr>
            <a:r>
              <a:rPr lang="en-US" sz="1100" b="1" dirty="0">
                <a:solidFill>
                  <a:srgbClr val="102F29"/>
                </a:solidFill>
                <a:latin typeface="Calibri" pitchFamily="34" charset="0"/>
                <a:ea typeface="Calibri" pitchFamily="34" charset="-122"/>
                <a:cs typeface="Calibri" pitchFamily="34" charset="-120"/>
              </a:rPr>
              <a:t>MODEL</a:t>
            </a:r>
            <a:endParaRPr lang="en-US" sz="1100" dirty="0"/>
          </a:p>
        </p:txBody>
      </p:sp>
      <p:sp>
        <p:nvSpPr>
          <p:cNvPr id="62" name="Text 60"/>
          <p:cNvSpPr txBox="1"/>
          <p:nvPr/>
        </p:nvSpPr>
        <p:spPr>
          <a:xfrm>
            <a:off x="3776472" y="6016752"/>
            <a:ext cx="1353312" cy="320040"/>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single schema source</a:t>
            </a:r>
            <a:endParaRPr lang="en-US" sz="1100" dirty="0"/>
          </a:p>
        </p:txBody>
      </p:sp>
      <p:sp>
        <p:nvSpPr>
          <p:cNvPr id="63" name="Shape 61"/>
          <p:cNvSpPr/>
          <p:nvPr/>
        </p:nvSpPr>
        <p:spPr>
          <a:xfrm>
            <a:off x="5431536" y="6016752"/>
            <a:ext cx="896112" cy="320040"/>
          </a:xfrm>
          <a:prstGeom prst="roundRect">
            <a:avLst>
              <a:gd name="adj" fmla="val 22857"/>
            </a:avLst>
          </a:prstGeom>
          <a:solidFill>
            <a:srgbClr val="EDEFF5"/>
          </a:solidFill>
          <a:ln w="12700">
            <a:solidFill>
              <a:srgbClr val="EDEFF5"/>
            </a:solidFill>
            <a:prstDash val="solid"/>
          </a:ln>
        </p:spPr>
      </p:sp>
      <p:sp>
        <p:nvSpPr>
          <p:cNvPr id="64" name="Text 62"/>
          <p:cNvSpPr txBox="1"/>
          <p:nvPr/>
        </p:nvSpPr>
        <p:spPr>
          <a:xfrm>
            <a:off x="5431536" y="6016752"/>
            <a:ext cx="896112" cy="320040"/>
          </a:xfrm>
          <a:prstGeom prst="rect">
            <a:avLst/>
          </a:prstGeom>
          <a:noFill/>
          <a:ln/>
        </p:spPr>
        <p:txBody>
          <a:bodyPr wrap="square" lIns="0" tIns="0" rIns="0" bIns="0" rtlCol="0" anchor="ctr">
            <a:normAutofit/>
          </a:bodyPr>
          <a:lstStyle/>
          <a:p>
            <a:pPr algn="ctr" indent="0" marL="0">
              <a:buNone/>
            </a:pPr>
            <a:r>
              <a:rPr lang="en-US" sz="1100" b="1" dirty="0">
                <a:solidFill>
                  <a:srgbClr val="46506A"/>
                </a:solidFill>
                <a:latin typeface="Calibri" pitchFamily="34" charset="0"/>
                <a:ea typeface="Calibri" pitchFamily="34" charset="-122"/>
                <a:cs typeface="Calibri" pitchFamily="34" charset="-120"/>
              </a:rPr>
              <a:t>PEOPLE</a:t>
            </a:r>
            <a:endParaRPr lang="en-US" sz="1100" dirty="0"/>
          </a:p>
        </p:txBody>
      </p:sp>
      <p:sp>
        <p:nvSpPr>
          <p:cNvPr id="65" name="Text 63"/>
          <p:cNvSpPr txBox="1"/>
          <p:nvPr/>
        </p:nvSpPr>
        <p:spPr>
          <a:xfrm>
            <a:off x="6437376" y="6016752"/>
            <a:ext cx="1188720" cy="320040"/>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logs + reasons</a:t>
            </a:r>
            <a:endParaRPr lang="en-US" sz="1100" dirty="0"/>
          </a:p>
        </p:txBody>
      </p:sp>
      <p:sp>
        <p:nvSpPr>
          <p:cNvPr id="66" name="Text 64"/>
          <p:cNvSpPr txBox="1"/>
          <p:nvPr/>
        </p:nvSpPr>
        <p:spPr>
          <a:xfrm>
            <a:off x="8961120" y="5998464"/>
            <a:ext cx="2331720" cy="338328"/>
          </a:xfrm>
          <a:prstGeom prst="rect">
            <a:avLst/>
          </a:prstGeom>
          <a:noFill/>
          <a:ln/>
        </p:spPr>
        <p:txBody>
          <a:bodyPr wrap="square" lIns="0" tIns="0" rIns="0" bIns="0" rtlCol="0" anchor="ctr">
            <a:normAutofit/>
          </a:bodyPr>
          <a:lstStyle/>
          <a:p>
            <a:pPr algn="r" indent="0" marL="0">
              <a:buNone/>
            </a:pPr>
            <a:r>
              <a:rPr lang="en-US" sz="1200" b="1" dirty="0">
                <a:solidFill>
                  <a:srgbClr val="173F35"/>
                </a:solidFill>
                <a:latin typeface="Calibri" pitchFamily="34" charset="0"/>
                <a:ea typeface="Calibri" pitchFamily="34" charset="-122"/>
                <a:cs typeface="Calibri" pitchFamily="34" charset="-120"/>
              </a:rPr>
              <a:t>python -m src.main</a:t>
            </a:r>
            <a:endParaRPr lang="en-US" sz="1200" dirty="0"/>
          </a:p>
        </p:txBody>
      </p:sp>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566928"/>
            <a:ext cx="11109960" cy="502920"/>
          </a:xfrm>
          <a:prstGeom prst="rect">
            <a:avLst/>
          </a:prstGeom>
          <a:noFill/>
          <a:ln/>
        </p:spPr>
        <p:txBody>
          <a:bodyPr wrap="square" lIns="0" tIns="0" rIns="0" bIns="0" rtlCol="0" anchor="ctr">
            <a:normAutofit/>
          </a:bodyPr>
          <a:lstStyle/>
          <a:p>
            <a:pPr algn="l" indent="0" marL="0">
              <a:buNone/>
            </a:pPr>
            <a:r>
              <a:rPr lang="en-US" sz="3000" b="1" dirty="0">
                <a:solidFill>
                  <a:srgbClr val="17211E"/>
                </a:solidFill>
                <a:latin typeface="Cambria" pitchFamily="34" charset="0"/>
                <a:ea typeface="Cambria" pitchFamily="34" charset="-122"/>
                <a:cs typeface="Cambria" pitchFamily="34" charset="-120"/>
              </a:rPr>
              <a:t>Keep the relationship valid</a:t>
            </a:r>
            <a:endParaRPr lang="en-US" sz="3000" dirty="0"/>
          </a:p>
        </p:txBody>
      </p:sp>
      <p:sp>
        <p:nvSpPr>
          <p:cNvPr id="3" name="Text 1"/>
          <p:cNvSpPr txBox="1"/>
          <p:nvPr/>
        </p:nvSpPr>
        <p:spPr>
          <a:xfrm>
            <a:off x="521208" y="1115568"/>
            <a:ext cx="10789920" cy="292608"/>
          </a:xfrm>
          <a:prstGeom prst="rect">
            <a:avLst/>
          </a:prstGeom>
          <a:noFill/>
          <a:ln/>
        </p:spPr>
        <p:txBody>
          <a:bodyPr wrap="square" lIns="0" tIns="0" rIns="0" bIns="0" rtlCol="0" anchor="ctr">
            <a:normAutofit/>
          </a:bodyPr>
          <a:lstStyle/>
          <a:p>
            <a:pPr algn="l" indent="0" marL="0">
              <a:buNone/>
            </a:pPr>
            <a:r>
              <a:rPr lang="en-US" sz="1400" dirty="0">
                <a:solidFill>
                  <a:srgbClr val="5E6C67"/>
                </a:solidFill>
                <a:latin typeface="Calibri" pitchFamily="34" charset="0"/>
                <a:ea typeface="Calibri" pitchFamily="34" charset="-122"/>
                <a:cs typeface="Calibri" pitchFamily="34" charset="-120"/>
              </a:rPr>
              <a:t>Every retained SalesOrder points to exactly one Contact.</a:t>
            </a:r>
            <a:endParaRPr lang="en-US" sz="1400" dirty="0"/>
          </a:p>
        </p:txBody>
      </p:sp>
      <p:sp>
        <p:nvSpPr>
          <p:cNvPr id="4" name="Shape 2"/>
          <p:cNvSpPr/>
          <p:nvPr/>
        </p:nvSpPr>
        <p:spPr>
          <a:xfrm>
            <a:off x="713232" y="1664208"/>
            <a:ext cx="3657600" cy="3456432"/>
          </a:xfrm>
          <a:prstGeom prst="roundRect">
            <a:avLst>
              <a:gd name="adj" fmla="val 2646"/>
            </a:avLst>
          </a:prstGeom>
          <a:solidFill>
            <a:srgbClr val="F4F8F6"/>
          </a:solidFill>
          <a:ln w="12700">
            <a:solidFill>
              <a:srgbClr val="B9CCC5"/>
            </a:solidFill>
            <a:prstDash val="solid"/>
          </a:ln>
        </p:spPr>
      </p:sp>
      <p:sp>
        <p:nvSpPr>
          <p:cNvPr id="5" name="Shape 3"/>
          <p:cNvSpPr/>
          <p:nvPr/>
        </p:nvSpPr>
        <p:spPr>
          <a:xfrm>
            <a:off x="960120" y="1901952"/>
            <a:ext cx="841248" cy="320040"/>
          </a:xfrm>
          <a:prstGeom prst="roundRect">
            <a:avLst>
              <a:gd name="adj" fmla="val 22857"/>
            </a:avLst>
          </a:prstGeom>
          <a:solidFill>
            <a:srgbClr val="E7F4EF"/>
          </a:solidFill>
          <a:ln w="12700">
            <a:solidFill>
              <a:srgbClr val="E7F4EF"/>
            </a:solidFill>
            <a:prstDash val="solid"/>
          </a:ln>
        </p:spPr>
      </p:sp>
      <p:sp>
        <p:nvSpPr>
          <p:cNvPr id="6" name="Text 4"/>
          <p:cNvSpPr txBox="1"/>
          <p:nvPr/>
        </p:nvSpPr>
        <p:spPr>
          <a:xfrm>
            <a:off x="960120" y="1901952"/>
            <a:ext cx="841248"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PARENT</a:t>
            </a:r>
            <a:endParaRPr lang="en-US" sz="1100" dirty="0"/>
          </a:p>
        </p:txBody>
      </p:sp>
      <p:sp>
        <p:nvSpPr>
          <p:cNvPr id="7" name="Text 5"/>
          <p:cNvSpPr txBox="1"/>
          <p:nvPr/>
        </p:nvSpPr>
        <p:spPr>
          <a:xfrm>
            <a:off x="960120" y="2331720"/>
            <a:ext cx="2286000" cy="438912"/>
          </a:xfrm>
          <a:prstGeom prst="rect">
            <a:avLst/>
          </a:prstGeom>
          <a:noFill/>
          <a:ln/>
        </p:spPr>
        <p:txBody>
          <a:bodyPr wrap="square" lIns="0" tIns="0" rIns="0" bIns="0" rtlCol="0" anchor="ctr">
            <a:normAutofit/>
          </a:bodyPr>
          <a:lstStyle/>
          <a:p>
            <a:pPr algn="l" indent="0" marL="0">
              <a:buNone/>
            </a:pPr>
            <a:r>
              <a:rPr lang="en-US" sz="2500" b="1" dirty="0">
                <a:solidFill>
                  <a:srgbClr val="17211E"/>
                </a:solidFill>
                <a:latin typeface="Cambria" pitchFamily="34" charset="0"/>
                <a:ea typeface="Cambria" pitchFamily="34" charset="-122"/>
                <a:cs typeface="Cambria" pitchFamily="34" charset="-120"/>
              </a:rPr>
              <a:t>Contact</a:t>
            </a:r>
            <a:endParaRPr lang="en-US" sz="2500" dirty="0"/>
          </a:p>
        </p:txBody>
      </p:sp>
      <p:sp>
        <p:nvSpPr>
          <p:cNvPr id="8" name="Text 6"/>
          <p:cNvSpPr txBox="1"/>
          <p:nvPr/>
        </p:nvSpPr>
        <p:spPr>
          <a:xfrm>
            <a:off x="1005840" y="2990088"/>
            <a:ext cx="2834640" cy="283464"/>
          </a:xfrm>
          <a:prstGeom prst="rect">
            <a:avLst/>
          </a:prstGeom>
          <a:noFill/>
          <a:ln/>
        </p:spPr>
        <p:txBody>
          <a:bodyPr wrap="square" lIns="0" tIns="0" rIns="0" bIns="0" rtlCol="0" anchor="ctr">
            <a:normAutofit/>
          </a:bodyPr>
          <a:lstStyle/>
          <a:p>
            <a:pPr algn="l" indent="0" marL="0">
              <a:buNone/>
            </a:pPr>
            <a:r>
              <a:rPr lang="en-US" sz="1300" b="1" dirty="0">
                <a:solidFill>
                  <a:srgbClr val="173F35"/>
                </a:solidFill>
                <a:latin typeface="Calibri" pitchFamily="34" charset="0"/>
                <a:ea typeface="Calibri" pitchFamily="34" charset="-122"/>
                <a:cs typeface="Calibri" pitchFamily="34" charset="-120"/>
              </a:rPr>
              <a:t>contactid  PK</a:t>
            </a:r>
            <a:endParaRPr lang="en-US" sz="1300" dirty="0"/>
          </a:p>
        </p:txBody>
      </p:sp>
      <p:sp>
        <p:nvSpPr>
          <p:cNvPr id="9" name="Text 7"/>
          <p:cNvSpPr txBox="1"/>
          <p:nvPr/>
        </p:nvSpPr>
        <p:spPr>
          <a:xfrm>
            <a:off x="1005840" y="3429000"/>
            <a:ext cx="2834640" cy="283464"/>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firstname · lastname</a:t>
            </a:r>
            <a:endParaRPr lang="en-US" sz="1300" dirty="0"/>
          </a:p>
        </p:txBody>
      </p:sp>
      <p:sp>
        <p:nvSpPr>
          <p:cNvPr id="10" name="Text 8"/>
          <p:cNvSpPr txBox="1"/>
          <p:nvPr/>
        </p:nvSpPr>
        <p:spPr>
          <a:xfrm>
            <a:off x="1005840" y="3867912"/>
            <a:ext cx="2834640" cy="283464"/>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emailaddress1</a:t>
            </a:r>
            <a:endParaRPr lang="en-US" sz="1300" dirty="0"/>
          </a:p>
        </p:txBody>
      </p:sp>
      <p:sp>
        <p:nvSpPr>
          <p:cNvPr id="11" name="Text 9"/>
          <p:cNvSpPr txBox="1"/>
          <p:nvPr/>
        </p:nvSpPr>
        <p:spPr>
          <a:xfrm>
            <a:off x="1005840" y="4306824"/>
            <a:ext cx="2834640" cy="283464"/>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createdon · statecode</a:t>
            </a:r>
            <a:endParaRPr lang="en-US" sz="1300" dirty="0"/>
          </a:p>
        </p:txBody>
      </p:sp>
      <p:sp>
        <p:nvSpPr>
          <p:cNvPr id="12" name="Shape 10"/>
          <p:cNvSpPr/>
          <p:nvPr/>
        </p:nvSpPr>
        <p:spPr>
          <a:xfrm>
            <a:off x="7799832" y="1664208"/>
            <a:ext cx="3657600" cy="3456432"/>
          </a:xfrm>
          <a:prstGeom prst="roundRect">
            <a:avLst>
              <a:gd name="adj" fmla="val 2646"/>
            </a:avLst>
          </a:prstGeom>
          <a:solidFill>
            <a:srgbClr val="E7F4EF"/>
          </a:solidFill>
          <a:ln w="12700">
            <a:solidFill>
              <a:srgbClr val="55B99A"/>
            </a:solidFill>
            <a:prstDash val="solid"/>
          </a:ln>
        </p:spPr>
      </p:sp>
      <p:sp>
        <p:nvSpPr>
          <p:cNvPr id="13" name="Shape 11"/>
          <p:cNvSpPr/>
          <p:nvPr/>
        </p:nvSpPr>
        <p:spPr>
          <a:xfrm>
            <a:off x="8046720" y="1901952"/>
            <a:ext cx="749808" cy="320040"/>
          </a:xfrm>
          <a:prstGeom prst="roundRect">
            <a:avLst>
              <a:gd name="adj" fmla="val 22857"/>
            </a:avLst>
          </a:prstGeom>
          <a:solidFill>
            <a:srgbClr val="FFFFFF"/>
          </a:solidFill>
          <a:ln w="12700">
            <a:solidFill>
              <a:srgbClr val="FFFFFF"/>
            </a:solidFill>
            <a:prstDash val="solid"/>
          </a:ln>
        </p:spPr>
      </p:sp>
      <p:sp>
        <p:nvSpPr>
          <p:cNvPr id="14" name="Text 12"/>
          <p:cNvSpPr txBox="1"/>
          <p:nvPr/>
        </p:nvSpPr>
        <p:spPr>
          <a:xfrm>
            <a:off x="8046720" y="1901952"/>
            <a:ext cx="749808"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CHILD</a:t>
            </a:r>
            <a:endParaRPr lang="en-US" sz="1100" dirty="0"/>
          </a:p>
        </p:txBody>
      </p:sp>
      <p:sp>
        <p:nvSpPr>
          <p:cNvPr id="15" name="Text 13"/>
          <p:cNvSpPr txBox="1"/>
          <p:nvPr/>
        </p:nvSpPr>
        <p:spPr>
          <a:xfrm>
            <a:off x="8046720" y="2331720"/>
            <a:ext cx="2743200" cy="438912"/>
          </a:xfrm>
          <a:prstGeom prst="rect">
            <a:avLst/>
          </a:prstGeom>
          <a:noFill/>
          <a:ln/>
        </p:spPr>
        <p:txBody>
          <a:bodyPr wrap="square" lIns="0" tIns="0" rIns="0" bIns="0" rtlCol="0" anchor="ctr">
            <a:normAutofit/>
          </a:bodyPr>
          <a:lstStyle/>
          <a:p>
            <a:pPr algn="l" indent="0" marL="0">
              <a:buNone/>
            </a:pPr>
            <a:r>
              <a:rPr lang="en-US" sz="2500" b="1" dirty="0">
                <a:solidFill>
                  <a:srgbClr val="17211E"/>
                </a:solidFill>
                <a:latin typeface="Cambria" pitchFamily="34" charset="0"/>
                <a:ea typeface="Cambria" pitchFamily="34" charset="-122"/>
                <a:cs typeface="Cambria" pitchFamily="34" charset="-120"/>
              </a:rPr>
              <a:t>SalesOrder</a:t>
            </a:r>
            <a:endParaRPr lang="en-US" sz="2500" dirty="0"/>
          </a:p>
        </p:txBody>
      </p:sp>
      <p:sp>
        <p:nvSpPr>
          <p:cNvPr id="16" name="Text 14"/>
          <p:cNvSpPr txBox="1"/>
          <p:nvPr/>
        </p:nvSpPr>
        <p:spPr>
          <a:xfrm>
            <a:off x="8092440" y="2990088"/>
            <a:ext cx="2743200" cy="283464"/>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salesorderid  PK</a:t>
            </a:r>
            <a:endParaRPr lang="en-US" sz="1300" dirty="0"/>
          </a:p>
        </p:txBody>
      </p:sp>
      <p:sp>
        <p:nvSpPr>
          <p:cNvPr id="17" name="Text 15"/>
          <p:cNvSpPr txBox="1"/>
          <p:nvPr/>
        </p:nvSpPr>
        <p:spPr>
          <a:xfrm>
            <a:off x="8092440" y="3429000"/>
            <a:ext cx="2743200" cy="283464"/>
          </a:xfrm>
          <a:prstGeom prst="rect">
            <a:avLst/>
          </a:prstGeom>
          <a:noFill/>
          <a:ln/>
        </p:spPr>
        <p:txBody>
          <a:bodyPr wrap="square" lIns="0" tIns="0" rIns="0" bIns="0" rtlCol="0" anchor="ctr">
            <a:normAutofit/>
          </a:bodyPr>
          <a:lstStyle/>
          <a:p>
            <a:pPr algn="l" indent="0" marL="0">
              <a:buNone/>
            </a:pPr>
            <a:r>
              <a:rPr lang="en-US" sz="1300" b="1" dirty="0">
                <a:solidFill>
                  <a:srgbClr val="173F35"/>
                </a:solidFill>
                <a:latin typeface="Calibri" pitchFamily="34" charset="0"/>
                <a:ea typeface="Calibri" pitchFamily="34" charset="-122"/>
                <a:cs typeface="Calibri" pitchFamily="34" charset="-120"/>
              </a:rPr>
              <a:t>customerid  FK</a:t>
            </a:r>
            <a:endParaRPr lang="en-US" sz="1300" dirty="0"/>
          </a:p>
        </p:txBody>
      </p:sp>
      <p:sp>
        <p:nvSpPr>
          <p:cNvPr id="18" name="Text 16"/>
          <p:cNvSpPr txBox="1"/>
          <p:nvPr/>
        </p:nvSpPr>
        <p:spPr>
          <a:xfrm>
            <a:off x="8092440" y="3867912"/>
            <a:ext cx="2743200" cy="283464"/>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totalamount · decimal</a:t>
            </a:r>
            <a:endParaRPr lang="en-US" sz="1300" dirty="0"/>
          </a:p>
        </p:txBody>
      </p:sp>
      <p:sp>
        <p:nvSpPr>
          <p:cNvPr id="19" name="Text 17"/>
          <p:cNvSpPr txBox="1"/>
          <p:nvPr/>
        </p:nvSpPr>
        <p:spPr>
          <a:xfrm>
            <a:off x="8092440" y="4306824"/>
            <a:ext cx="2743200" cy="283464"/>
          </a:xfrm>
          <a:prstGeom prst="rect">
            <a:avLst/>
          </a:prstGeom>
          <a:noFill/>
          <a:ln/>
        </p:spPr>
        <p:txBody>
          <a:bodyPr wrap="square" lIns="0" tIns="0" rIns="0" bIns="0" rtlCol="0" anchor="ctr">
            <a:normAutofit/>
          </a:bodyPr>
          <a:lstStyle/>
          <a:p>
            <a:pPr algn="l" indent="0" marL="0">
              <a:buNone/>
            </a:pPr>
            <a:r>
              <a:rPr lang="en-US" sz="1300" dirty="0">
                <a:solidFill>
                  <a:srgbClr val="5E6C67"/>
                </a:solidFill>
                <a:latin typeface="Calibri" pitchFamily="34" charset="0"/>
                <a:ea typeface="Calibri" pitchFamily="34" charset="-122"/>
                <a:cs typeface="Calibri" pitchFamily="34" charset="-120"/>
              </a:rPr>
              <a:t>createdon · UTC</a:t>
            </a:r>
            <a:endParaRPr lang="en-US" sz="1300" dirty="0"/>
          </a:p>
        </p:txBody>
      </p:sp>
      <p:sp>
        <p:nvSpPr>
          <p:cNvPr id="20" name="Shape 18"/>
          <p:cNvSpPr/>
          <p:nvPr/>
        </p:nvSpPr>
        <p:spPr>
          <a:xfrm>
            <a:off x="4572000" y="3291840"/>
            <a:ext cx="3017520" cy="0"/>
          </a:xfrm>
          <a:prstGeom prst="line">
            <a:avLst/>
          </a:prstGeom>
          <a:noFill/>
          <a:ln w="38100">
            <a:solidFill>
              <a:srgbClr val="55B99A"/>
            </a:solidFill>
            <a:prstDash val="solid"/>
            <a:tailEnd type="triangle"/>
          </a:ln>
        </p:spPr>
      </p:sp>
      <p:sp>
        <p:nvSpPr>
          <p:cNvPr id="21" name="Text 19"/>
          <p:cNvSpPr txBox="1"/>
          <p:nvPr/>
        </p:nvSpPr>
        <p:spPr>
          <a:xfrm>
            <a:off x="4736592" y="2852928"/>
            <a:ext cx="384048" cy="274320"/>
          </a:xfrm>
          <a:prstGeom prst="rect">
            <a:avLst/>
          </a:prstGeom>
          <a:noFill/>
          <a:ln/>
        </p:spPr>
        <p:txBody>
          <a:bodyPr wrap="square" lIns="0" tIns="0" rIns="0" bIns="0" rtlCol="0" anchor="ctr">
            <a:normAutofit/>
          </a:bodyPr>
          <a:lstStyle/>
          <a:p>
            <a:pPr algn="ctr" indent="0" marL="0">
              <a:buNone/>
            </a:pPr>
            <a:r>
              <a:rPr lang="en-US" sz="1600" b="1" dirty="0">
                <a:solidFill>
                  <a:srgbClr val="173F35"/>
                </a:solidFill>
                <a:latin typeface="Calibri" pitchFamily="34" charset="0"/>
                <a:ea typeface="Calibri" pitchFamily="34" charset="-122"/>
                <a:cs typeface="Calibri" pitchFamily="34" charset="-120"/>
              </a:rPr>
              <a:t>1</a:t>
            </a:r>
            <a:endParaRPr lang="en-US" sz="1600" dirty="0"/>
          </a:p>
        </p:txBody>
      </p:sp>
      <p:sp>
        <p:nvSpPr>
          <p:cNvPr id="22" name="Text 20"/>
          <p:cNvSpPr txBox="1"/>
          <p:nvPr/>
        </p:nvSpPr>
        <p:spPr>
          <a:xfrm>
            <a:off x="6830568" y="2852928"/>
            <a:ext cx="658368" cy="274320"/>
          </a:xfrm>
          <a:prstGeom prst="rect">
            <a:avLst/>
          </a:prstGeom>
          <a:noFill/>
          <a:ln/>
        </p:spPr>
        <p:txBody>
          <a:bodyPr wrap="square" lIns="0" tIns="0" rIns="0" bIns="0" rtlCol="0" anchor="ctr">
            <a:normAutofit/>
          </a:bodyPr>
          <a:lstStyle/>
          <a:p>
            <a:pPr algn="ctr" indent="0" marL="0">
              <a:buNone/>
            </a:pPr>
            <a:r>
              <a:rPr lang="en-US" sz="1600" b="1" dirty="0">
                <a:solidFill>
                  <a:srgbClr val="173F35"/>
                </a:solidFill>
                <a:latin typeface="Calibri" pitchFamily="34" charset="0"/>
                <a:ea typeface="Calibri" pitchFamily="34" charset="-122"/>
                <a:cs typeface="Calibri" pitchFamily="34" charset="-120"/>
              </a:rPr>
              <a:t>0..N</a:t>
            </a:r>
            <a:endParaRPr lang="en-US" sz="1600" dirty="0"/>
          </a:p>
        </p:txBody>
      </p:sp>
      <p:sp>
        <p:nvSpPr>
          <p:cNvPr id="23" name="Shape 21"/>
          <p:cNvSpPr/>
          <p:nvPr/>
        </p:nvSpPr>
        <p:spPr>
          <a:xfrm>
            <a:off x="4681728" y="3456432"/>
            <a:ext cx="2834640" cy="320040"/>
          </a:xfrm>
          <a:prstGeom prst="roundRect">
            <a:avLst>
              <a:gd name="adj" fmla="val 22857"/>
            </a:avLst>
          </a:prstGeom>
          <a:solidFill>
            <a:srgbClr val="E7F4EF"/>
          </a:solidFill>
          <a:ln w="12700">
            <a:solidFill>
              <a:srgbClr val="E7F4EF"/>
            </a:solidFill>
            <a:prstDash val="solid"/>
          </a:ln>
        </p:spPr>
      </p:sp>
      <p:sp>
        <p:nvSpPr>
          <p:cNvPr id="24" name="Text 22"/>
          <p:cNvSpPr txBox="1"/>
          <p:nvPr/>
        </p:nvSpPr>
        <p:spPr>
          <a:xfrm>
            <a:off x="4681728" y="3456432"/>
            <a:ext cx="2834640" cy="320040"/>
          </a:xfrm>
          <a:prstGeom prst="rect">
            <a:avLst/>
          </a:prstGeom>
          <a:noFill/>
          <a:ln/>
        </p:spPr>
        <p:txBody>
          <a:bodyPr wrap="square" lIns="0" tIns="0" rIns="0" bIns="0" rtlCol="0" anchor="ctr">
            <a:normAutofit/>
          </a:bodyPr>
          <a:lstStyle/>
          <a:p>
            <a:pPr algn="ctr" indent="0" marL="0">
              <a:buNone/>
            </a:pPr>
            <a:r>
              <a:rPr lang="en-US" sz="1100" b="1" dirty="0">
                <a:solidFill>
                  <a:srgbClr val="173F35"/>
                </a:solidFill>
                <a:latin typeface="Calibri" pitchFamily="34" charset="0"/>
                <a:ea typeface="Calibri" pitchFamily="34" charset="-122"/>
                <a:cs typeface="Calibri" pitchFamily="34" charset="-120"/>
              </a:rPr>
              <a:t>contactid &lt;- customerid</a:t>
            </a:r>
            <a:endParaRPr lang="en-US" sz="1100" dirty="0"/>
          </a:p>
        </p:txBody>
      </p:sp>
      <p:sp>
        <p:nvSpPr>
          <p:cNvPr id="25" name="Shape 23"/>
          <p:cNvSpPr/>
          <p:nvPr/>
        </p:nvSpPr>
        <p:spPr>
          <a:xfrm>
            <a:off x="4480560" y="4590288"/>
            <a:ext cx="3182112" cy="1078992"/>
          </a:xfrm>
          <a:prstGeom prst="roundRect">
            <a:avLst>
              <a:gd name="adj" fmla="val 8475"/>
            </a:avLst>
          </a:prstGeom>
          <a:solidFill>
            <a:srgbClr val="FBECEC"/>
          </a:solidFill>
          <a:ln w="12700">
            <a:solidFill>
              <a:srgbClr val="E9BABA"/>
            </a:solidFill>
            <a:prstDash val="solid"/>
          </a:ln>
        </p:spPr>
      </p:sp>
      <p:sp>
        <p:nvSpPr>
          <p:cNvPr id="26" name="Text 24"/>
          <p:cNvSpPr txBox="1"/>
          <p:nvPr/>
        </p:nvSpPr>
        <p:spPr>
          <a:xfrm>
            <a:off x="4709160" y="4727448"/>
            <a:ext cx="2697480" cy="274320"/>
          </a:xfrm>
          <a:prstGeom prst="rect">
            <a:avLst/>
          </a:prstGeom>
          <a:noFill/>
          <a:ln/>
        </p:spPr>
        <p:txBody>
          <a:bodyPr wrap="square" lIns="0" tIns="0" rIns="0" bIns="0" rtlCol="0" anchor="ctr">
            <a:normAutofit/>
          </a:bodyPr>
          <a:lstStyle/>
          <a:p>
            <a:pPr algn="l" indent="0" marL="0">
              <a:buNone/>
            </a:pPr>
            <a:r>
              <a:rPr lang="en-US" sz="1500" b="1" dirty="0">
                <a:solidFill>
                  <a:srgbClr val="C95858"/>
                </a:solidFill>
                <a:latin typeface="Calibri" pitchFamily="34" charset="0"/>
                <a:ea typeface="Calibri" pitchFamily="34" charset="-122"/>
                <a:cs typeface="Calibri" pitchFamily="34" charset="-120"/>
              </a:rPr>
              <a:t>ORD-1005 → CST-999</a:t>
            </a:r>
            <a:endParaRPr lang="en-US" sz="1500" dirty="0"/>
          </a:p>
        </p:txBody>
      </p:sp>
      <p:sp>
        <p:nvSpPr>
          <p:cNvPr id="27" name="Text 25"/>
          <p:cNvSpPr txBox="1"/>
          <p:nvPr/>
        </p:nvSpPr>
        <p:spPr>
          <a:xfrm>
            <a:off x="4709160" y="5047488"/>
            <a:ext cx="1508760" cy="274320"/>
          </a:xfrm>
          <a:prstGeom prst="rect">
            <a:avLst/>
          </a:prstGeom>
          <a:noFill/>
          <a:ln/>
        </p:spPr>
        <p:txBody>
          <a:bodyPr wrap="square" lIns="0" tIns="0" rIns="0" bIns="0" rtlCol="0" anchor="ctr">
            <a:normAutofit/>
          </a:bodyPr>
          <a:lstStyle/>
          <a:p>
            <a:pPr algn="l" indent="0" marL="0">
              <a:buNone/>
            </a:pPr>
            <a:r>
              <a:rPr lang="en-US" sz="1200" b="1" dirty="0">
                <a:solidFill>
                  <a:srgbClr val="884141"/>
                </a:solidFill>
                <a:latin typeface="Calibri" pitchFamily="34" charset="0"/>
                <a:ea typeface="Calibri" pitchFamily="34" charset="-122"/>
                <a:cs typeface="Calibri" pitchFamily="34" charset="-120"/>
              </a:rPr>
              <a:t>No Contact match</a:t>
            </a:r>
            <a:endParaRPr lang="en-US" sz="1200" dirty="0"/>
          </a:p>
        </p:txBody>
      </p:sp>
      <p:sp>
        <p:nvSpPr>
          <p:cNvPr id="28" name="Text 26"/>
          <p:cNvSpPr txBox="1"/>
          <p:nvPr/>
        </p:nvSpPr>
        <p:spPr>
          <a:xfrm>
            <a:off x="6089904" y="5047488"/>
            <a:ext cx="1325880" cy="274320"/>
          </a:xfrm>
          <a:prstGeom prst="rect">
            <a:avLst/>
          </a:prstGeom>
          <a:noFill/>
          <a:ln/>
        </p:spPr>
        <p:txBody>
          <a:bodyPr wrap="square" lIns="0" tIns="0" rIns="0" bIns="0" rtlCol="0" anchor="ctr">
            <a:normAutofit/>
          </a:bodyPr>
          <a:lstStyle/>
          <a:p>
            <a:pPr algn="l" indent="0" marL="0">
              <a:buNone/>
            </a:pPr>
            <a:r>
              <a:rPr lang="en-US" sz="1200" b="1" dirty="0">
                <a:solidFill>
                  <a:srgbClr val="884141"/>
                </a:solidFill>
                <a:latin typeface="Calibri" pitchFamily="34" charset="0"/>
                <a:ea typeface="Calibri" pitchFamily="34" charset="-122"/>
                <a:cs typeface="Calibri" pitchFamily="34" charset="-120"/>
              </a:rPr>
              <a:t>→ quarantine + log</a:t>
            </a:r>
            <a:endParaRPr lang="en-US" sz="1200" dirty="0"/>
          </a:p>
        </p:txBody>
      </p:sp>
      <p:sp>
        <p:nvSpPr>
          <p:cNvPr id="29" name="Text 27"/>
          <p:cNvSpPr txBox="1"/>
          <p:nvPr/>
        </p:nvSpPr>
        <p:spPr>
          <a:xfrm>
            <a:off x="1005840" y="5760720"/>
            <a:ext cx="1097280" cy="256032"/>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Clean target</a:t>
            </a:r>
            <a:endParaRPr lang="en-US" sz="1200" dirty="0"/>
          </a:p>
        </p:txBody>
      </p:sp>
      <p:sp>
        <p:nvSpPr>
          <p:cNvPr id="30" name="Text 28"/>
          <p:cNvSpPr txBox="1"/>
          <p:nvPr/>
        </p:nvSpPr>
        <p:spPr>
          <a:xfrm>
            <a:off x="2103120" y="5760720"/>
            <a:ext cx="1874520" cy="256032"/>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No broken foreign key</a:t>
            </a:r>
            <a:endParaRPr lang="en-US" sz="1200" dirty="0"/>
          </a:p>
        </p:txBody>
      </p:sp>
      <p:sp>
        <p:nvSpPr>
          <p:cNvPr id="31" name="Text 29"/>
          <p:cNvSpPr txBox="1"/>
          <p:nvPr/>
        </p:nvSpPr>
        <p:spPr>
          <a:xfrm>
            <a:off x="7955280" y="5760720"/>
            <a:ext cx="1481328" cy="256032"/>
          </a:xfrm>
          <a:prstGeom prst="rect">
            <a:avLst/>
          </a:prstGeom>
          <a:noFill/>
          <a:ln/>
        </p:spPr>
        <p:txBody>
          <a:bodyPr wrap="square" lIns="0" tIns="0" rIns="0" bIns="0" rtlCol="0" anchor="ctr">
            <a:normAutofit/>
          </a:bodyPr>
          <a:lstStyle/>
          <a:p>
            <a:pPr algn="l" indent="0" marL="0">
              <a:buNone/>
            </a:pPr>
            <a:r>
              <a:rPr lang="en-US" sz="1200" b="1" dirty="0">
                <a:solidFill>
                  <a:srgbClr val="173F35"/>
                </a:solidFill>
                <a:latin typeface="Calibri" pitchFamily="34" charset="0"/>
                <a:ea typeface="Calibri" pitchFamily="34" charset="-122"/>
                <a:cs typeface="Calibri" pitchFamily="34" charset="-120"/>
              </a:rPr>
              <a:t>Traceable exception</a:t>
            </a:r>
            <a:endParaRPr lang="en-US" sz="1200" dirty="0"/>
          </a:p>
        </p:txBody>
      </p:sp>
      <p:sp>
        <p:nvSpPr>
          <p:cNvPr id="32" name="Text 30"/>
          <p:cNvSpPr txBox="1"/>
          <p:nvPr/>
        </p:nvSpPr>
        <p:spPr>
          <a:xfrm>
            <a:off x="9464040" y="5760720"/>
            <a:ext cx="1417320" cy="256032"/>
          </a:xfrm>
          <a:prstGeom prst="rect">
            <a:avLst/>
          </a:prstGeom>
          <a:noFill/>
          <a:ln/>
        </p:spPr>
        <p:txBody>
          <a:bodyPr wrap="square" lIns="0" tIns="0" rIns="0" bIns="0" rtlCol="0" anchor="ctr">
            <a:normAutofit/>
          </a:bodyPr>
          <a:lstStyle/>
          <a:p>
            <a:pPr algn="l" indent="0" marL="0">
              <a:buNone/>
            </a:pPr>
            <a:r>
              <a:rPr lang="en-US" sz="1200" dirty="0">
                <a:solidFill>
                  <a:srgbClr val="5E6C67"/>
                </a:solidFill>
                <a:latin typeface="Calibri" pitchFamily="34" charset="0"/>
                <a:ea typeface="Calibri" pitchFamily="34" charset="-122"/>
                <a:cs typeface="Calibri" pitchFamily="34" charset="-120"/>
              </a:rPr>
              <a:t>raw row + reason</a:t>
            </a:r>
            <a:endParaRPr lang="en-US" sz="1200" dirty="0"/>
          </a:p>
        </p:txBody>
      </p:sp>
      <p:sp>
        <p:nvSpPr>
          <p:cNvPr id="25" name="Slide Number Placeholder 0"/>
          <p:cNvSpPr>
            <a:spLocks noGrp="1"/>
          </p:cNvSpPr>
          <p:nvPr>
            <p:ph type="sldNum" sz="quarter" idx="4294967295"/>
          </p:nvPr>
        </p:nvSpPr>
        <p:spPr>
          <a:xfrm>
            <a:off x="1168603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6B7B7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F29"/>
        </a:solidFill>
      </p:bgPr>
    </p:bg>
    <p:spTree>
      <p:nvGrpSpPr>
        <p:cNvPr id="1" name=""/>
        <p:cNvGrpSpPr/>
        <p:nvPr/>
      </p:nvGrpSpPr>
      <p:grpSpPr>
        <a:xfrm>
          <a:off x="0" y="0"/>
          <a:ext cx="0" cy="0"/>
          <a:chOff x="0" y="0"/>
          <a:chExt cx="0" cy="0"/>
        </a:xfrm>
      </p:grpSpPr>
      <p:sp>
        <p:nvSpPr>
          <p:cNvPr id="2" name="Shape 0"/>
          <p:cNvSpPr/>
          <p:nvPr/>
        </p:nvSpPr>
        <p:spPr>
          <a:xfrm>
            <a:off x="594360" y="475488"/>
            <a:ext cx="1097280" cy="320040"/>
          </a:xfrm>
          <a:prstGeom prst="roundRect">
            <a:avLst>
              <a:gd name="adj" fmla="val 22857"/>
            </a:avLst>
          </a:prstGeom>
          <a:solidFill>
            <a:srgbClr val="55B99A"/>
          </a:solidFill>
          <a:ln w="12700">
            <a:solidFill>
              <a:srgbClr val="55B99A"/>
            </a:solidFill>
            <a:prstDash val="solid"/>
          </a:ln>
        </p:spPr>
      </p:sp>
      <p:sp>
        <p:nvSpPr>
          <p:cNvPr id="3" name="Text 1"/>
          <p:cNvSpPr txBox="1"/>
          <p:nvPr/>
        </p:nvSpPr>
        <p:spPr>
          <a:xfrm>
            <a:off x="594360" y="475488"/>
            <a:ext cx="1097280" cy="320040"/>
          </a:xfrm>
          <a:prstGeom prst="rect">
            <a:avLst/>
          </a:prstGeom>
          <a:noFill/>
          <a:ln/>
        </p:spPr>
        <p:txBody>
          <a:bodyPr wrap="square" lIns="0" tIns="0" rIns="0" bIns="0" rtlCol="0" anchor="ctr">
            <a:normAutofit/>
          </a:bodyPr>
          <a:lstStyle/>
          <a:p>
            <a:pPr algn="ctr" indent="0" marL="0">
              <a:buNone/>
            </a:pPr>
            <a:r>
              <a:rPr lang="en-US" sz="1100" b="1" dirty="0">
                <a:solidFill>
                  <a:srgbClr val="102F29"/>
                </a:solidFill>
                <a:latin typeface="Calibri" pitchFamily="34" charset="0"/>
                <a:ea typeface="Calibri" pitchFamily="34" charset="-122"/>
                <a:cs typeface="Calibri" pitchFamily="34" charset="-120"/>
              </a:rPr>
              <a:t>DELIVERED</a:t>
            </a:r>
            <a:endParaRPr lang="en-US" sz="1100" dirty="0"/>
          </a:p>
        </p:txBody>
      </p:sp>
      <p:sp>
        <p:nvSpPr>
          <p:cNvPr id="4" name="Text 2"/>
          <p:cNvSpPr txBox="1"/>
          <p:nvPr/>
        </p:nvSpPr>
        <p:spPr>
          <a:xfrm>
            <a:off x="594360" y="1005840"/>
            <a:ext cx="7589520" cy="566928"/>
          </a:xfrm>
          <a:prstGeom prst="rect">
            <a:avLst/>
          </a:prstGeom>
          <a:noFill/>
          <a:ln/>
        </p:spPr>
        <p:txBody>
          <a:bodyPr wrap="square" lIns="0" tIns="0" rIns="0" bIns="0" rtlCol="0" anchor="ctr">
            <a:normAutofit/>
          </a:bodyPr>
          <a:lstStyle/>
          <a:p>
            <a:pPr algn="l" indent="0" marL="0">
              <a:buNone/>
            </a:pPr>
            <a:r>
              <a:rPr lang="en-US" sz="3000" b="1" dirty="0">
                <a:solidFill>
                  <a:srgbClr val="FFFFFF"/>
                </a:solidFill>
                <a:latin typeface="Cambria" pitchFamily="34" charset="0"/>
                <a:ea typeface="Cambria" pitchFamily="34" charset="-122"/>
                <a:cs typeface="Cambria" pitchFamily="34" charset="-120"/>
              </a:rPr>
              <a:t>Self-describing, tested and reproducible</a:t>
            </a:r>
            <a:endParaRPr lang="en-US" sz="3000" dirty="0"/>
          </a:p>
        </p:txBody>
      </p:sp>
      <p:sp>
        <p:nvSpPr>
          <p:cNvPr id="5" name="Text 3"/>
          <p:cNvSpPr txBox="1"/>
          <p:nvPr/>
        </p:nvSpPr>
        <p:spPr>
          <a:xfrm>
            <a:off x="621792" y="1682496"/>
            <a:ext cx="6217920" cy="347472"/>
          </a:xfrm>
          <a:prstGeom prst="rect">
            <a:avLst/>
          </a:prstGeom>
          <a:noFill/>
          <a:ln/>
        </p:spPr>
        <p:txBody>
          <a:bodyPr wrap="square" lIns="0" tIns="0" rIns="0" bIns="0" rtlCol="0" anchor="ctr">
            <a:normAutofit/>
          </a:bodyPr>
          <a:lstStyle/>
          <a:p>
            <a:pPr algn="l" indent="0" marL="0">
              <a:buNone/>
            </a:pPr>
            <a:r>
              <a:rPr lang="en-US" sz="1600" dirty="0">
                <a:solidFill>
                  <a:srgbClr val="DCEBE6"/>
                </a:solidFill>
                <a:latin typeface="Calibri" pitchFamily="34" charset="0"/>
                <a:ea typeface="Calibri" pitchFamily="34" charset="-122"/>
                <a:cs typeface="Calibri" pitchFamily="34" charset="-120"/>
              </a:rPr>
              <a:t>A fresh CI run must reproduce every committed output.</a:t>
            </a:r>
            <a:endParaRPr lang="en-US" sz="1600" dirty="0"/>
          </a:p>
        </p:txBody>
      </p:sp>
      <p:sp>
        <p:nvSpPr>
          <p:cNvPr id="6" name="Shape 4"/>
          <p:cNvSpPr/>
          <p:nvPr/>
        </p:nvSpPr>
        <p:spPr>
          <a:xfrm>
            <a:off x="621792" y="2359152"/>
            <a:ext cx="5532120" cy="3246120"/>
          </a:xfrm>
          <a:prstGeom prst="roundRect">
            <a:avLst>
              <a:gd name="adj" fmla="val 2817"/>
            </a:avLst>
          </a:prstGeom>
          <a:solidFill>
            <a:srgbClr val="214D42"/>
          </a:solidFill>
          <a:ln w="12700">
            <a:solidFill>
              <a:srgbClr val="377365"/>
            </a:solidFill>
            <a:prstDash val="solid"/>
          </a:ln>
        </p:spPr>
      </p:sp>
      <p:sp>
        <p:nvSpPr>
          <p:cNvPr id="7" name="Text 5"/>
          <p:cNvSpPr txBox="1"/>
          <p:nvPr/>
        </p:nvSpPr>
        <p:spPr>
          <a:xfrm>
            <a:off x="914400" y="2615184"/>
            <a:ext cx="2057400" cy="32004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Calibri" pitchFamily="34" charset="0"/>
                <a:ea typeface="Calibri" pitchFamily="34" charset="-122"/>
                <a:cs typeface="Calibri" pitchFamily="34" charset="-120"/>
              </a:rPr>
              <a:t>repository outputs</a:t>
            </a:r>
            <a:endParaRPr lang="en-US" sz="1700" dirty="0"/>
          </a:p>
        </p:txBody>
      </p:sp>
      <p:sp>
        <p:nvSpPr>
          <p:cNvPr id="8" name="Text 6"/>
          <p:cNvSpPr txBox="1"/>
          <p:nvPr/>
        </p:nvSpPr>
        <p:spPr>
          <a:xfrm>
            <a:off x="978408" y="3154680"/>
            <a:ext cx="274320" cy="256032"/>
          </a:xfrm>
          <a:prstGeom prst="rect">
            <a:avLst/>
          </a:prstGeom>
          <a:noFill/>
          <a:ln/>
        </p:spPr>
        <p:txBody>
          <a:bodyPr wrap="square" lIns="0" tIns="0" rIns="0" bIns="0" rtlCol="0" anchor="ctr">
            <a:normAutofit/>
          </a:bodyPr>
          <a:lstStyle/>
          <a:p>
            <a:pPr algn="l" indent="0" marL="0">
              <a:buNone/>
            </a:pPr>
            <a:r>
              <a:rPr lang="en-US" sz="1500" b="1" dirty="0">
                <a:solidFill>
                  <a:srgbClr val="F2C14E"/>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325880" y="3154680"/>
            <a:ext cx="2103120" cy="25603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Calibri" pitchFamily="34" charset="0"/>
                <a:ea typeface="Calibri" pitchFamily="34" charset="-122"/>
                <a:cs typeface="Calibri" pitchFamily="34" charset="-120"/>
              </a:rPr>
              <a:t>cdm_lakehouse/</a:t>
            </a:r>
            <a:endParaRPr lang="en-US" sz="1300" dirty="0"/>
          </a:p>
        </p:txBody>
      </p:sp>
      <p:sp>
        <p:nvSpPr>
          <p:cNvPr id="10" name="Text 8"/>
          <p:cNvSpPr txBox="1"/>
          <p:nvPr/>
        </p:nvSpPr>
        <p:spPr>
          <a:xfrm>
            <a:off x="3456432" y="3154680"/>
            <a:ext cx="2331720" cy="256032"/>
          </a:xfrm>
          <a:prstGeom prst="rect">
            <a:avLst/>
          </a:prstGeom>
          <a:noFill/>
          <a:ln/>
        </p:spPr>
        <p:txBody>
          <a:bodyPr wrap="square" lIns="0" tIns="0" rIns="0" bIns="0" rtlCol="0" anchor="ctr">
            <a:normAutofit/>
          </a:bodyPr>
          <a:lstStyle/>
          <a:p>
            <a:pPr algn="l" indent="0" marL="0">
              <a:buNone/>
            </a:pPr>
            <a:r>
              <a:rPr lang="en-US" sz="1200" dirty="0">
                <a:solidFill>
                  <a:srgbClr val="BDD8CF"/>
                </a:solidFill>
                <a:latin typeface="Calibri" pitchFamily="34" charset="0"/>
                <a:ea typeface="Calibri" pitchFamily="34" charset="-122"/>
                <a:cs typeface="Calibri" pitchFamily="34" charset="-120"/>
              </a:rPr>
              <a:t>Contact · SalesOrder · model.json</a:t>
            </a:r>
            <a:endParaRPr lang="en-US" sz="1200" dirty="0"/>
          </a:p>
        </p:txBody>
      </p:sp>
      <p:sp>
        <p:nvSpPr>
          <p:cNvPr id="11" name="Text 9"/>
          <p:cNvSpPr txBox="1"/>
          <p:nvPr/>
        </p:nvSpPr>
        <p:spPr>
          <a:xfrm>
            <a:off x="978408" y="3721608"/>
            <a:ext cx="274320" cy="256032"/>
          </a:xfrm>
          <a:prstGeom prst="rect">
            <a:avLst/>
          </a:prstGeom>
          <a:noFill/>
          <a:ln/>
        </p:spPr>
        <p:txBody>
          <a:bodyPr wrap="square" lIns="0" tIns="0" rIns="0" bIns="0" rtlCol="0" anchor="ctr">
            <a:normAutofit/>
          </a:bodyPr>
          <a:lstStyle/>
          <a:p>
            <a:pPr algn="l" indent="0" marL="0">
              <a:buNone/>
            </a:pPr>
            <a:r>
              <a:rPr lang="en-US" sz="1500" b="1" dirty="0">
                <a:solidFill>
                  <a:srgbClr val="F2C14E"/>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1325880" y="3721608"/>
            <a:ext cx="2103120" cy="25603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Calibri" pitchFamily="34" charset="0"/>
                <a:ea typeface="Calibri" pitchFamily="34" charset="-122"/>
                <a:cs typeface="Calibri" pitchFamily="34" charset="-120"/>
              </a:rPr>
              <a:t>quarantine/</a:t>
            </a:r>
            <a:endParaRPr lang="en-US" sz="1300" dirty="0"/>
          </a:p>
        </p:txBody>
      </p:sp>
      <p:sp>
        <p:nvSpPr>
          <p:cNvPr id="13" name="Text 11"/>
          <p:cNvSpPr txBox="1"/>
          <p:nvPr/>
        </p:nvSpPr>
        <p:spPr>
          <a:xfrm>
            <a:off x="3456432" y="3721608"/>
            <a:ext cx="2331720" cy="256032"/>
          </a:xfrm>
          <a:prstGeom prst="rect">
            <a:avLst/>
          </a:prstGeom>
          <a:noFill/>
          <a:ln/>
        </p:spPr>
        <p:txBody>
          <a:bodyPr wrap="square" lIns="0" tIns="0" rIns="0" bIns="0" rtlCol="0" anchor="ctr">
            <a:normAutofit/>
          </a:bodyPr>
          <a:lstStyle/>
          <a:p>
            <a:pPr algn="l" indent="0" marL="0">
              <a:buNone/>
            </a:pPr>
            <a:r>
              <a:rPr lang="en-US" sz="1200" dirty="0">
                <a:solidFill>
                  <a:srgbClr val="BDD8CF"/>
                </a:solidFill>
                <a:latin typeface="Calibri" pitchFamily="34" charset="0"/>
                <a:ea typeface="Calibri" pitchFamily="34" charset="-122"/>
                <a:cs typeface="Calibri" pitchFamily="34" charset="-120"/>
              </a:rPr>
              <a:t>rejected rows + reasons</a:t>
            </a:r>
            <a:endParaRPr lang="en-US" sz="1200" dirty="0"/>
          </a:p>
        </p:txBody>
      </p:sp>
      <p:sp>
        <p:nvSpPr>
          <p:cNvPr id="14" name="Text 12"/>
          <p:cNvSpPr txBox="1"/>
          <p:nvPr/>
        </p:nvSpPr>
        <p:spPr>
          <a:xfrm>
            <a:off x="978408" y="4288536"/>
            <a:ext cx="274320" cy="256032"/>
          </a:xfrm>
          <a:prstGeom prst="rect">
            <a:avLst/>
          </a:prstGeom>
          <a:noFill/>
          <a:ln/>
        </p:spPr>
        <p:txBody>
          <a:bodyPr wrap="square" lIns="0" tIns="0" rIns="0" bIns="0" rtlCol="0" anchor="ctr">
            <a:normAutofit/>
          </a:bodyPr>
          <a:lstStyle/>
          <a:p>
            <a:pPr algn="l" indent="0" marL="0">
              <a:buNone/>
            </a:pPr>
            <a:r>
              <a:rPr lang="en-US" sz="1500" b="1" dirty="0">
                <a:solidFill>
                  <a:srgbClr val="F2C14E"/>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1325880" y="4288536"/>
            <a:ext cx="2103120" cy="25603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Calibri" pitchFamily="34" charset="0"/>
                <a:ea typeface="Calibri" pitchFamily="34" charset="-122"/>
                <a:cs typeface="Calibri" pitchFamily="34" charset="-120"/>
              </a:rPr>
              <a:t>logs/pipeline-run.log</a:t>
            </a:r>
            <a:endParaRPr lang="en-US" sz="1300" dirty="0"/>
          </a:p>
        </p:txBody>
      </p:sp>
      <p:sp>
        <p:nvSpPr>
          <p:cNvPr id="16" name="Text 14"/>
          <p:cNvSpPr txBox="1"/>
          <p:nvPr/>
        </p:nvSpPr>
        <p:spPr>
          <a:xfrm>
            <a:off x="3456432" y="4288536"/>
            <a:ext cx="2331720" cy="256032"/>
          </a:xfrm>
          <a:prstGeom prst="rect">
            <a:avLst/>
          </a:prstGeom>
          <a:noFill/>
          <a:ln/>
        </p:spPr>
        <p:txBody>
          <a:bodyPr wrap="square" lIns="0" tIns="0" rIns="0" bIns="0" rtlCol="0" anchor="ctr">
            <a:normAutofit/>
          </a:bodyPr>
          <a:lstStyle/>
          <a:p>
            <a:pPr algn="l" indent="0" marL="0">
              <a:buNone/>
            </a:pPr>
            <a:r>
              <a:rPr lang="en-US" sz="1200" dirty="0">
                <a:solidFill>
                  <a:srgbClr val="BDD8CF"/>
                </a:solidFill>
                <a:latin typeface="Calibri" pitchFamily="34" charset="0"/>
                <a:ea typeface="Calibri" pitchFamily="34" charset="-122"/>
                <a:cs typeface="Calibri" pitchFamily="34" charset="-120"/>
              </a:rPr>
              <a:t>warnings + final counts</a:t>
            </a:r>
            <a:endParaRPr lang="en-US" sz="1200" dirty="0"/>
          </a:p>
        </p:txBody>
      </p:sp>
      <p:sp>
        <p:nvSpPr>
          <p:cNvPr id="17" name="Text 15"/>
          <p:cNvSpPr txBox="1"/>
          <p:nvPr/>
        </p:nvSpPr>
        <p:spPr>
          <a:xfrm>
            <a:off x="978408" y="4855464"/>
            <a:ext cx="274320" cy="256032"/>
          </a:xfrm>
          <a:prstGeom prst="rect">
            <a:avLst/>
          </a:prstGeom>
          <a:noFill/>
          <a:ln/>
        </p:spPr>
        <p:txBody>
          <a:bodyPr wrap="square" lIns="0" tIns="0" rIns="0" bIns="0" rtlCol="0" anchor="ctr">
            <a:normAutofit/>
          </a:bodyPr>
          <a:lstStyle/>
          <a:p>
            <a:pPr algn="l" indent="0" marL="0">
              <a:buNone/>
            </a:pPr>
            <a:r>
              <a:rPr lang="en-US" sz="1500" b="1" dirty="0">
                <a:solidFill>
                  <a:srgbClr val="F2C14E"/>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1325880" y="4855464"/>
            <a:ext cx="2103120" cy="25603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README.md</a:t>
            </a:r>
            <a:endParaRPr lang="en-US" sz="1300" dirty="0"/>
          </a:p>
        </p:txBody>
      </p:sp>
      <p:sp>
        <p:nvSpPr>
          <p:cNvPr id="19" name="Text 17"/>
          <p:cNvSpPr txBox="1"/>
          <p:nvPr/>
        </p:nvSpPr>
        <p:spPr>
          <a:xfrm>
            <a:off x="3456432" y="4855464"/>
            <a:ext cx="2331720" cy="256032"/>
          </a:xfrm>
          <a:prstGeom prst="rect">
            <a:avLst/>
          </a:prstGeom>
          <a:noFill/>
          <a:ln/>
        </p:spPr>
        <p:txBody>
          <a:bodyPr wrap="square" lIns="0" tIns="0" rIns="0" bIns="0" rtlCol="0" anchor="ctr">
            <a:normAutofit/>
          </a:bodyPr>
          <a:lstStyle/>
          <a:p>
            <a:pPr algn="l" indent="0" marL="0">
              <a:buNone/>
            </a:pPr>
            <a:r>
              <a:rPr lang="en-US" sz="1200" dirty="0">
                <a:solidFill>
                  <a:srgbClr val="BDD8CF"/>
                </a:solidFill>
                <a:latin typeface="Calibri" pitchFamily="34" charset="0"/>
                <a:ea typeface="Calibri" pitchFamily="34" charset="-122"/>
                <a:cs typeface="Calibri" pitchFamily="34" charset="-120"/>
              </a:rPr>
              <a:t>mapping · ERD · storage</a:t>
            </a:r>
            <a:endParaRPr lang="en-US" sz="1200" dirty="0"/>
          </a:p>
        </p:txBody>
      </p:sp>
      <p:sp>
        <p:nvSpPr>
          <p:cNvPr id="20" name="Text 18"/>
          <p:cNvSpPr txBox="1"/>
          <p:nvPr/>
        </p:nvSpPr>
        <p:spPr>
          <a:xfrm>
            <a:off x="6812280" y="2395728"/>
            <a:ext cx="1920240" cy="310896"/>
          </a:xfrm>
          <a:prstGeom prst="rect">
            <a:avLst/>
          </a:prstGeom>
          <a:noFill/>
          <a:ln/>
        </p:spPr>
        <p:txBody>
          <a:bodyPr wrap="square" lIns="0" tIns="0" rIns="0" bIns="0" rtlCol="0" anchor="ctr">
            <a:normAutofit/>
          </a:bodyPr>
          <a:lstStyle/>
          <a:p>
            <a:pPr algn="l" indent="0" marL="0">
              <a:buNone/>
            </a:pPr>
            <a:r>
              <a:rPr lang="en-US" sz="1700" b="1" dirty="0">
                <a:solidFill>
                  <a:srgbClr val="DCEBE6"/>
                </a:solidFill>
                <a:latin typeface="Calibri" pitchFamily="34" charset="0"/>
                <a:ea typeface="Calibri" pitchFamily="34" charset="-122"/>
                <a:cs typeface="Calibri" pitchFamily="34" charset="-120"/>
              </a:rPr>
              <a:t>Evidence</a:t>
            </a:r>
            <a:endParaRPr lang="en-US" sz="1700" dirty="0"/>
          </a:p>
        </p:txBody>
      </p:sp>
      <p:sp>
        <p:nvSpPr>
          <p:cNvPr id="21" name="Shape 19"/>
          <p:cNvSpPr/>
          <p:nvPr/>
        </p:nvSpPr>
        <p:spPr>
          <a:xfrm>
            <a:off x="6812280" y="2926080"/>
            <a:ext cx="2103120" cy="804672"/>
          </a:xfrm>
          <a:prstGeom prst="roundRect">
            <a:avLst>
              <a:gd name="adj" fmla="val 11364"/>
            </a:avLst>
          </a:prstGeom>
          <a:solidFill>
            <a:srgbClr val="FFFFFF"/>
          </a:solidFill>
          <a:ln w="12700">
            <a:solidFill>
              <a:srgbClr val="FFFFFF"/>
            </a:solidFill>
            <a:prstDash val="solid"/>
          </a:ln>
        </p:spPr>
      </p:sp>
      <p:sp>
        <p:nvSpPr>
          <p:cNvPr id="22" name="Text 20"/>
          <p:cNvSpPr txBox="1"/>
          <p:nvPr/>
        </p:nvSpPr>
        <p:spPr>
          <a:xfrm>
            <a:off x="6940296" y="3044952"/>
            <a:ext cx="841248" cy="420624"/>
          </a:xfrm>
          <a:prstGeom prst="rect">
            <a:avLst/>
          </a:prstGeom>
          <a:noFill/>
          <a:ln/>
        </p:spPr>
        <p:txBody>
          <a:bodyPr wrap="square" lIns="0" tIns="0" rIns="0" bIns="0" rtlCol="0" anchor="ctr">
            <a:normAutofit/>
          </a:bodyPr>
          <a:lstStyle/>
          <a:p>
            <a:pPr algn="l" indent="0" marL="0">
              <a:buNone/>
            </a:pPr>
            <a:r>
              <a:rPr lang="en-US" sz="2100" b="1" dirty="0">
                <a:solidFill>
                  <a:srgbClr val="173F35"/>
                </a:solidFill>
                <a:latin typeface="Calibri" pitchFamily="34" charset="0"/>
                <a:ea typeface="Calibri" pitchFamily="34" charset="-122"/>
                <a:cs typeface="Calibri" pitchFamily="34" charset="-120"/>
              </a:rPr>
              <a:t>47</a:t>
            </a:r>
            <a:endParaRPr lang="en-US" sz="2100" dirty="0"/>
          </a:p>
        </p:txBody>
      </p:sp>
      <p:sp>
        <p:nvSpPr>
          <p:cNvPr id="23" name="Text 21"/>
          <p:cNvSpPr txBox="1"/>
          <p:nvPr/>
        </p:nvSpPr>
        <p:spPr>
          <a:xfrm>
            <a:off x="7744968" y="3090672"/>
            <a:ext cx="1024128" cy="347472"/>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tests passed</a:t>
            </a:r>
            <a:endParaRPr lang="en-US" sz="1100" dirty="0"/>
          </a:p>
        </p:txBody>
      </p:sp>
      <p:sp>
        <p:nvSpPr>
          <p:cNvPr id="24" name="Shape 22"/>
          <p:cNvSpPr/>
          <p:nvPr/>
        </p:nvSpPr>
        <p:spPr>
          <a:xfrm>
            <a:off x="9208008" y="2926080"/>
            <a:ext cx="2103120" cy="804672"/>
          </a:xfrm>
          <a:prstGeom prst="roundRect">
            <a:avLst>
              <a:gd name="adj" fmla="val 11364"/>
            </a:avLst>
          </a:prstGeom>
          <a:solidFill>
            <a:srgbClr val="FFF5D9"/>
          </a:solidFill>
          <a:ln w="12700">
            <a:solidFill>
              <a:srgbClr val="FFF5D9"/>
            </a:solidFill>
            <a:prstDash val="solid"/>
          </a:ln>
        </p:spPr>
      </p:sp>
      <p:sp>
        <p:nvSpPr>
          <p:cNvPr id="25" name="Text 23"/>
          <p:cNvSpPr txBox="1"/>
          <p:nvPr/>
        </p:nvSpPr>
        <p:spPr>
          <a:xfrm>
            <a:off x="9336024" y="3044952"/>
            <a:ext cx="841248" cy="420624"/>
          </a:xfrm>
          <a:prstGeom prst="rect">
            <a:avLst/>
          </a:prstGeom>
          <a:noFill/>
          <a:ln/>
        </p:spPr>
        <p:txBody>
          <a:bodyPr wrap="square" lIns="0" tIns="0" rIns="0" bIns="0" rtlCol="0" anchor="ctr">
            <a:normAutofit/>
          </a:bodyPr>
          <a:lstStyle/>
          <a:p>
            <a:pPr algn="l" indent="0" marL="0">
              <a:buNone/>
            </a:pPr>
            <a:r>
              <a:rPr lang="en-US" sz="2100" b="1" dirty="0">
                <a:solidFill>
                  <a:srgbClr val="102F29"/>
                </a:solidFill>
                <a:latin typeface="Calibri" pitchFamily="34" charset="0"/>
                <a:ea typeface="Calibri" pitchFamily="34" charset="-122"/>
                <a:cs typeface="Calibri" pitchFamily="34" charset="-120"/>
              </a:rPr>
              <a:t>98.93%</a:t>
            </a:r>
            <a:endParaRPr lang="en-US" sz="2100" dirty="0"/>
          </a:p>
        </p:txBody>
      </p:sp>
      <p:sp>
        <p:nvSpPr>
          <p:cNvPr id="26" name="Text 24"/>
          <p:cNvSpPr txBox="1"/>
          <p:nvPr/>
        </p:nvSpPr>
        <p:spPr>
          <a:xfrm>
            <a:off x="10140696" y="3090672"/>
            <a:ext cx="1024128" cy="347472"/>
          </a:xfrm>
          <a:prstGeom prst="rect">
            <a:avLst/>
          </a:prstGeom>
          <a:noFill/>
          <a:ln/>
        </p:spPr>
        <p:txBody>
          <a:bodyPr wrap="square" lIns="0" tIns="0" rIns="0" bIns="0" rtlCol="0" anchor="ctr">
            <a:normAutofit/>
          </a:bodyPr>
          <a:lstStyle/>
          <a:p>
            <a:pPr algn="l" indent="0" marL="0">
              <a:buNone/>
            </a:pPr>
            <a:r>
              <a:rPr lang="en-US" sz="1100" b="1" dirty="0">
                <a:solidFill>
                  <a:srgbClr val="102F29"/>
                </a:solidFill>
                <a:latin typeface="Calibri" pitchFamily="34" charset="0"/>
                <a:ea typeface="Calibri" pitchFamily="34" charset="-122"/>
                <a:cs typeface="Calibri" pitchFamily="34" charset="-120"/>
              </a:rPr>
              <a:t>coverage</a:t>
            </a:r>
            <a:endParaRPr lang="en-US" sz="1100" dirty="0"/>
          </a:p>
        </p:txBody>
      </p:sp>
      <p:sp>
        <p:nvSpPr>
          <p:cNvPr id="27" name="Shape 25"/>
          <p:cNvSpPr/>
          <p:nvPr/>
        </p:nvSpPr>
        <p:spPr>
          <a:xfrm>
            <a:off x="6812280" y="3977640"/>
            <a:ext cx="2103120" cy="804672"/>
          </a:xfrm>
          <a:prstGeom prst="roundRect">
            <a:avLst>
              <a:gd name="adj" fmla="val 11364"/>
            </a:avLst>
          </a:prstGeom>
          <a:solidFill>
            <a:srgbClr val="FFFFFF"/>
          </a:solidFill>
          <a:ln w="12700">
            <a:solidFill>
              <a:srgbClr val="FFFFFF"/>
            </a:solidFill>
            <a:prstDash val="solid"/>
          </a:ln>
        </p:spPr>
      </p:sp>
      <p:sp>
        <p:nvSpPr>
          <p:cNvPr id="28" name="Text 26"/>
          <p:cNvSpPr txBox="1"/>
          <p:nvPr/>
        </p:nvSpPr>
        <p:spPr>
          <a:xfrm>
            <a:off x="6940296" y="4096512"/>
            <a:ext cx="841248" cy="420624"/>
          </a:xfrm>
          <a:prstGeom prst="rect">
            <a:avLst/>
          </a:prstGeom>
          <a:noFill/>
          <a:ln/>
        </p:spPr>
        <p:txBody>
          <a:bodyPr wrap="square" lIns="0" tIns="0" rIns="0" bIns="0" rtlCol="0" anchor="ctr">
            <a:normAutofit/>
          </a:bodyPr>
          <a:lstStyle/>
          <a:p>
            <a:pPr algn="l" indent="0" marL="0">
              <a:buNone/>
            </a:pPr>
            <a:r>
              <a:rPr lang="en-US" sz="2100" b="1" dirty="0">
                <a:solidFill>
                  <a:srgbClr val="173F35"/>
                </a:solidFill>
                <a:latin typeface="Calibri" pitchFamily="34" charset="0"/>
                <a:ea typeface="Calibri" pitchFamily="34" charset="-122"/>
                <a:cs typeface="Calibri" pitchFamily="34" charset="-120"/>
              </a:rPr>
              <a:t>2</a:t>
            </a:r>
            <a:endParaRPr lang="en-US" sz="2100" dirty="0"/>
          </a:p>
        </p:txBody>
      </p:sp>
      <p:sp>
        <p:nvSpPr>
          <p:cNvPr id="29" name="Text 27"/>
          <p:cNvSpPr txBox="1"/>
          <p:nvPr/>
        </p:nvSpPr>
        <p:spPr>
          <a:xfrm>
            <a:off x="7744968" y="4142232"/>
            <a:ext cx="1024128" cy="347472"/>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Python versions</a:t>
            </a:r>
            <a:endParaRPr lang="en-US" sz="1100" dirty="0"/>
          </a:p>
        </p:txBody>
      </p:sp>
      <p:sp>
        <p:nvSpPr>
          <p:cNvPr id="30" name="Shape 28"/>
          <p:cNvSpPr/>
          <p:nvPr/>
        </p:nvSpPr>
        <p:spPr>
          <a:xfrm>
            <a:off x="9208008" y="3977640"/>
            <a:ext cx="2103120" cy="804672"/>
          </a:xfrm>
          <a:prstGeom prst="roundRect">
            <a:avLst>
              <a:gd name="adj" fmla="val 11364"/>
            </a:avLst>
          </a:prstGeom>
          <a:solidFill>
            <a:srgbClr val="FFFFFF"/>
          </a:solidFill>
          <a:ln w="12700">
            <a:solidFill>
              <a:srgbClr val="FFFFFF"/>
            </a:solidFill>
            <a:prstDash val="solid"/>
          </a:ln>
        </p:spPr>
      </p:sp>
      <p:sp>
        <p:nvSpPr>
          <p:cNvPr id="31" name="Text 29"/>
          <p:cNvSpPr txBox="1"/>
          <p:nvPr/>
        </p:nvSpPr>
        <p:spPr>
          <a:xfrm>
            <a:off x="9336024" y="4096512"/>
            <a:ext cx="841248" cy="420624"/>
          </a:xfrm>
          <a:prstGeom prst="rect">
            <a:avLst/>
          </a:prstGeom>
          <a:noFill/>
          <a:ln/>
        </p:spPr>
        <p:txBody>
          <a:bodyPr wrap="square" lIns="0" tIns="0" rIns="0" bIns="0" rtlCol="0" anchor="ctr">
            <a:normAutofit/>
          </a:bodyPr>
          <a:lstStyle/>
          <a:p>
            <a:pPr algn="l" indent="0" marL="0">
              <a:buNone/>
            </a:pPr>
            <a:r>
              <a:rPr lang="en-US" sz="2100" b="1" dirty="0">
                <a:solidFill>
                  <a:srgbClr val="173F35"/>
                </a:solidFill>
                <a:latin typeface="Calibri" pitchFamily="34" charset="0"/>
                <a:ea typeface="Calibri" pitchFamily="34" charset="-122"/>
                <a:cs typeface="Calibri" pitchFamily="34" charset="-120"/>
              </a:rPr>
              <a:t>3</a:t>
            </a:r>
            <a:endParaRPr lang="en-US" sz="2100" dirty="0"/>
          </a:p>
        </p:txBody>
      </p:sp>
      <p:sp>
        <p:nvSpPr>
          <p:cNvPr id="32" name="Text 30"/>
          <p:cNvSpPr txBox="1"/>
          <p:nvPr/>
        </p:nvSpPr>
        <p:spPr>
          <a:xfrm>
            <a:off x="10140696" y="4142232"/>
            <a:ext cx="1024128" cy="347472"/>
          </a:xfrm>
          <a:prstGeom prst="rect">
            <a:avLst/>
          </a:prstGeom>
          <a:noFill/>
          <a:ln/>
        </p:spPr>
        <p:txBody>
          <a:bodyPr wrap="square" lIns="0" tIns="0" rIns="0" bIns="0" rtlCol="0" anchor="ctr">
            <a:normAutofit/>
          </a:bodyPr>
          <a:lstStyle/>
          <a:p>
            <a:pPr algn="l" indent="0" marL="0">
              <a:buNone/>
            </a:pPr>
            <a:r>
              <a:rPr lang="en-US" sz="1100" b="1" dirty="0">
                <a:solidFill>
                  <a:srgbClr val="5E6C67"/>
                </a:solidFill>
                <a:latin typeface="Calibri" pitchFamily="34" charset="0"/>
                <a:ea typeface="Calibri" pitchFamily="34" charset="-122"/>
                <a:cs typeface="Calibri" pitchFamily="34" charset="-120"/>
              </a:rPr>
              <a:t>README diagrams</a:t>
            </a:r>
            <a:endParaRPr lang="en-US" sz="1100" dirty="0"/>
          </a:p>
        </p:txBody>
      </p:sp>
      <p:sp>
        <p:nvSpPr>
          <p:cNvPr id="33" name="Shape 31"/>
          <p:cNvSpPr/>
          <p:nvPr/>
        </p:nvSpPr>
        <p:spPr>
          <a:xfrm>
            <a:off x="6839712" y="5193792"/>
            <a:ext cx="246888" cy="246888"/>
          </a:xfrm>
          <a:prstGeom prst="ellipse">
            <a:avLst/>
          </a:prstGeom>
          <a:solidFill>
            <a:srgbClr val="55B99A"/>
          </a:solidFill>
          <a:ln w="12700">
            <a:solidFill>
              <a:srgbClr val="55B99A"/>
            </a:solidFill>
            <a:prstDash val="solid"/>
          </a:ln>
        </p:spPr>
      </p:sp>
      <p:sp>
        <p:nvSpPr>
          <p:cNvPr id="34" name="Text 32"/>
          <p:cNvSpPr txBox="1"/>
          <p:nvPr/>
        </p:nvSpPr>
        <p:spPr>
          <a:xfrm>
            <a:off x="6839712" y="5184648"/>
            <a:ext cx="246888" cy="2468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5" name="Text 33"/>
          <p:cNvSpPr txBox="1"/>
          <p:nvPr/>
        </p:nvSpPr>
        <p:spPr>
          <a:xfrm>
            <a:off x="7205472" y="5138928"/>
            <a:ext cx="3474720" cy="356616"/>
          </a:xfrm>
          <a:prstGeom prst="rect">
            <a:avLst/>
          </a:prstGeom>
          <a:noFill/>
          <a:ln/>
        </p:spPr>
        <p:txBody>
          <a:bodyPr wrap="square" lIns="0" tIns="0" rIns="0" bIns="0" rtlCol="0" anchor="ctr">
            <a:normAutofit/>
          </a:bodyPr>
          <a:lstStyle/>
          <a:p>
            <a:pPr algn="l" indent="0" marL="0">
              <a:buNone/>
            </a:pPr>
            <a:r>
              <a:rPr lang="en-US" sz="1300" b="1" dirty="0">
                <a:solidFill>
                  <a:srgbClr val="DCEBE6"/>
                </a:solidFill>
                <a:latin typeface="Calibri" pitchFamily="34" charset="0"/>
                <a:ea typeface="Calibri" pitchFamily="34" charset="-122"/>
                <a:cs typeface="Calibri" pitchFamily="34" charset="-120"/>
              </a:rPr>
              <a:t>CI green: Python 3.11 + 3.13</a:t>
            </a:r>
            <a:endParaRPr lang="en-US" sz="1300" dirty="0"/>
          </a:p>
        </p:txBody>
      </p:sp>
      <p:sp>
        <p:nvSpPr>
          <p:cNvPr id="36" name="Shape 34"/>
          <p:cNvSpPr/>
          <p:nvPr/>
        </p:nvSpPr>
        <p:spPr>
          <a:xfrm>
            <a:off x="6839712" y="5641848"/>
            <a:ext cx="246888" cy="246888"/>
          </a:xfrm>
          <a:prstGeom prst="ellipse">
            <a:avLst/>
          </a:prstGeom>
          <a:solidFill>
            <a:srgbClr val="55B99A"/>
          </a:solidFill>
          <a:ln w="12700">
            <a:solidFill>
              <a:srgbClr val="55B99A"/>
            </a:solidFill>
            <a:prstDash val="solid"/>
          </a:ln>
        </p:spPr>
      </p:sp>
      <p:sp>
        <p:nvSpPr>
          <p:cNvPr id="37" name="Text 35"/>
          <p:cNvSpPr txBox="1"/>
          <p:nvPr/>
        </p:nvSpPr>
        <p:spPr>
          <a:xfrm>
            <a:off x="6839712" y="5632704"/>
            <a:ext cx="246888" cy="24688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8" name="Text 36"/>
          <p:cNvSpPr txBox="1"/>
          <p:nvPr/>
        </p:nvSpPr>
        <p:spPr>
          <a:xfrm>
            <a:off x="7205472" y="5586984"/>
            <a:ext cx="3474720" cy="356616"/>
          </a:xfrm>
          <a:prstGeom prst="rect">
            <a:avLst/>
          </a:prstGeom>
          <a:noFill/>
          <a:ln/>
        </p:spPr>
        <p:txBody>
          <a:bodyPr wrap="square" lIns="0" tIns="0" rIns="0" bIns="0" rtlCol="0" anchor="ctr">
            <a:normAutofit/>
          </a:bodyPr>
          <a:lstStyle/>
          <a:p>
            <a:pPr algn="l" indent="0" marL="0">
              <a:buNone/>
            </a:pPr>
            <a:r>
              <a:rPr lang="en-US" sz="1300" b="1" dirty="0">
                <a:solidFill>
                  <a:srgbClr val="DCEBE6"/>
                </a:solidFill>
                <a:latin typeface="Calibri" pitchFamily="34" charset="0"/>
                <a:ea typeface="Calibri" pitchFamily="34" charset="-122"/>
                <a:cs typeface="Calibri" pitchFamily="34" charset="-120"/>
              </a:rPr>
              <a:t>Manifest reference + schema checks</a:t>
            </a:r>
            <a:endParaRPr lang="en-US" sz="1300" dirty="0"/>
          </a:p>
        </p:txBody>
      </p:sp>
      <p:sp>
        <p:nvSpPr>
          <p:cNvPr id="39" name="Text 37"/>
          <p:cNvSpPr txBox="1"/>
          <p:nvPr/>
        </p:nvSpPr>
        <p:spPr>
          <a:xfrm>
            <a:off x="640080" y="6035040"/>
            <a:ext cx="5303520" cy="274320"/>
          </a:xfrm>
          <a:prstGeom prst="rect">
            <a:avLst/>
          </a:prstGeom>
          <a:noFill/>
          <a:ln/>
        </p:spPr>
        <p:txBody>
          <a:bodyPr wrap="square" lIns="0" tIns="0" rIns="0" bIns="0" rtlCol="0" anchor="ctr">
            <a:normAutofit/>
          </a:bodyPr>
          <a:lstStyle/>
          <a:p>
            <a:pPr algn="l" indent="0" marL="0">
              <a:buNone/>
            </a:pPr>
            <a:r>
              <a:rPr lang="en-US" sz="1300" b="1" dirty="0">
                <a:solidFill>
                  <a:srgbClr val="F2C14E"/>
                </a:solidFill>
                <a:latin typeface="Calibri" pitchFamily="34" charset="0"/>
                <a:ea typeface="Calibri" pitchFamily="34" charset="-122"/>
                <a:cs typeface="Calibri" pitchFamily="34" charset="-120"/>
              </a:rPr>
              <a:t>github.com/ghostkernel-core/cdm-pipeline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reeeliance take-home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CDM Pipeline Technical Walkthrough</dc:title>
  <dc:subject>CDM ingestion pipeline technical walkthrough</dc:subject>
  <dc:creator>Tahasanul Ibrahim</dc:creator>
  <cp:lastModifiedBy>Tahasanul Ibrahim</cp:lastModifiedBy>
  <cp:revision>1</cp:revision>
  <dcterms:created xsi:type="dcterms:W3CDTF">2026-10-25T14:33:19Z</dcterms:created>
  <dcterms:modified xsi:type="dcterms:W3CDTF">2026-10-25T14:33:19Z</dcterms:modified>
</cp:coreProperties>
</file>