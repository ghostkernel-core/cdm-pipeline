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claim: the brief is fully covered. Two source CSVs become Contact and SalesOrder. The pipeline writes five contacts and four valid orders, rejects the one orphan order, and serializes every timestamp in UTC as YYYY-MM-DDTHH:MM:SSZ.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code reads and cleans source rows, writes the required entity folders, generates model.json from the entity models, and documents the requested diagrams. One command runs the complete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 Smith’s uppercase email becomes lowercase. A timestamp without a zone, 2023-02-20 14:15:00, is treated as UTC and written 2023-02-20T14:15:00Z. Alice’s invalid email is logged and written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relationship is one Contact to zero or many SalesOrders. Four orders pass. ORD-1005 refers to CST-999, so it is excluded from SalesOrder.csv and written to quarantine with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evidence. The required folder structure and model.json are present. The manifest lists both entities, their attributes and data types, partition locations, and the relationship. Forty-six tests pass at 97 percent coverage. CI is green on Python 3.11 and 3.13.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82880"/>
            <a:ext cx="1828800" cy="201168"/>
          </a:xfrm>
          <a:prstGeom prst="rect">
            <a:avLst/>
          </a:prstGeom>
          <a:noFill/>
          <a:ln/>
        </p:spPr>
        <p:txBody>
          <a:bodyPr wrap="square" lIns="0" tIns="0" rIns="0" bIns="0" rtlCol="0" anchor="ctr"/>
          <a:lstStyle/>
          <a:p>
            <a:pPr indent="0" marL="0">
              <a:buNone/>
            </a:pPr>
            <a:r>
              <a:rPr lang="en-US" sz="1000" b="1" spc="160" kern="0" dirty="0">
                <a:solidFill>
                  <a:srgbClr val="477064"/>
                </a:solidFill>
                <a:latin typeface="Calibri" pitchFamily="34" charset="0"/>
                <a:ea typeface="Calibri" pitchFamily="34" charset="-122"/>
                <a:cs typeface="Calibri" pitchFamily="34" charset="-120"/>
              </a:rPr>
              <a:t>CDM PIPELINE</a:t>
            </a:r>
            <a:endParaRPr lang="en-US" sz="1000" dirty="0"/>
          </a:p>
        </p:txBody>
      </p:sp>
      <p:sp>
        <p:nvSpPr>
          <p:cNvPr id="3" name="Text 1"/>
          <p:cNvSpPr/>
          <p:nvPr/>
        </p:nvSpPr>
        <p:spPr>
          <a:xfrm>
            <a:off x="9555480" y="6492240"/>
            <a:ext cx="2103120" cy="164592"/>
          </a:xfrm>
          <a:prstGeom prst="rect">
            <a:avLst/>
          </a:prstGeom>
          <a:noFill/>
          <a:ln/>
        </p:spPr>
        <p:txBody>
          <a:bodyPr wrap="square" lIns="0" tIns="0" rIns="0" bIns="0" rtlCol="0" anchor="ctr"/>
          <a:lstStyle/>
          <a:p>
            <a:pPr algn="r" indent="0" marL="0">
              <a:buNone/>
            </a:pPr>
            <a:r>
              <a:rPr lang="en-US" sz="900" dirty="0">
                <a:solidFill>
                  <a:srgbClr val="6B7B76"/>
                </a:solidFill>
                <a:latin typeface="Calibri" pitchFamily="34" charset="0"/>
                <a:ea typeface="Calibri" pitchFamily="34" charset="-122"/>
                <a:cs typeface="Calibri" pitchFamily="34" charset="-120"/>
              </a:rPr>
              <a:t>Tahasanul Ibrahim</a:t>
            </a:r>
            <a:endParaRPr lang="en-US" sz="900" dirty="0"/>
          </a:p>
        </p:txBody>
      </p:sp>
      <p:sp>
        <p:nvSpPr>
          <p:cNvPr id="25" name="Slide Number Placeholder 0"/>
          <p:cNvSpPr>
            <a:spLocks noGrp="1"/>
          </p:cNvSpPr>
          <p:nvPr>
            <p:ph type="sldNum" sz="quarter" idx="4294967295"/>
          </p:nvPr>
        </p:nvSpPr>
        <p:spPr>
          <a:xfrm>
            <a:off x="1168603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B76"/>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B76"/>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F29"/>
        </a:solidFill>
      </p:bgPr>
    </p:bg>
    <p:spTree>
      <p:nvGrpSpPr>
        <p:cNvPr id="1" name=""/>
        <p:cNvGrpSpPr/>
        <p:nvPr/>
      </p:nvGrpSpPr>
      <p:grpSpPr>
        <a:xfrm>
          <a:off x="0" y="0"/>
          <a:ext cx="0" cy="0"/>
          <a:chOff x="0" y="0"/>
          <a:chExt cx="0" cy="0"/>
        </a:xfrm>
      </p:grpSpPr>
      <p:sp>
        <p:nvSpPr>
          <p:cNvPr id="2" name="Shape 0"/>
          <p:cNvSpPr/>
          <p:nvPr/>
        </p:nvSpPr>
        <p:spPr>
          <a:xfrm>
            <a:off x="566928" y="502920"/>
            <a:ext cx="2057400" cy="320040"/>
          </a:xfrm>
          <a:prstGeom prst="roundRect">
            <a:avLst>
              <a:gd name="adj" fmla="val 22857"/>
            </a:avLst>
          </a:prstGeom>
          <a:solidFill>
            <a:srgbClr val="55B99A"/>
          </a:solidFill>
          <a:ln w="12700">
            <a:solidFill>
              <a:srgbClr val="55B99A"/>
            </a:solidFill>
            <a:prstDash val="solid"/>
          </a:ln>
        </p:spPr>
      </p:sp>
      <p:sp>
        <p:nvSpPr>
          <p:cNvPr id="3" name="Text 1"/>
          <p:cNvSpPr txBox="1"/>
          <p:nvPr/>
        </p:nvSpPr>
        <p:spPr>
          <a:xfrm>
            <a:off x="566928" y="502920"/>
            <a:ext cx="2057400" cy="320040"/>
          </a:xfrm>
          <a:prstGeom prst="rect">
            <a:avLst/>
          </a:prstGeom>
          <a:noFill/>
          <a:ln/>
        </p:spPr>
        <p:txBody>
          <a:bodyPr wrap="square" lIns="0" tIns="0" rIns="0" bIns="0" rtlCol="0" anchor="ctr">
            <a:normAutofit/>
          </a:bodyPr>
          <a:lstStyle/>
          <a:p>
            <a:pPr algn="ctr" indent="0" marL="0">
              <a:buNone/>
            </a:pPr>
            <a:r>
              <a:rPr lang="en-US" sz="1100" b="1" dirty="0">
                <a:solidFill>
                  <a:srgbClr val="102F29"/>
                </a:solidFill>
                <a:latin typeface="Calibri" pitchFamily="34" charset="0"/>
                <a:ea typeface="Calibri" pitchFamily="34" charset="-122"/>
                <a:cs typeface="Calibri" pitchFamily="34" charset="-120"/>
              </a:rPr>
              <a:t>TAKE-HOME WALKTHROUGH</a:t>
            </a:r>
            <a:endParaRPr lang="en-US" sz="1100" dirty="0"/>
          </a:p>
        </p:txBody>
      </p:sp>
      <p:sp>
        <p:nvSpPr>
          <p:cNvPr id="4" name="Text 2"/>
          <p:cNvSpPr txBox="1"/>
          <p:nvPr/>
        </p:nvSpPr>
        <p:spPr>
          <a:xfrm>
            <a:off x="566928" y="1143000"/>
            <a:ext cx="6400800" cy="1417320"/>
          </a:xfrm>
          <a:prstGeom prst="rect">
            <a:avLst/>
          </a:prstGeom>
          <a:noFill/>
          <a:ln/>
        </p:spPr>
        <p:txBody>
          <a:bodyPr wrap="square" lIns="0" tIns="0" rIns="0" bIns="0" rtlCol="0" anchor="ctr">
            <a:normAutofit/>
          </a:bodyPr>
          <a:lstStyle/>
          <a:p>
            <a:pPr algn="l" indent="0" marL="0">
              <a:buNone/>
            </a:pPr>
            <a:r>
              <a:rPr lang="en-US" sz="3400" b="1" dirty="0">
                <a:solidFill>
                  <a:srgbClr val="FFFFFF"/>
                </a:solidFill>
                <a:latin typeface="Cambria" pitchFamily="34" charset="0"/>
                <a:ea typeface="Cambria" pitchFamily="34" charset="-122"/>
                <a:cs typeface="Cambria" pitchFamily="34" charset="-120"/>
              </a:rPr>
              <a:t>Raw CSVs become</a:t>
            </a:r>
            <a:endParaRPr lang="en-US" sz="3400" dirty="0"/>
          </a:p>
          <a:p>
            <a:pPr algn="l" indent="0" marL="0">
              <a:buNone/>
            </a:pPr>
            <a:r>
              <a:rPr lang="en-US" sz="3400" b="1" dirty="0">
                <a:solidFill>
                  <a:srgbClr val="FFFFFF"/>
                </a:solidFill>
                <a:latin typeface="Cambria" pitchFamily="34" charset="0"/>
                <a:ea typeface="Cambria" pitchFamily="34" charset="-122"/>
                <a:cs typeface="Cambria" pitchFamily="34" charset="-120"/>
              </a:rPr>
              <a:t>CDM-ready data</a:t>
            </a:r>
            <a:endParaRPr lang="en-US" sz="3400" dirty="0"/>
          </a:p>
        </p:txBody>
      </p:sp>
      <p:sp>
        <p:nvSpPr>
          <p:cNvPr id="5" name="Text 3"/>
          <p:cNvSpPr txBox="1"/>
          <p:nvPr/>
        </p:nvSpPr>
        <p:spPr>
          <a:xfrm>
            <a:off x="603504" y="2697480"/>
            <a:ext cx="5715000" cy="594360"/>
          </a:xfrm>
          <a:prstGeom prst="rect">
            <a:avLst/>
          </a:prstGeom>
          <a:noFill/>
          <a:ln/>
        </p:spPr>
        <p:txBody>
          <a:bodyPr wrap="square" lIns="0" tIns="0" rIns="0" bIns="0" rtlCol="0" anchor="ctr">
            <a:normAutofit/>
          </a:bodyPr>
          <a:lstStyle/>
          <a:p>
            <a:pPr algn="l" indent="0" marL="0">
              <a:buNone/>
            </a:pPr>
            <a:r>
              <a:rPr lang="en-US" sz="1800" dirty="0">
                <a:solidFill>
                  <a:srgbClr val="DCEBE6"/>
                </a:solidFill>
                <a:latin typeface="Calibri" pitchFamily="34" charset="0"/>
                <a:ea typeface="Calibri" pitchFamily="34" charset="-122"/>
                <a:cs typeface="Calibri" pitchFamily="34" charset="-120"/>
              </a:rPr>
              <a:t>The implementation covers all four requirements: transform, store, describe and diagram.</a:t>
            </a:r>
            <a:endParaRPr lang="en-US" sz="1800" dirty="0"/>
          </a:p>
        </p:txBody>
      </p:sp>
      <p:sp>
        <p:nvSpPr>
          <p:cNvPr id="6" name="Shape 4"/>
          <p:cNvSpPr/>
          <p:nvPr/>
        </p:nvSpPr>
        <p:spPr>
          <a:xfrm>
            <a:off x="6903720" y="1024128"/>
            <a:ext cx="1508760" cy="1005840"/>
          </a:xfrm>
          <a:prstGeom prst="roundRect">
            <a:avLst>
              <a:gd name="adj" fmla="val 9091"/>
            </a:avLst>
          </a:prstGeom>
          <a:solidFill>
            <a:srgbClr val="FFFFFF"/>
          </a:solidFill>
          <a:ln w="12700">
            <a:solidFill>
              <a:srgbClr val="FFFFFF"/>
            </a:solidFill>
            <a:prstDash val="solid"/>
          </a:ln>
        </p:spPr>
      </p:sp>
      <p:sp>
        <p:nvSpPr>
          <p:cNvPr id="7" name="Text 5"/>
          <p:cNvSpPr txBox="1"/>
          <p:nvPr/>
        </p:nvSpPr>
        <p:spPr>
          <a:xfrm>
            <a:off x="6903720" y="1216152"/>
            <a:ext cx="1508760" cy="228600"/>
          </a:xfrm>
          <a:prstGeom prst="rect">
            <a:avLst/>
          </a:prstGeom>
          <a:noFill/>
          <a:ln/>
        </p:spPr>
        <p:txBody>
          <a:bodyPr wrap="square" lIns="0" tIns="0" rIns="0" bIns="0" rtlCol="0" anchor="ctr">
            <a:normAutofit/>
          </a:bodyPr>
          <a:lstStyle/>
          <a:p>
            <a:pPr algn="ctr" indent="0" marL="0">
              <a:buNone/>
            </a:pPr>
            <a:r>
              <a:rPr lang="en-US" sz="1200" b="1" dirty="0">
                <a:solidFill>
                  <a:srgbClr val="5E6C67"/>
                </a:solidFill>
                <a:latin typeface="Calibri" pitchFamily="34" charset="0"/>
                <a:ea typeface="Calibri" pitchFamily="34" charset="-122"/>
                <a:cs typeface="Calibri" pitchFamily="34" charset="-120"/>
              </a:rPr>
              <a:t>RAW</a:t>
            </a:r>
            <a:endParaRPr lang="en-US" sz="1200" dirty="0"/>
          </a:p>
        </p:txBody>
      </p:sp>
      <p:sp>
        <p:nvSpPr>
          <p:cNvPr id="8" name="Text 6"/>
          <p:cNvSpPr txBox="1"/>
          <p:nvPr/>
        </p:nvSpPr>
        <p:spPr>
          <a:xfrm>
            <a:off x="6903720" y="1490472"/>
            <a:ext cx="1508760" cy="274320"/>
          </a:xfrm>
          <a:prstGeom prst="rect">
            <a:avLst/>
          </a:prstGeom>
          <a:noFill/>
          <a:ln/>
        </p:spPr>
        <p:txBody>
          <a:bodyPr wrap="square" lIns="0" tIns="0" rIns="0" bIns="0" rtlCol="0" anchor="ctr">
            <a:normAutofit/>
          </a:bodyPr>
          <a:lstStyle/>
          <a:p>
            <a:pPr algn="ctr" indent="0" marL="0">
              <a:buNone/>
            </a:pPr>
            <a:r>
              <a:rPr lang="en-US" sz="1800" b="1" dirty="0">
                <a:solidFill>
                  <a:srgbClr val="17211E"/>
                </a:solidFill>
                <a:latin typeface="Calibri" pitchFamily="34" charset="0"/>
                <a:ea typeface="Calibri" pitchFamily="34" charset="-122"/>
                <a:cs typeface="Calibri" pitchFamily="34" charset="-120"/>
              </a:rPr>
              <a:t>2 CSV files</a:t>
            </a:r>
            <a:endParaRPr lang="en-US" sz="1800" dirty="0"/>
          </a:p>
        </p:txBody>
      </p:sp>
      <p:sp>
        <p:nvSpPr>
          <p:cNvPr id="9" name="Shape 7"/>
          <p:cNvSpPr/>
          <p:nvPr/>
        </p:nvSpPr>
        <p:spPr>
          <a:xfrm>
            <a:off x="8522208" y="1527048"/>
            <a:ext cx="640080" cy="0"/>
          </a:xfrm>
          <a:prstGeom prst="line">
            <a:avLst/>
          </a:prstGeom>
          <a:noFill/>
          <a:ln w="38100">
            <a:solidFill>
              <a:srgbClr val="F2C14E"/>
            </a:solidFill>
            <a:prstDash val="solid"/>
            <a:headEnd type="none"/>
            <a:tailEnd type="triangle"/>
          </a:ln>
        </p:spPr>
      </p:sp>
      <p:sp>
        <p:nvSpPr>
          <p:cNvPr id="10" name="Shape 8"/>
          <p:cNvSpPr/>
          <p:nvPr/>
        </p:nvSpPr>
        <p:spPr>
          <a:xfrm>
            <a:off x="9281160" y="1024128"/>
            <a:ext cx="2011680" cy="1005840"/>
          </a:xfrm>
          <a:prstGeom prst="roundRect">
            <a:avLst>
              <a:gd name="adj" fmla="val 9091"/>
            </a:avLst>
          </a:prstGeom>
          <a:solidFill>
            <a:srgbClr val="E7F4EF"/>
          </a:solidFill>
          <a:ln w="12700">
            <a:solidFill>
              <a:srgbClr val="E7F4EF"/>
            </a:solidFill>
            <a:prstDash val="solid"/>
          </a:ln>
        </p:spPr>
      </p:sp>
      <p:sp>
        <p:nvSpPr>
          <p:cNvPr id="11" name="Text 9"/>
          <p:cNvSpPr txBox="1"/>
          <p:nvPr/>
        </p:nvSpPr>
        <p:spPr>
          <a:xfrm>
            <a:off x="9281160" y="1216152"/>
            <a:ext cx="2011680" cy="228600"/>
          </a:xfrm>
          <a:prstGeom prst="rect">
            <a:avLst/>
          </a:prstGeom>
          <a:noFill/>
          <a:ln/>
        </p:spPr>
        <p:txBody>
          <a:bodyPr wrap="square" lIns="0" tIns="0" rIns="0" bIns="0" rtlCol="0" anchor="ctr">
            <a:normAutofit/>
          </a:bodyPr>
          <a:lstStyle/>
          <a:p>
            <a:pPr algn="ctr" indent="0" marL="0">
              <a:buNone/>
            </a:pPr>
            <a:r>
              <a:rPr lang="en-US" sz="1200" b="1" dirty="0">
                <a:solidFill>
                  <a:srgbClr val="173F35"/>
                </a:solidFill>
                <a:latin typeface="Calibri" pitchFamily="34" charset="0"/>
                <a:ea typeface="Calibri" pitchFamily="34" charset="-122"/>
                <a:cs typeface="Calibri" pitchFamily="34" charset="-120"/>
              </a:rPr>
              <a:t>CDM</a:t>
            </a:r>
            <a:endParaRPr lang="en-US" sz="1200" dirty="0"/>
          </a:p>
        </p:txBody>
      </p:sp>
      <p:sp>
        <p:nvSpPr>
          <p:cNvPr id="12" name="Text 10"/>
          <p:cNvSpPr txBox="1"/>
          <p:nvPr/>
        </p:nvSpPr>
        <p:spPr>
          <a:xfrm>
            <a:off x="9281160" y="1490472"/>
            <a:ext cx="2011680" cy="274320"/>
          </a:xfrm>
          <a:prstGeom prst="rect">
            <a:avLst/>
          </a:prstGeom>
          <a:noFill/>
          <a:ln/>
        </p:spPr>
        <p:txBody>
          <a:bodyPr wrap="square" lIns="0" tIns="0" rIns="0" bIns="0" rtlCol="0" anchor="ctr">
            <a:normAutofit/>
          </a:bodyPr>
          <a:lstStyle/>
          <a:p>
            <a:pPr algn="ctr" indent="0" marL="0">
              <a:buNone/>
            </a:pPr>
            <a:r>
              <a:rPr lang="en-US" sz="1800" b="1" dirty="0">
                <a:solidFill>
                  <a:srgbClr val="102F29"/>
                </a:solidFill>
                <a:latin typeface="Calibri" pitchFamily="34" charset="0"/>
                <a:ea typeface="Calibri" pitchFamily="34" charset="-122"/>
                <a:cs typeface="Calibri" pitchFamily="34" charset="-120"/>
              </a:rPr>
              <a:t>2 entities + manifest</a:t>
            </a:r>
            <a:endParaRPr lang="en-US" sz="1800" dirty="0"/>
          </a:p>
        </p:txBody>
      </p:sp>
      <p:sp>
        <p:nvSpPr>
          <p:cNvPr id="13" name="Shape 11"/>
          <p:cNvSpPr/>
          <p:nvPr/>
        </p:nvSpPr>
        <p:spPr>
          <a:xfrm>
            <a:off x="603504" y="4251960"/>
            <a:ext cx="2423160" cy="1097280"/>
          </a:xfrm>
          <a:prstGeom prst="roundRect">
            <a:avLst>
              <a:gd name="adj" fmla="val 8333"/>
            </a:avLst>
          </a:prstGeom>
          <a:solidFill>
            <a:srgbClr val="214D42"/>
          </a:solidFill>
          <a:ln w="12700">
            <a:solidFill>
              <a:srgbClr val="377365"/>
            </a:solidFill>
            <a:prstDash val="solid"/>
          </a:ln>
        </p:spPr>
      </p:sp>
      <p:sp>
        <p:nvSpPr>
          <p:cNvPr id="14" name="Text 12"/>
          <p:cNvSpPr txBox="1"/>
          <p:nvPr/>
        </p:nvSpPr>
        <p:spPr>
          <a:xfrm>
            <a:off x="768096" y="4416552"/>
            <a:ext cx="685800" cy="420624"/>
          </a:xfrm>
          <a:prstGeom prst="rect">
            <a:avLst/>
          </a:prstGeom>
          <a:noFill/>
          <a:ln/>
        </p:spPr>
        <p:txBody>
          <a:bodyPr wrap="square" lIns="0" tIns="0" rIns="0" bIns="0" rtlCol="0" anchor="ctr">
            <a:normAutofit/>
          </a:bodyPr>
          <a:lstStyle/>
          <a:p>
            <a:pPr algn="l" indent="0" marL="0">
              <a:buNone/>
            </a:pPr>
            <a:r>
              <a:rPr lang="en-US" sz="2500" b="1" dirty="0">
                <a:solidFill>
                  <a:srgbClr val="FFFFFF"/>
                </a:solidFill>
                <a:latin typeface="Calibri" pitchFamily="34" charset="0"/>
                <a:ea typeface="Calibri" pitchFamily="34" charset="-122"/>
                <a:cs typeface="Calibri" pitchFamily="34" charset="-120"/>
              </a:rPr>
              <a:t>5</a:t>
            </a:r>
            <a:endParaRPr lang="en-US" sz="2500" dirty="0"/>
          </a:p>
        </p:txBody>
      </p:sp>
      <p:sp>
        <p:nvSpPr>
          <p:cNvPr id="15" name="Text 13"/>
          <p:cNvSpPr txBox="1"/>
          <p:nvPr/>
        </p:nvSpPr>
        <p:spPr>
          <a:xfrm>
            <a:off x="1444752" y="4425696"/>
            <a:ext cx="1353312" cy="402336"/>
          </a:xfrm>
          <a:prstGeom prst="rect">
            <a:avLst/>
          </a:prstGeom>
          <a:noFill/>
          <a:ln/>
        </p:spPr>
        <p:txBody>
          <a:bodyPr wrap="square" lIns="0" tIns="0" rIns="0" bIns="0" rtlCol="0" anchor="ctr">
            <a:normAutofit/>
          </a:bodyPr>
          <a:lstStyle/>
          <a:p>
            <a:pPr algn="l" indent="0" marL="0">
              <a:buNone/>
            </a:pPr>
            <a:r>
              <a:rPr lang="en-US" sz="1300" b="1" dirty="0">
                <a:solidFill>
                  <a:srgbClr val="DCEBE6"/>
                </a:solidFill>
                <a:latin typeface="Calibri" pitchFamily="34" charset="0"/>
                <a:ea typeface="Calibri" pitchFamily="34" charset="-122"/>
                <a:cs typeface="Calibri" pitchFamily="34" charset="-120"/>
              </a:rPr>
              <a:t>contacts</a:t>
            </a:r>
            <a:endParaRPr lang="en-US" sz="1300" dirty="0"/>
          </a:p>
        </p:txBody>
      </p:sp>
      <p:sp>
        <p:nvSpPr>
          <p:cNvPr id="16" name="Shape 14"/>
          <p:cNvSpPr/>
          <p:nvPr/>
        </p:nvSpPr>
        <p:spPr>
          <a:xfrm>
            <a:off x="3364992" y="4251960"/>
            <a:ext cx="2423160" cy="1097280"/>
          </a:xfrm>
          <a:prstGeom prst="roundRect">
            <a:avLst>
              <a:gd name="adj" fmla="val 8333"/>
            </a:avLst>
          </a:prstGeom>
          <a:solidFill>
            <a:srgbClr val="214D42"/>
          </a:solidFill>
          <a:ln w="12700">
            <a:solidFill>
              <a:srgbClr val="377365"/>
            </a:solidFill>
            <a:prstDash val="solid"/>
          </a:ln>
        </p:spPr>
      </p:sp>
      <p:sp>
        <p:nvSpPr>
          <p:cNvPr id="17" name="Text 15"/>
          <p:cNvSpPr txBox="1"/>
          <p:nvPr/>
        </p:nvSpPr>
        <p:spPr>
          <a:xfrm>
            <a:off x="3529584" y="4416552"/>
            <a:ext cx="685800" cy="420624"/>
          </a:xfrm>
          <a:prstGeom prst="rect">
            <a:avLst/>
          </a:prstGeom>
          <a:noFill/>
          <a:ln/>
        </p:spPr>
        <p:txBody>
          <a:bodyPr wrap="square" lIns="0" tIns="0" rIns="0" bIns="0" rtlCol="0" anchor="ctr">
            <a:normAutofit/>
          </a:bodyPr>
          <a:lstStyle/>
          <a:p>
            <a:pPr algn="l" indent="0" marL="0">
              <a:buNone/>
            </a:pPr>
            <a:r>
              <a:rPr lang="en-US" sz="2500" b="1" dirty="0">
                <a:solidFill>
                  <a:srgbClr val="FFFFFF"/>
                </a:solidFill>
                <a:latin typeface="Calibri" pitchFamily="34" charset="0"/>
                <a:ea typeface="Calibri" pitchFamily="34" charset="-122"/>
                <a:cs typeface="Calibri" pitchFamily="34" charset="-120"/>
              </a:rPr>
              <a:t>4</a:t>
            </a:r>
            <a:endParaRPr lang="en-US" sz="2500" dirty="0"/>
          </a:p>
        </p:txBody>
      </p:sp>
      <p:sp>
        <p:nvSpPr>
          <p:cNvPr id="18" name="Text 16"/>
          <p:cNvSpPr txBox="1"/>
          <p:nvPr/>
        </p:nvSpPr>
        <p:spPr>
          <a:xfrm>
            <a:off x="4206240" y="4425696"/>
            <a:ext cx="1353312" cy="402336"/>
          </a:xfrm>
          <a:prstGeom prst="rect">
            <a:avLst/>
          </a:prstGeom>
          <a:noFill/>
          <a:ln/>
        </p:spPr>
        <p:txBody>
          <a:bodyPr wrap="square" lIns="0" tIns="0" rIns="0" bIns="0" rtlCol="0" anchor="ctr">
            <a:normAutofit/>
          </a:bodyPr>
          <a:lstStyle/>
          <a:p>
            <a:pPr algn="l" indent="0" marL="0">
              <a:buNone/>
            </a:pPr>
            <a:r>
              <a:rPr lang="en-US" sz="1300" b="1" dirty="0">
                <a:solidFill>
                  <a:srgbClr val="DCEBE6"/>
                </a:solidFill>
                <a:latin typeface="Calibri" pitchFamily="34" charset="0"/>
                <a:ea typeface="Calibri" pitchFamily="34" charset="-122"/>
                <a:cs typeface="Calibri" pitchFamily="34" charset="-120"/>
              </a:rPr>
              <a:t>valid orders</a:t>
            </a:r>
            <a:endParaRPr lang="en-US" sz="1300" dirty="0"/>
          </a:p>
        </p:txBody>
      </p:sp>
      <p:sp>
        <p:nvSpPr>
          <p:cNvPr id="19" name="Shape 17"/>
          <p:cNvSpPr/>
          <p:nvPr/>
        </p:nvSpPr>
        <p:spPr>
          <a:xfrm>
            <a:off x="6126480" y="4251960"/>
            <a:ext cx="2423160" cy="1097280"/>
          </a:xfrm>
          <a:prstGeom prst="roundRect">
            <a:avLst>
              <a:gd name="adj" fmla="val 8333"/>
            </a:avLst>
          </a:prstGeom>
          <a:solidFill>
            <a:srgbClr val="214D42"/>
          </a:solidFill>
          <a:ln w="12700">
            <a:solidFill>
              <a:srgbClr val="377365"/>
            </a:solidFill>
            <a:prstDash val="solid"/>
          </a:ln>
        </p:spPr>
      </p:sp>
      <p:sp>
        <p:nvSpPr>
          <p:cNvPr id="20" name="Text 18"/>
          <p:cNvSpPr txBox="1"/>
          <p:nvPr/>
        </p:nvSpPr>
        <p:spPr>
          <a:xfrm>
            <a:off x="6291072" y="4416552"/>
            <a:ext cx="685800" cy="420624"/>
          </a:xfrm>
          <a:prstGeom prst="rect">
            <a:avLst/>
          </a:prstGeom>
          <a:noFill/>
          <a:ln/>
        </p:spPr>
        <p:txBody>
          <a:bodyPr wrap="square" lIns="0" tIns="0" rIns="0" bIns="0" rtlCol="0" anchor="ctr">
            <a:normAutofit/>
          </a:bodyPr>
          <a:lstStyle/>
          <a:p>
            <a:pPr algn="l" indent="0" marL="0">
              <a:buNone/>
            </a:pPr>
            <a:r>
              <a:rPr lang="en-US" sz="2500" b="1" dirty="0">
                <a:solidFill>
                  <a:srgbClr val="FFFFFF"/>
                </a:solidFill>
                <a:latin typeface="Calibri" pitchFamily="34" charset="0"/>
                <a:ea typeface="Calibri" pitchFamily="34" charset="-122"/>
                <a:cs typeface="Calibri" pitchFamily="34" charset="-120"/>
              </a:rPr>
              <a:t>1</a:t>
            </a:r>
            <a:endParaRPr lang="en-US" sz="2500" dirty="0"/>
          </a:p>
        </p:txBody>
      </p:sp>
      <p:sp>
        <p:nvSpPr>
          <p:cNvPr id="21" name="Text 19"/>
          <p:cNvSpPr txBox="1"/>
          <p:nvPr/>
        </p:nvSpPr>
        <p:spPr>
          <a:xfrm>
            <a:off x="6967728" y="4425696"/>
            <a:ext cx="1353312" cy="402336"/>
          </a:xfrm>
          <a:prstGeom prst="rect">
            <a:avLst/>
          </a:prstGeom>
          <a:noFill/>
          <a:ln/>
        </p:spPr>
        <p:txBody>
          <a:bodyPr wrap="square" lIns="0" tIns="0" rIns="0" bIns="0" rtlCol="0" anchor="ctr">
            <a:normAutofit/>
          </a:bodyPr>
          <a:lstStyle/>
          <a:p>
            <a:pPr algn="l" indent="0" marL="0">
              <a:buNone/>
            </a:pPr>
            <a:r>
              <a:rPr lang="en-US" sz="1300" b="1" dirty="0">
                <a:solidFill>
                  <a:srgbClr val="DCEBE6"/>
                </a:solidFill>
                <a:latin typeface="Calibri" pitchFamily="34" charset="0"/>
                <a:ea typeface="Calibri" pitchFamily="34" charset="-122"/>
                <a:cs typeface="Calibri" pitchFamily="34" charset="-120"/>
              </a:rPr>
              <a:t>orphan rejected</a:t>
            </a:r>
            <a:endParaRPr lang="en-US" sz="1300" dirty="0"/>
          </a:p>
        </p:txBody>
      </p:sp>
      <p:sp>
        <p:nvSpPr>
          <p:cNvPr id="22" name="Shape 20"/>
          <p:cNvSpPr/>
          <p:nvPr/>
        </p:nvSpPr>
        <p:spPr>
          <a:xfrm>
            <a:off x="8887968" y="4251960"/>
            <a:ext cx="2423160" cy="1097280"/>
          </a:xfrm>
          <a:prstGeom prst="roundRect">
            <a:avLst>
              <a:gd name="adj" fmla="val 8333"/>
            </a:avLst>
          </a:prstGeom>
          <a:solidFill>
            <a:srgbClr val="FFF5D9"/>
          </a:solidFill>
          <a:ln w="12700">
            <a:solidFill>
              <a:srgbClr val="FFF5D9"/>
            </a:solidFill>
            <a:prstDash val="solid"/>
          </a:ln>
        </p:spPr>
      </p:sp>
      <p:sp>
        <p:nvSpPr>
          <p:cNvPr id="23" name="Text 21"/>
          <p:cNvSpPr txBox="1"/>
          <p:nvPr/>
        </p:nvSpPr>
        <p:spPr>
          <a:xfrm>
            <a:off x="9052560" y="4416552"/>
            <a:ext cx="685800" cy="420624"/>
          </a:xfrm>
          <a:prstGeom prst="rect">
            <a:avLst/>
          </a:prstGeom>
          <a:noFill/>
          <a:ln/>
        </p:spPr>
        <p:txBody>
          <a:bodyPr wrap="square" lIns="0" tIns="0" rIns="0" bIns="0" rtlCol="0" anchor="ctr">
            <a:normAutofit/>
          </a:bodyPr>
          <a:lstStyle/>
          <a:p>
            <a:pPr algn="l" indent="0" marL="0">
              <a:buNone/>
            </a:pPr>
            <a:r>
              <a:rPr lang="en-US" sz="2500" b="1" dirty="0">
                <a:solidFill>
                  <a:srgbClr val="102F29"/>
                </a:solidFill>
                <a:latin typeface="Calibri" pitchFamily="34" charset="0"/>
                <a:ea typeface="Calibri" pitchFamily="34" charset="-122"/>
                <a:cs typeface="Calibri" pitchFamily="34" charset="-120"/>
              </a:rPr>
              <a:t>ISO</a:t>
            </a:r>
            <a:endParaRPr lang="en-US" sz="2500" dirty="0"/>
          </a:p>
        </p:txBody>
      </p:sp>
      <p:sp>
        <p:nvSpPr>
          <p:cNvPr id="24" name="Text 22"/>
          <p:cNvSpPr txBox="1"/>
          <p:nvPr/>
        </p:nvSpPr>
        <p:spPr>
          <a:xfrm>
            <a:off x="9729216" y="4425696"/>
            <a:ext cx="1353312" cy="402336"/>
          </a:xfrm>
          <a:prstGeom prst="rect">
            <a:avLst/>
          </a:prstGeom>
          <a:noFill/>
          <a:ln/>
        </p:spPr>
        <p:txBody>
          <a:bodyPr wrap="square" lIns="0" tIns="0" rIns="0" bIns="0" rtlCol="0" anchor="ctr">
            <a:normAutofit/>
          </a:bodyPr>
          <a:lstStyle/>
          <a:p>
            <a:pPr algn="l" indent="0" marL="0">
              <a:buNone/>
            </a:pPr>
            <a:r>
              <a:rPr lang="en-US" sz="1300" b="1" dirty="0">
                <a:solidFill>
                  <a:srgbClr val="102F29"/>
                </a:solidFill>
                <a:latin typeface="Calibri" pitchFamily="34" charset="0"/>
                <a:ea typeface="Calibri" pitchFamily="34" charset="-122"/>
                <a:cs typeface="Calibri" pitchFamily="34" charset="-120"/>
              </a:rPr>
              <a:t>UTC timestamps</a:t>
            </a:r>
            <a:endParaRPr lang="en-US" sz="1300" dirty="0"/>
          </a:p>
        </p:txBody>
      </p:sp>
      <p:sp>
        <p:nvSpPr>
          <p:cNvPr id="25" name="Text 23"/>
          <p:cNvSpPr txBox="1"/>
          <p:nvPr/>
        </p:nvSpPr>
        <p:spPr>
          <a:xfrm>
            <a:off x="603504" y="5879592"/>
            <a:ext cx="10424160" cy="347472"/>
          </a:xfrm>
          <a:prstGeom prst="rect">
            <a:avLst/>
          </a:prstGeom>
          <a:noFill/>
          <a:ln/>
        </p:spPr>
        <p:txBody>
          <a:bodyPr wrap="square" lIns="0" tIns="0" rIns="0" bIns="0" rtlCol="0" anchor="ctr">
            <a:normAutofit/>
          </a:bodyPr>
          <a:lstStyle/>
          <a:p>
            <a:pPr algn="l" indent="0" marL="0">
              <a:buNone/>
            </a:pPr>
            <a:r>
              <a:rPr lang="en-US" sz="1500" dirty="0">
                <a:solidFill>
                  <a:srgbClr val="DCEBE6"/>
                </a:solidFill>
                <a:latin typeface="Calibri" pitchFamily="34" charset="0"/>
                <a:ea typeface="Calibri" pitchFamily="34" charset="-122"/>
                <a:cs typeface="Calibri" pitchFamily="34" charset="-120"/>
              </a:rPr>
              <a:t>Result: clean entity CSVs, a validated model.json and traceable rejected rows.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566928"/>
            <a:ext cx="11109960" cy="502920"/>
          </a:xfrm>
          <a:prstGeom prst="rect">
            <a:avLst/>
          </a:prstGeom>
          <a:noFill/>
          <a:ln/>
        </p:spPr>
        <p:txBody>
          <a:bodyPr wrap="square" lIns="0" tIns="0" rIns="0" bIns="0" rtlCol="0" anchor="ctr">
            <a:normAutofit/>
          </a:bodyPr>
          <a:lstStyle/>
          <a:p>
            <a:pPr algn="l" indent="0" marL="0">
              <a:buNone/>
            </a:pPr>
            <a:r>
              <a:rPr lang="en-US" sz="3000" b="1" dirty="0">
                <a:solidFill>
                  <a:srgbClr val="17211E"/>
                </a:solidFill>
                <a:latin typeface="Cambria" pitchFamily="34" charset="0"/>
                <a:ea typeface="Cambria" pitchFamily="34" charset="-122"/>
                <a:cs typeface="Cambria" pitchFamily="34" charset="-120"/>
              </a:rPr>
              <a:t>Four steps cover the brief</a:t>
            </a:r>
            <a:endParaRPr lang="en-US" sz="3000" dirty="0"/>
          </a:p>
        </p:txBody>
      </p:sp>
      <p:sp>
        <p:nvSpPr>
          <p:cNvPr id="3" name="Text 1"/>
          <p:cNvSpPr txBox="1"/>
          <p:nvPr/>
        </p:nvSpPr>
        <p:spPr>
          <a:xfrm>
            <a:off x="521208" y="1115568"/>
            <a:ext cx="10789920" cy="292608"/>
          </a:xfrm>
          <a:prstGeom prst="rect">
            <a:avLst/>
          </a:prstGeom>
          <a:noFill/>
          <a:ln/>
        </p:spPr>
        <p:txBody>
          <a:bodyPr wrap="square" lIns="0" tIns="0" rIns="0" bIns="0" rtlCol="0" anchor="ctr">
            <a:normAutofit/>
          </a:bodyPr>
          <a:lstStyle/>
          <a:p>
            <a:pPr algn="l" indent="0" marL="0">
              <a:buNone/>
            </a:pPr>
            <a:r>
              <a:rPr lang="en-US" sz="1400" dirty="0">
                <a:solidFill>
                  <a:srgbClr val="5E6C67"/>
                </a:solidFill>
                <a:latin typeface="Calibri" pitchFamily="34" charset="0"/>
                <a:ea typeface="Calibri" pitchFamily="34" charset="-122"/>
                <a:cs typeface="Calibri" pitchFamily="34" charset="-120"/>
              </a:rPr>
              <a:t>Each requirement maps to one clear part of the implementation.</a:t>
            </a:r>
            <a:endParaRPr lang="en-US" sz="1400" dirty="0"/>
          </a:p>
        </p:txBody>
      </p:sp>
      <p:sp>
        <p:nvSpPr>
          <p:cNvPr id="4" name="Shape 2"/>
          <p:cNvSpPr/>
          <p:nvPr/>
        </p:nvSpPr>
        <p:spPr>
          <a:xfrm>
            <a:off x="594360" y="1737360"/>
            <a:ext cx="2404872" cy="3584448"/>
          </a:xfrm>
          <a:prstGeom prst="roundRect">
            <a:avLst>
              <a:gd name="adj" fmla="val 3802"/>
            </a:avLst>
          </a:prstGeom>
          <a:solidFill>
            <a:srgbClr val="F4F8F6"/>
          </a:solidFill>
          <a:ln w="12700">
            <a:solidFill>
              <a:srgbClr val="B9CCC5"/>
            </a:solidFill>
            <a:prstDash val="solid"/>
          </a:ln>
        </p:spPr>
      </p:sp>
      <p:sp>
        <p:nvSpPr>
          <p:cNvPr id="5" name="Shape 3"/>
          <p:cNvSpPr/>
          <p:nvPr/>
        </p:nvSpPr>
        <p:spPr>
          <a:xfrm>
            <a:off x="758952" y="1956816"/>
            <a:ext cx="438912" cy="438912"/>
          </a:xfrm>
          <a:prstGeom prst="ellipse">
            <a:avLst/>
          </a:prstGeom>
          <a:solidFill>
            <a:srgbClr val="173F35"/>
          </a:solidFill>
          <a:ln w="12700">
            <a:solidFill>
              <a:srgbClr val="173F35"/>
            </a:solidFill>
            <a:prstDash val="solid"/>
          </a:ln>
        </p:spPr>
      </p:sp>
      <p:sp>
        <p:nvSpPr>
          <p:cNvPr id="6" name="Text 4"/>
          <p:cNvSpPr txBox="1"/>
          <p:nvPr/>
        </p:nvSpPr>
        <p:spPr>
          <a:xfrm>
            <a:off x="758952" y="1956816"/>
            <a:ext cx="438912" cy="43891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758952" y="2578608"/>
            <a:ext cx="2057400" cy="457200"/>
          </a:xfrm>
          <a:prstGeom prst="rect">
            <a:avLst/>
          </a:prstGeom>
          <a:noFill/>
          <a:ln/>
        </p:spPr>
        <p:txBody>
          <a:bodyPr wrap="square" lIns="0" tIns="0" rIns="0" bIns="0" rtlCol="0" anchor="ctr">
            <a:normAutofit/>
          </a:bodyPr>
          <a:lstStyle/>
          <a:p>
            <a:pPr algn="l" indent="0" marL="0">
              <a:buNone/>
            </a:pPr>
            <a:r>
              <a:rPr lang="en-US" sz="1900" b="1" dirty="0">
                <a:solidFill>
                  <a:srgbClr val="17211E"/>
                </a:solidFill>
                <a:latin typeface="Cambria" pitchFamily="34" charset="0"/>
                <a:ea typeface="Cambria" pitchFamily="34" charset="-122"/>
                <a:cs typeface="Cambria" pitchFamily="34" charset="-120"/>
              </a:rPr>
              <a:t>Parse &amp; map</a:t>
            </a:r>
            <a:endParaRPr lang="en-US" sz="1900" dirty="0"/>
          </a:p>
        </p:txBody>
      </p:sp>
      <p:sp>
        <p:nvSpPr>
          <p:cNvPr id="8" name="Text 6"/>
          <p:cNvSpPr txBox="1"/>
          <p:nvPr/>
        </p:nvSpPr>
        <p:spPr>
          <a:xfrm>
            <a:off x="758952" y="3154680"/>
            <a:ext cx="2039112" cy="1051560"/>
          </a:xfrm>
          <a:prstGeom prst="rect">
            <a:avLst/>
          </a:prstGeom>
          <a:noFill/>
          <a:ln/>
        </p:spPr>
        <p:txBody>
          <a:bodyPr wrap="square" lIns="0" tIns="0" rIns="0" bIns="0" rtlCol="0" anchor="t">
            <a:normAutofit/>
          </a:bodyPr>
          <a:lstStyle/>
          <a:p>
            <a:pPr algn="l" indent="0" marL="0">
              <a:buNone/>
            </a:pPr>
            <a:r>
              <a:rPr lang="en-US" sz="1400" dirty="0">
                <a:solidFill>
                  <a:srgbClr val="5E6C67"/>
                </a:solidFill>
                <a:latin typeface="Calibri" pitchFamily="34" charset="0"/>
                <a:ea typeface="Calibri" pitchFamily="34" charset="-122"/>
                <a:cs typeface="Calibri" pitchFamily="34" charset="-120"/>
              </a:rPr>
              <a:t>Read irregular CSV rows, clean fields and validate entity models.</a:t>
            </a:r>
            <a:endParaRPr lang="en-US" sz="1400" dirty="0"/>
          </a:p>
        </p:txBody>
      </p:sp>
      <p:sp>
        <p:nvSpPr>
          <p:cNvPr id="9" name="Text 7"/>
          <p:cNvSpPr txBox="1"/>
          <p:nvPr/>
        </p:nvSpPr>
        <p:spPr>
          <a:xfrm>
            <a:off x="758952" y="4672584"/>
            <a:ext cx="2011680" cy="384048"/>
          </a:xfrm>
          <a:prstGeom prst="rect">
            <a:avLst/>
          </a:prstGeom>
          <a:noFill/>
          <a:ln/>
        </p:spPr>
        <p:txBody>
          <a:bodyPr wrap="square" lIns="0" tIns="0" rIns="0" bIns="0" rtlCol="0" anchor="ctr">
            <a:normAutofit/>
          </a:bodyPr>
          <a:lstStyle/>
          <a:p>
            <a:pPr algn="l" indent="0" marL="0">
              <a:buNone/>
            </a:pPr>
            <a:r>
              <a:rPr lang="en-US" sz="1100" b="1" dirty="0">
                <a:solidFill>
                  <a:srgbClr val="173F35"/>
                </a:solidFill>
                <a:latin typeface="Calibri" pitchFamily="34" charset="0"/>
                <a:ea typeface="Calibri" pitchFamily="34" charset="-122"/>
                <a:cs typeface="Calibri" pitchFamily="34" charset="-120"/>
              </a:rPr>
              <a:t>src/cleaning.py · src/etl.py</a:t>
            </a:r>
            <a:endParaRPr lang="en-US" sz="1100" dirty="0"/>
          </a:p>
        </p:txBody>
      </p:sp>
      <p:sp>
        <p:nvSpPr>
          <p:cNvPr id="10" name="Shape 8"/>
          <p:cNvSpPr/>
          <p:nvPr/>
        </p:nvSpPr>
        <p:spPr>
          <a:xfrm>
            <a:off x="2532888" y="2011680"/>
            <a:ext cx="256032" cy="256032"/>
          </a:xfrm>
          <a:prstGeom prst="ellipse">
            <a:avLst/>
          </a:prstGeom>
          <a:solidFill>
            <a:srgbClr val="55B99A"/>
          </a:solidFill>
          <a:ln w="12700">
            <a:solidFill>
              <a:srgbClr val="55B99A"/>
            </a:solidFill>
            <a:prstDash val="solid"/>
          </a:ln>
        </p:spPr>
      </p:sp>
      <p:sp>
        <p:nvSpPr>
          <p:cNvPr id="11" name="Text 9"/>
          <p:cNvSpPr txBox="1"/>
          <p:nvPr/>
        </p:nvSpPr>
        <p:spPr>
          <a:xfrm>
            <a:off x="2532888" y="2002536"/>
            <a:ext cx="256032" cy="25603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3044952" y="3520440"/>
            <a:ext cx="320040" cy="0"/>
          </a:xfrm>
          <a:prstGeom prst="line">
            <a:avLst/>
          </a:prstGeom>
          <a:noFill/>
          <a:ln w="25400">
            <a:solidFill>
              <a:srgbClr val="55B99A"/>
            </a:solidFill>
            <a:prstDash val="solid"/>
            <a:headEnd type="none"/>
            <a:tailEnd type="triangle"/>
          </a:ln>
        </p:spPr>
      </p:sp>
      <p:sp>
        <p:nvSpPr>
          <p:cNvPr id="13" name="Shape 11"/>
          <p:cNvSpPr/>
          <p:nvPr/>
        </p:nvSpPr>
        <p:spPr>
          <a:xfrm>
            <a:off x="3456432" y="1737360"/>
            <a:ext cx="2404872" cy="3584448"/>
          </a:xfrm>
          <a:prstGeom prst="roundRect">
            <a:avLst>
              <a:gd name="adj" fmla="val 3802"/>
            </a:avLst>
          </a:prstGeom>
          <a:solidFill>
            <a:srgbClr val="F4F8F6"/>
          </a:solidFill>
          <a:ln w="12700">
            <a:solidFill>
              <a:srgbClr val="B9CCC5"/>
            </a:solidFill>
            <a:prstDash val="solid"/>
          </a:ln>
        </p:spPr>
      </p:sp>
      <p:sp>
        <p:nvSpPr>
          <p:cNvPr id="14" name="Shape 12"/>
          <p:cNvSpPr/>
          <p:nvPr/>
        </p:nvSpPr>
        <p:spPr>
          <a:xfrm>
            <a:off x="3621024" y="1956816"/>
            <a:ext cx="438912" cy="438912"/>
          </a:xfrm>
          <a:prstGeom prst="ellipse">
            <a:avLst/>
          </a:prstGeom>
          <a:solidFill>
            <a:srgbClr val="173F35"/>
          </a:solidFill>
          <a:ln w="12700">
            <a:solidFill>
              <a:srgbClr val="173F35"/>
            </a:solidFill>
            <a:prstDash val="solid"/>
          </a:ln>
        </p:spPr>
      </p:sp>
      <p:sp>
        <p:nvSpPr>
          <p:cNvPr id="15" name="Text 13"/>
          <p:cNvSpPr txBox="1"/>
          <p:nvPr/>
        </p:nvSpPr>
        <p:spPr>
          <a:xfrm>
            <a:off x="3621024" y="1956816"/>
            <a:ext cx="438912" cy="43891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4"/>
          <p:cNvSpPr txBox="1"/>
          <p:nvPr/>
        </p:nvSpPr>
        <p:spPr>
          <a:xfrm>
            <a:off x="3621024" y="2578608"/>
            <a:ext cx="2057400" cy="457200"/>
          </a:xfrm>
          <a:prstGeom prst="rect">
            <a:avLst/>
          </a:prstGeom>
          <a:noFill/>
          <a:ln/>
        </p:spPr>
        <p:txBody>
          <a:bodyPr wrap="square" lIns="0" tIns="0" rIns="0" bIns="0" rtlCol="0" anchor="ctr">
            <a:normAutofit/>
          </a:bodyPr>
          <a:lstStyle/>
          <a:p>
            <a:pPr algn="l" indent="0" marL="0">
              <a:buNone/>
            </a:pPr>
            <a:r>
              <a:rPr lang="en-US" sz="1900" b="1" dirty="0">
                <a:solidFill>
                  <a:srgbClr val="17211E"/>
                </a:solidFill>
                <a:latin typeface="Cambria" pitchFamily="34" charset="0"/>
                <a:ea typeface="Cambria" pitchFamily="34" charset="-122"/>
                <a:cs typeface="Cambria" pitchFamily="34" charset="-120"/>
              </a:rPr>
              <a:t>Store</a:t>
            </a:r>
            <a:endParaRPr lang="en-US" sz="1900" dirty="0"/>
          </a:p>
        </p:txBody>
      </p:sp>
      <p:sp>
        <p:nvSpPr>
          <p:cNvPr id="17" name="Text 15"/>
          <p:cNvSpPr txBox="1"/>
          <p:nvPr/>
        </p:nvSpPr>
        <p:spPr>
          <a:xfrm>
            <a:off x="3621024" y="3154680"/>
            <a:ext cx="2039112" cy="1051560"/>
          </a:xfrm>
          <a:prstGeom prst="rect">
            <a:avLst/>
          </a:prstGeom>
          <a:noFill/>
          <a:ln/>
        </p:spPr>
        <p:txBody>
          <a:bodyPr wrap="square" lIns="0" tIns="0" rIns="0" bIns="0" rtlCol="0" anchor="t">
            <a:normAutofit/>
          </a:bodyPr>
          <a:lstStyle/>
          <a:p>
            <a:pPr algn="l" indent="0" marL="0">
              <a:buNone/>
            </a:pPr>
            <a:r>
              <a:rPr lang="en-US" sz="1400" dirty="0">
                <a:solidFill>
                  <a:srgbClr val="5E6C67"/>
                </a:solidFill>
                <a:latin typeface="Calibri" pitchFamily="34" charset="0"/>
                <a:ea typeface="Calibri" pitchFamily="34" charset="-122"/>
                <a:cs typeface="Calibri" pitchFamily="34" charset="-120"/>
              </a:rPr>
              <a:t>Write one CSV per CDM entity in the required folder structure.</a:t>
            </a:r>
            <a:endParaRPr lang="en-US" sz="1400" dirty="0"/>
          </a:p>
        </p:txBody>
      </p:sp>
      <p:sp>
        <p:nvSpPr>
          <p:cNvPr id="18" name="Text 16"/>
          <p:cNvSpPr txBox="1"/>
          <p:nvPr/>
        </p:nvSpPr>
        <p:spPr>
          <a:xfrm>
            <a:off x="3621024" y="4672584"/>
            <a:ext cx="2011680" cy="384048"/>
          </a:xfrm>
          <a:prstGeom prst="rect">
            <a:avLst/>
          </a:prstGeom>
          <a:noFill/>
          <a:ln/>
        </p:spPr>
        <p:txBody>
          <a:bodyPr wrap="square" lIns="0" tIns="0" rIns="0" bIns="0" rtlCol="0" anchor="ctr">
            <a:normAutofit/>
          </a:bodyPr>
          <a:lstStyle/>
          <a:p>
            <a:pPr algn="l" indent="0" marL="0">
              <a:buNone/>
            </a:pPr>
            <a:r>
              <a:rPr lang="en-US" sz="1100" b="1" dirty="0">
                <a:solidFill>
                  <a:srgbClr val="173F35"/>
                </a:solidFill>
                <a:latin typeface="Calibri" pitchFamily="34" charset="0"/>
                <a:ea typeface="Calibri" pitchFamily="34" charset="-122"/>
                <a:cs typeface="Calibri" pitchFamily="34" charset="-120"/>
              </a:rPr>
              <a:t>cdm_lakehouse/</a:t>
            </a:r>
            <a:endParaRPr lang="en-US" sz="1100" dirty="0"/>
          </a:p>
        </p:txBody>
      </p:sp>
      <p:sp>
        <p:nvSpPr>
          <p:cNvPr id="19" name="Shape 17"/>
          <p:cNvSpPr/>
          <p:nvPr/>
        </p:nvSpPr>
        <p:spPr>
          <a:xfrm>
            <a:off x="5394960" y="2011680"/>
            <a:ext cx="256032" cy="256032"/>
          </a:xfrm>
          <a:prstGeom prst="ellipse">
            <a:avLst/>
          </a:prstGeom>
          <a:solidFill>
            <a:srgbClr val="55B99A"/>
          </a:solidFill>
          <a:ln w="12700">
            <a:solidFill>
              <a:srgbClr val="55B99A"/>
            </a:solidFill>
            <a:prstDash val="solid"/>
          </a:ln>
        </p:spPr>
      </p:sp>
      <p:sp>
        <p:nvSpPr>
          <p:cNvPr id="20" name="Text 18"/>
          <p:cNvSpPr txBox="1"/>
          <p:nvPr/>
        </p:nvSpPr>
        <p:spPr>
          <a:xfrm>
            <a:off x="5394960" y="2002536"/>
            <a:ext cx="256032" cy="25603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1" name="Shape 19"/>
          <p:cNvSpPr/>
          <p:nvPr/>
        </p:nvSpPr>
        <p:spPr>
          <a:xfrm>
            <a:off x="5907024" y="3520440"/>
            <a:ext cx="320040" cy="0"/>
          </a:xfrm>
          <a:prstGeom prst="line">
            <a:avLst/>
          </a:prstGeom>
          <a:noFill/>
          <a:ln w="25400">
            <a:solidFill>
              <a:srgbClr val="55B99A"/>
            </a:solidFill>
            <a:prstDash val="solid"/>
            <a:headEnd type="none"/>
            <a:tailEnd type="triangle"/>
          </a:ln>
        </p:spPr>
      </p:sp>
      <p:sp>
        <p:nvSpPr>
          <p:cNvPr id="22" name="Shape 20"/>
          <p:cNvSpPr/>
          <p:nvPr/>
        </p:nvSpPr>
        <p:spPr>
          <a:xfrm>
            <a:off x="6318504" y="1737360"/>
            <a:ext cx="2404872" cy="3584448"/>
          </a:xfrm>
          <a:prstGeom prst="roundRect">
            <a:avLst>
              <a:gd name="adj" fmla="val 3802"/>
            </a:avLst>
          </a:prstGeom>
          <a:solidFill>
            <a:srgbClr val="E7F4EF"/>
          </a:solidFill>
          <a:ln w="12700">
            <a:solidFill>
              <a:srgbClr val="55B99A"/>
            </a:solidFill>
            <a:prstDash val="solid"/>
          </a:ln>
        </p:spPr>
      </p:sp>
      <p:sp>
        <p:nvSpPr>
          <p:cNvPr id="23" name="Shape 21"/>
          <p:cNvSpPr/>
          <p:nvPr/>
        </p:nvSpPr>
        <p:spPr>
          <a:xfrm>
            <a:off x="6483096" y="1956816"/>
            <a:ext cx="438912" cy="438912"/>
          </a:xfrm>
          <a:prstGeom prst="ellipse">
            <a:avLst/>
          </a:prstGeom>
          <a:solidFill>
            <a:srgbClr val="55B99A"/>
          </a:solidFill>
          <a:ln w="12700">
            <a:solidFill>
              <a:srgbClr val="55B99A"/>
            </a:solidFill>
            <a:prstDash val="solid"/>
          </a:ln>
        </p:spPr>
      </p:sp>
      <p:sp>
        <p:nvSpPr>
          <p:cNvPr id="24" name="Text 22"/>
          <p:cNvSpPr txBox="1"/>
          <p:nvPr/>
        </p:nvSpPr>
        <p:spPr>
          <a:xfrm>
            <a:off x="6483096" y="1956816"/>
            <a:ext cx="438912" cy="43891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5" name="Text 23"/>
          <p:cNvSpPr txBox="1"/>
          <p:nvPr/>
        </p:nvSpPr>
        <p:spPr>
          <a:xfrm>
            <a:off x="6483096" y="2578608"/>
            <a:ext cx="2057400" cy="457200"/>
          </a:xfrm>
          <a:prstGeom prst="rect">
            <a:avLst/>
          </a:prstGeom>
          <a:noFill/>
          <a:ln/>
        </p:spPr>
        <p:txBody>
          <a:bodyPr wrap="square" lIns="0" tIns="0" rIns="0" bIns="0" rtlCol="0" anchor="ctr">
            <a:normAutofit/>
          </a:bodyPr>
          <a:lstStyle/>
          <a:p>
            <a:pPr algn="l" indent="0" marL="0">
              <a:buNone/>
            </a:pPr>
            <a:r>
              <a:rPr lang="en-US" sz="1900" b="1" dirty="0">
                <a:solidFill>
                  <a:srgbClr val="17211E"/>
                </a:solidFill>
                <a:latin typeface="Cambria" pitchFamily="34" charset="0"/>
                <a:ea typeface="Cambria" pitchFamily="34" charset="-122"/>
                <a:cs typeface="Cambria" pitchFamily="34" charset="-120"/>
              </a:rPr>
              <a:t>Describe</a:t>
            </a:r>
            <a:endParaRPr lang="en-US" sz="1900" dirty="0"/>
          </a:p>
        </p:txBody>
      </p:sp>
      <p:sp>
        <p:nvSpPr>
          <p:cNvPr id="26" name="Text 24"/>
          <p:cNvSpPr txBox="1"/>
          <p:nvPr/>
        </p:nvSpPr>
        <p:spPr>
          <a:xfrm>
            <a:off x="6483096" y="3154680"/>
            <a:ext cx="2039112" cy="1051560"/>
          </a:xfrm>
          <a:prstGeom prst="rect">
            <a:avLst/>
          </a:prstGeom>
          <a:noFill/>
          <a:ln/>
        </p:spPr>
        <p:txBody>
          <a:bodyPr wrap="square" lIns="0" tIns="0" rIns="0" bIns="0" rtlCol="0" anchor="t">
            <a:normAutofit/>
          </a:bodyPr>
          <a:lstStyle/>
          <a:p>
            <a:pPr algn="l" indent="0" marL="0">
              <a:buNone/>
            </a:pPr>
            <a:r>
              <a:rPr lang="en-US" sz="1400" dirty="0">
                <a:solidFill>
                  <a:srgbClr val="5E6C67"/>
                </a:solidFill>
                <a:latin typeface="Calibri" pitchFamily="34" charset="0"/>
                <a:ea typeface="Calibri" pitchFamily="34" charset="-122"/>
                <a:cs typeface="Calibri" pitchFamily="34" charset="-120"/>
              </a:rPr>
              <a:t>Generate model.json from the same entity definitions used for CSV headers.</a:t>
            </a:r>
            <a:endParaRPr lang="en-US" sz="1400" dirty="0"/>
          </a:p>
        </p:txBody>
      </p:sp>
      <p:sp>
        <p:nvSpPr>
          <p:cNvPr id="27" name="Text 25"/>
          <p:cNvSpPr txBox="1"/>
          <p:nvPr/>
        </p:nvSpPr>
        <p:spPr>
          <a:xfrm>
            <a:off x="6483096" y="4672584"/>
            <a:ext cx="2011680" cy="384048"/>
          </a:xfrm>
          <a:prstGeom prst="rect">
            <a:avLst/>
          </a:prstGeom>
          <a:noFill/>
          <a:ln/>
        </p:spPr>
        <p:txBody>
          <a:bodyPr wrap="square" lIns="0" tIns="0" rIns="0" bIns="0" rtlCol="0" anchor="ctr">
            <a:normAutofit/>
          </a:bodyPr>
          <a:lstStyle/>
          <a:p>
            <a:pPr algn="l" indent="0" marL="0">
              <a:buNone/>
            </a:pPr>
            <a:r>
              <a:rPr lang="en-US" sz="1100" b="1" dirty="0">
                <a:solidFill>
                  <a:srgbClr val="173F35"/>
                </a:solidFill>
                <a:latin typeface="Calibri" pitchFamily="34" charset="0"/>
                <a:ea typeface="Calibri" pitchFamily="34" charset="-122"/>
                <a:cs typeface="Calibri" pitchFamily="34" charset="-120"/>
              </a:rPr>
              <a:t>src/manifest.py</a:t>
            </a:r>
            <a:endParaRPr lang="en-US" sz="1100" dirty="0"/>
          </a:p>
        </p:txBody>
      </p:sp>
      <p:sp>
        <p:nvSpPr>
          <p:cNvPr id="28" name="Shape 26"/>
          <p:cNvSpPr/>
          <p:nvPr/>
        </p:nvSpPr>
        <p:spPr>
          <a:xfrm>
            <a:off x="8257032" y="2011680"/>
            <a:ext cx="256032" cy="256032"/>
          </a:xfrm>
          <a:prstGeom prst="ellipse">
            <a:avLst/>
          </a:prstGeom>
          <a:solidFill>
            <a:srgbClr val="55B99A"/>
          </a:solidFill>
          <a:ln w="12700">
            <a:solidFill>
              <a:srgbClr val="55B99A"/>
            </a:solidFill>
            <a:prstDash val="solid"/>
          </a:ln>
        </p:spPr>
      </p:sp>
      <p:sp>
        <p:nvSpPr>
          <p:cNvPr id="29" name="Text 27"/>
          <p:cNvSpPr txBox="1"/>
          <p:nvPr/>
        </p:nvSpPr>
        <p:spPr>
          <a:xfrm>
            <a:off x="8257032" y="2002536"/>
            <a:ext cx="256032" cy="25603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0" name="Shape 28"/>
          <p:cNvSpPr/>
          <p:nvPr/>
        </p:nvSpPr>
        <p:spPr>
          <a:xfrm>
            <a:off x="8769096" y="3520440"/>
            <a:ext cx="320040" cy="0"/>
          </a:xfrm>
          <a:prstGeom prst="line">
            <a:avLst/>
          </a:prstGeom>
          <a:noFill/>
          <a:ln w="25400">
            <a:solidFill>
              <a:srgbClr val="55B99A"/>
            </a:solidFill>
            <a:prstDash val="solid"/>
            <a:headEnd type="none"/>
            <a:tailEnd type="triangle"/>
          </a:ln>
        </p:spPr>
      </p:sp>
      <p:sp>
        <p:nvSpPr>
          <p:cNvPr id="31" name="Shape 29"/>
          <p:cNvSpPr/>
          <p:nvPr/>
        </p:nvSpPr>
        <p:spPr>
          <a:xfrm>
            <a:off x="9180576" y="1737360"/>
            <a:ext cx="2404872" cy="3584448"/>
          </a:xfrm>
          <a:prstGeom prst="roundRect">
            <a:avLst>
              <a:gd name="adj" fmla="val 3802"/>
            </a:avLst>
          </a:prstGeom>
          <a:solidFill>
            <a:srgbClr val="F4F8F6"/>
          </a:solidFill>
          <a:ln w="12700">
            <a:solidFill>
              <a:srgbClr val="B9CCC5"/>
            </a:solidFill>
            <a:prstDash val="solid"/>
          </a:ln>
        </p:spPr>
      </p:sp>
      <p:sp>
        <p:nvSpPr>
          <p:cNvPr id="32" name="Shape 30"/>
          <p:cNvSpPr/>
          <p:nvPr/>
        </p:nvSpPr>
        <p:spPr>
          <a:xfrm>
            <a:off x="9345168" y="1956816"/>
            <a:ext cx="438912" cy="438912"/>
          </a:xfrm>
          <a:prstGeom prst="ellipse">
            <a:avLst/>
          </a:prstGeom>
          <a:solidFill>
            <a:srgbClr val="173F35"/>
          </a:solidFill>
          <a:ln w="12700">
            <a:solidFill>
              <a:srgbClr val="173F35"/>
            </a:solidFill>
            <a:prstDash val="solid"/>
          </a:ln>
        </p:spPr>
      </p:sp>
      <p:sp>
        <p:nvSpPr>
          <p:cNvPr id="33" name="Text 31"/>
          <p:cNvSpPr txBox="1"/>
          <p:nvPr/>
        </p:nvSpPr>
        <p:spPr>
          <a:xfrm>
            <a:off x="9345168" y="1956816"/>
            <a:ext cx="438912" cy="43891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4" name="Text 32"/>
          <p:cNvSpPr txBox="1"/>
          <p:nvPr/>
        </p:nvSpPr>
        <p:spPr>
          <a:xfrm>
            <a:off x="9345168" y="2578608"/>
            <a:ext cx="2057400" cy="457200"/>
          </a:xfrm>
          <a:prstGeom prst="rect">
            <a:avLst/>
          </a:prstGeom>
          <a:noFill/>
          <a:ln/>
        </p:spPr>
        <p:txBody>
          <a:bodyPr wrap="square" lIns="0" tIns="0" rIns="0" bIns="0" rtlCol="0" anchor="ctr">
            <a:normAutofit/>
          </a:bodyPr>
          <a:lstStyle/>
          <a:p>
            <a:pPr algn="l" indent="0" marL="0">
              <a:buNone/>
            </a:pPr>
            <a:r>
              <a:rPr lang="en-US" sz="1900" b="1" dirty="0">
                <a:solidFill>
                  <a:srgbClr val="17211E"/>
                </a:solidFill>
                <a:latin typeface="Cambria" pitchFamily="34" charset="0"/>
                <a:ea typeface="Cambria" pitchFamily="34" charset="-122"/>
                <a:cs typeface="Cambria" pitchFamily="34" charset="-120"/>
              </a:rPr>
              <a:t>Explain</a:t>
            </a:r>
            <a:endParaRPr lang="en-US" sz="1900" dirty="0"/>
          </a:p>
        </p:txBody>
      </p:sp>
      <p:sp>
        <p:nvSpPr>
          <p:cNvPr id="35" name="Text 33"/>
          <p:cNvSpPr txBox="1"/>
          <p:nvPr/>
        </p:nvSpPr>
        <p:spPr>
          <a:xfrm>
            <a:off x="9345168" y="3154680"/>
            <a:ext cx="2039112" cy="1051560"/>
          </a:xfrm>
          <a:prstGeom prst="rect">
            <a:avLst/>
          </a:prstGeom>
          <a:noFill/>
          <a:ln/>
        </p:spPr>
        <p:txBody>
          <a:bodyPr wrap="square" lIns="0" tIns="0" rIns="0" bIns="0" rtlCol="0" anchor="t">
            <a:normAutofit/>
          </a:bodyPr>
          <a:lstStyle/>
          <a:p>
            <a:pPr algn="l" indent="0" marL="0">
              <a:buNone/>
            </a:pPr>
            <a:r>
              <a:rPr lang="en-US" sz="1400" dirty="0">
                <a:solidFill>
                  <a:srgbClr val="5E6C67"/>
                </a:solidFill>
                <a:latin typeface="Calibri" pitchFamily="34" charset="0"/>
                <a:ea typeface="Calibri" pitchFamily="34" charset="-122"/>
                <a:cs typeface="Calibri" pitchFamily="34" charset="-120"/>
              </a:rPr>
              <a:t>Document field mappings, 1:N relation and storage layout with Mermaid.</a:t>
            </a:r>
            <a:endParaRPr lang="en-US" sz="1400" dirty="0"/>
          </a:p>
        </p:txBody>
      </p:sp>
      <p:sp>
        <p:nvSpPr>
          <p:cNvPr id="36" name="Text 34"/>
          <p:cNvSpPr txBox="1"/>
          <p:nvPr/>
        </p:nvSpPr>
        <p:spPr>
          <a:xfrm>
            <a:off x="9345168" y="4672584"/>
            <a:ext cx="2011680" cy="384048"/>
          </a:xfrm>
          <a:prstGeom prst="rect">
            <a:avLst/>
          </a:prstGeom>
          <a:noFill/>
          <a:ln/>
        </p:spPr>
        <p:txBody>
          <a:bodyPr wrap="square" lIns="0" tIns="0" rIns="0" bIns="0" rtlCol="0" anchor="ctr">
            <a:normAutofit/>
          </a:bodyPr>
          <a:lstStyle/>
          <a:p>
            <a:pPr algn="l" indent="0" marL="0">
              <a:buNone/>
            </a:pPr>
            <a:r>
              <a:rPr lang="en-US" sz="1100" b="1" dirty="0">
                <a:solidFill>
                  <a:srgbClr val="173F35"/>
                </a:solidFill>
                <a:latin typeface="Calibri" pitchFamily="34" charset="0"/>
                <a:ea typeface="Calibri" pitchFamily="34" charset="-122"/>
                <a:cs typeface="Calibri" pitchFamily="34" charset="-120"/>
              </a:rPr>
              <a:t>README.md</a:t>
            </a:r>
            <a:endParaRPr lang="en-US" sz="1100" dirty="0"/>
          </a:p>
        </p:txBody>
      </p:sp>
      <p:sp>
        <p:nvSpPr>
          <p:cNvPr id="37" name="Shape 35"/>
          <p:cNvSpPr/>
          <p:nvPr/>
        </p:nvSpPr>
        <p:spPr>
          <a:xfrm>
            <a:off x="11119104" y="2011680"/>
            <a:ext cx="256032" cy="256032"/>
          </a:xfrm>
          <a:prstGeom prst="ellipse">
            <a:avLst/>
          </a:prstGeom>
          <a:solidFill>
            <a:srgbClr val="55B99A"/>
          </a:solidFill>
          <a:ln w="12700">
            <a:solidFill>
              <a:srgbClr val="55B99A"/>
            </a:solidFill>
            <a:prstDash val="solid"/>
          </a:ln>
        </p:spPr>
      </p:sp>
      <p:sp>
        <p:nvSpPr>
          <p:cNvPr id="38" name="Text 36"/>
          <p:cNvSpPr txBox="1"/>
          <p:nvPr/>
        </p:nvSpPr>
        <p:spPr>
          <a:xfrm>
            <a:off x="11119104" y="2002536"/>
            <a:ext cx="256032" cy="25603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9" name="Shape 37"/>
          <p:cNvSpPr/>
          <p:nvPr/>
        </p:nvSpPr>
        <p:spPr>
          <a:xfrm>
            <a:off x="621792" y="5715000"/>
            <a:ext cx="749808" cy="320040"/>
          </a:xfrm>
          <a:prstGeom prst="roundRect">
            <a:avLst>
              <a:gd name="adj" fmla="val 22857"/>
            </a:avLst>
          </a:prstGeom>
          <a:solidFill>
            <a:srgbClr val="E7F4EF"/>
          </a:solidFill>
          <a:ln w="12700">
            <a:solidFill>
              <a:srgbClr val="E7F4EF"/>
            </a:solidFill>
            <a:prstDash val="solid"/>
          </a:ln>
        </p:spPr>
      </p:sp>
      <p:sp>
        <p:nvSpPr>
          <p:cNvPr id="40" name="Text 38"/>
          <p:cNvSpPr txBox="1"/>
          <p:nvPr/>
        </p:nvSpPr>
        <p:spPr>
          <a:xfrm>
            <a:off x="621792" y="5715000"/>
            <a:ext cx="749808" cy="320040"/>
          </a:xfrm>
          <a:prstGeom prst="rect">
            <a:avLst/>
          </a:prstGeom>
          <a:noFill/>
          <a:ln/>
        </p:spPr>
        <p:txBody>
          <a:bodyPr wrap="square" lIns="0" tIns="0" rIns="0" bIns="0" rtlCol="0" anchor="ctr">
            <a:normAutofit/>
          </a:bodyPr>
          <a:lstStyle/>
          <a:p>
            <a:pPr algn="ctr" indent="0" marL="0">
              <a:buNone/>
            </a:pPr>
            <a:r>
              <a:rPr lang="en-US" sz="1100" b="1" dirty="0">
                <a:solidFill>
                  <a:srgbClr val="173F35"/>
                </a:solidFill>
                <a:latin typeface="Calibri" pitchFamily="34" charset="0"/>
                <a:ea typeface="Calibri" pitchFamily="34" charset="-122"/>
                <a:cs typeface="Calibri" pitchFamily="34" charset="-120"/>
              </a:rPr>
              <a:t>AUTO</a:t>
            </a:r>
            <a:endParaRPr lang="en-US" sz="1100" dirty="0"/>
          </a:p>
        </p:txBody>
      </p:sp>
      <p:sp>
        <p:nvSpPr>
          <p:cNvPr id="41" name="Text 39"/>
          <p:cNvSpPr txBox="1"/>
          <p:nvPr/>
        </p:nvSpPr>
        <p:spPr>
          <a:xfrm>
            <a:off x="1463040" y="5715000"/>
            <a:ext cx="1353312" cy="320040"/>
          </a:xfrm>
          <a:prstGeom prst="rect">
            <a:avLst/>
          </a:prstGeom>
          <a:noFill/>
          <a:ln/>
        </p:spPr>
        <p:txBody>
          <a:bodyPr wrap="square" lIns="0" tIns="0" rIns="0" bIns="0" rtlCol="0" anchor="ctr">
            <a:normAutofit/>
          </a:bodyPr>
          <a:lstStyle/>
          <a:p>
            <a:pPr algn="l" indent="0" marL="0">
              <a:buNone/>
            </a:pPr>
            <a:r>
              <a:rPr lang="en-US" sz="1100" b="1" dirty="0">
                <a:solidFill>
                  <a:srgbClr val="5E6C67"/>
                </a:solidFill>
                <a:latin typeface="Calibri" pitchFamily="34" charset="0"/>
                <a:ea typeface="Calibri" pitchFamily="34" charset="-122"/>
                <a:cs typeface="Calibri" pitchFamily="34" charset="-120"/>
              </a:rPr>
              <a:t>pipeline execution</a:t>
            </a:r>
            <a:endParaRPr lang="en-US" sz="1100" dirty="0"/>
          </a:p>
        </p:txBody>
      </p:sp>
      <p:sp>
        <p:nvSpPr>
          <p:cNvPr id="42" name="Shape 40"/>
          <p:cNvSpPr/>
          <p:nvPr/>
        </p:nvSpPr>
        <p:spPr>
          <a:xfrm>
            <a:off x="2971800" y="5715000"/>
            <a:ext cx="859536" cy="320040"/>
          </a:xfrm>
          <a:prstGeom prst="roundRect">
            <a:avLst>
              <a:gd name="adj" fmla="val 22857"/>
            </a:avLst>
          </a:prstGeom>
          <a:solidFill>
            <a:srgbClr val="FFF5D9"/>
          </a:solidFill>
          <a:ln w="12700">
            <a:solidFill>
              <a:srgbClr val="FFF5D9"/>
            </a:solidFill>
            <a:prstDash val="solid"/>
          </a:ln>
        </p:spPr>
      </p:sp>
      <p:sp>
        <p:nvSpPr>
          <p:cNvPr id="43" name="Text 41"/>
          <p:cNvSpPr txBox="1"/>
          <p:nvPr/>
        </p:nvSpPr>
        <p:spPr>
          <a:xfrm>
            <a:off x="2971800" y="5715000"/>
            <a:ext cx="859536" cy="320040"/>
          </a:xfrm>
          <a:prstGeom prst="rect">
            <a:avLst/>
          </a:prstGeom>
          <a:noFill/>
          <a:ln/>
        </p:spPr>
        <p:txBody>
          <a:bodyPr wrap="square" lIns="0" tIns="0" rIns="0" bIns="0" rtlCol="0" anchor="ctr">
            <a:normAutofit/>
          </a:bodyPr>
          <a:lstStyle/>
          <a:p>
            <a:pPr algn="ctr" indent="0" marL="0">
              <a:buNone/>
            </a:pPr>
            <a:r>
              <a:rPr lang="en-US" sz="1100" b="1" dirty="0">
                <a:solidFill>
                  <a:srgbClr val="102F29"/>
                </a:solidFill>
                <a:latin typeface="Calibri" pitchFamily="34" charset="0"/>
                <a:ea typeface="Calibri" pitchFamily="34" charset="-122"/>
                <a:cs typeface="Calibri" pitchFamily="34" charset="-120"/>
              </a:rPr>
              <a:t>MODEL</a:t>
            </a:r>
            <a:endParaRPr lang="en-US" sz="1100" dirty="0"/>
          </a:p>
        </p:txBody>
      </p:sp>
      <p:sp>
        <p:nvSpPr>
          <p:cNvPr id="44" name="Text 42"/>
          <p:cNvSpPr txBox="1"/>
          <p:nvPr/>
        </p:nvSpPr>
        <p:spPr>
          <a:xfrm>
            <a:off x="3931920" y="5715000"/>
            <a:ext cx="1965960" cy="320040"/>
          </a:xfrm>
          <a:prstGeom prst="rect">
            <a:avLst/>
          </a:prstGeom>
          <a:noFill/>
          <a:ln/>
        </p:spPr>
        <p:txBody>
          <a:bodyPr wrap="square" lIns="0" tIns="0" rIns="0" bIns="0" rtlCol="0" anchor="ctr">
            <a:normAutofit/>
          </a:bodyPr>
          <a:lstStyle/>
          <a:p>
            <a:pPr algn="l" indent="0" marL="0">
              <a:buNone/>
            </a:pPr>
            <a:r>
              <a:rPr lang="en-US" sz="1100" b="1" dirty="0">
                <a:solidFill>
                  <a:srgbClr val="5E6C67"/>
                </a:solidFill>
                <a:latin typeface="Calibri" pitchFamily="34" charset="0"/>
                <a:ea typeface="Calibri" pitchFamily="34" charset="-122"/>
                <a:cs typeface="Calibri" pitchFamily="34" charset="-120"/>
              </a:rPr>
              <a:t>Pydantic + CDM metadata</a:t>
            </a:r>
            <a:endParaRPr lang="en-US" sz="1100" dirty="0"/>
          </a:p>
        </p:txBody>
      </p:sp>
      <p:sp>
        <p:nvSpPr>
          <p:cNvPr id="45" name="Shape 43"/>
          <p:cNvSpPr/>
          <p:nvPr/>
        </p:nvSpPr>
        <p:spPr>
          <a:xfrm>
            <a:off x="6172200" y="5715000"/>
            <a:ext cx="896112" cy="320040"/>
          </a:xfrm>
          <a:prstGeom prst="roundRect">
            <a:avLst>
              <a:gd name="adj" fmla="val 22857"/>
            </a:avLst>
          </a:prstGeom>
          <a:solidFill>
            <a:srgbClr val="EDEFF5"/>
          </a:solidFill>
          <a:ln w="12700">
            <a:solidFill>
              <a:srgbClr val="EDEFF5"/>
            </a:solidFill>
            <a:prstDash val="solid"/>
          </a:ln>
        </p:spPr>
      </p:sp>
      <p:sp>
        <p:nvSpPr>
          <p:cNvPr id="46" name="Text 44"/>
          <p:cNvSpPr txBox="1"/>
          <p:nvPr/>
        </p:nvSpPr>
        <p:spPr>
          <a:xfrm>
            <a:off x="6172200" y="5715000"/>
            <a:ext cx="896112" cy="320040"/>
          </a:xfrm>
          <a:prstGeom prst="rect">
            <a:avLst/>
          </a:prstGeom>
          <a:noFill/>
          <a:ln/>
        </p:spPr>
        <p:txBody>
          <a:bodyPr wrap="square" lIns="0" tIns="0" rIns="0" bIns="0" rtlCol="0" anchor="ctr">
            <a:normAutofit/>
          </a:bodyPr>
          <a:lstStyle/>
          <a:p>
            <a:pPr algn="ctr" indent="0" marL="0">
              <a:buNone/>
            </a:pPr>
            <a:r>
              <a:rPr lang="en-US" sz="1100" b="1" dirty="0">
                <a:solidFill>
                  <a:srgbClr val="46506A"/>
                </a:solidFill>
                <a:latin typeface="Calibri" pitchFamily="34" charset="0"/>
                <a:ea typeface="Calibri" pitchFamily="34" charset="-122"/>
                <a:cs typeface="Calibri" pitchFamily="34" charset="-120"/>
              </a:rPr>
              <a:t>PEOPLE</a:t>
            </a:r>
            <a:endParaRPr lang="en-US" sz="1100" dirty="0"/>
          </a:p>
        </p:txBody>
      </p:sp>
      <p:sp>
        <p:nvSpPr>
          <p:cNvPr id="47" name="Text 45"/>
          <p:cNvSpPr txBox="1"/>
          <p:nvPr/>
        </p:nvSpPr>
        <p:spPr>
          <a:xfrm>
            <a:off x="7178040" y="5715000"/>
            <a:ext cx="2011680" cy="320040"/>
          </a:xfrm>
          <a:prstGeom prst="rect">
            <a:avLst/>
          </a:prstGeom>
          <a:noFill/>
          <a:ln/>
        </p:spPr>
        <p:txBody>
          <a:bodyPr wrap="square" lIns="0" tIns="0" rIns="0" bIns="0" rtlCol="0" anchor="ctr">
            <a:normAutofit/>
          </a:bodyPr>
          <a:lstStyle/>
          <a:p>
            <a:pPr algn="l" indent="0" marL="0">
              <a:buNone/>
            </a:pPr>
            <a:r>
              <a:rPr lang="en-US" sz="1100" b="1" dirty="0">
                <a:solidFill>
                  <a:srgbClr val="5E6C67"/>
                </a:solidFill>
                <a:latin typeface="Calibri" pitchFamily="34" charset="0"/>
                <a:ea typeface="Calibri" pitchFamily="34" charset="-122"/>
                <a:cs typeface="Calibri" pitchFamily="34" charset="-120"/>
              </a:rPr>
              <a:t>logs, quarantine, README</a:t>
            </a:r>
            <a:endParaRPr lang="en-US" sz="1100" dirty="0"/>
          </a:p>
        </p:txBody>
      </p:sp>
      <p:sp>
        <p:nvSpPr>
          <p:cNvPr id="48" name="Text 46"/>
          <p:cNvSpPr txBox="1"/>
          <p:nvPr/>
        </p:nvSpPr>
        <p:spPr>
          <a:xfrm>
            <a:off x="9189720" y="5669280"/>
            <a:ext cx="2395728" cy="438912"/>
          </a:xfrm>
          <a:prstGeom prst="rect">
            <a:avLst/>
          </a:prstGeom>
          <a:noFill/>
          <a:ln/>
        </p:spPr>
        <p:txBody>
          <a:bodyPr wrap="square" lIns="0" tIns="0" rIns="0" bIns="0" rtlCol="0" anchor="ctr">
            <a:normAutofit/>
          </a:bodyPr>
          <a:lstStyle/>
          <a:p>
            <a:pPr algn="r" indent="0" marL="0">
              <a:buNone/>
            </a:pPr>
            <a:r>
              <a:rPr lang="en-US" sz="1100" b="1" dirty="0">
                <a:solidFill>
                  <a:srgbClr val="173F35"/>
                </a:solidFill>
                <a:latin typeface="Calibri" pitchFamily="34" charset="0"/>
                <a:ea typeface="Calibri" pitchFamily="34" charset="-122"/>
                <a:cs typeface="Calibri" pitchFamily="34" charset="-120"/>
              </a:rPr>
              <a:t>How: python -m src.main</a:t>
            </a:r>
            <a:endParaRPr lang="en-US" sz="1100" dirty="0"/>
          </a:p>
        </p:txBody>
      </p:sp>
      <p:sp>
        <p:nvSpPr>
          <p:cNvPr id="25" name="Slide Number Placeholder 0"/>
          <p:cNvSpPr>
            <a:spLocks noGrp="1"/>
          </p:cNvSpPr>
          <p:nvPr>
            <p:ph type="sldNum" sz="quarter" idx="4294967295"/>
          </p:nvPr>
        </p:nvSpPr>
        <p:spPr>
          <a:xfrm>
            <a:off x="1168603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B76"/>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566928"/>
            <a:ext cx="11109960" cy="502920"/>
          </a:xfrm>
          <a:prstGeom prst="rect">
            <a:avLst/>
          </a:prstGeom>
          <a:noFill/>
          <a:ln/>
        </p:spPr>
        <p:txBody>
          <a:bodyPr wrap="square" lIns="0" tIns="0" rIns="0" bIns="0" rtlCol="0" anchor="ctr">
            <a:normAutofit/>
          </a:bodyPr>
          <a:lstStyle/>
          <a:p>
            <a:pPr algn="l" indent="0" marL="0">
              <a:buNone/>
            </a:pPr>
            <a:r>
              <a:rPr lang="en-US" sz="3000" b="1" dirty="0">
                <a:solidFill>
                  <a:srgbClr val="17211E"/>
                </a:solidFill>
                <a:latin typeface="Cambria" pitchFamily="34" charset="0"/>
                <a:ea typeface="Cambria" pitchFamily="34" charset="-122"/>
                <a:cs typeface="Cambria" pitchFamily="34" charset="-120"/>
              </a:rPr>
              <a:t>Contact: six mappings, three cleaning rules</a:t>
            </a:r>
            <a:endParaRPr lang="en-US" sz="3000" dirty="0"/>
          </a:p>
        </p:txBody>
      </p:sp>
      <p:sp>
        <p:nvSpPr>
          <p:cNvPr id="3" name="Text 1"/>
          <p:cNvSpPr txBox="1"/>
          <p:nvPr/>
        </p:nvSpPr>
        <p:spPr>
          <a:xfrm>
            <a:off x="521208" y="1115568"/>
            <a:ext cx="10789920" cy="292608"/>
          </a:xfrm>
          <a:prstGeom prst="rect">
            <a:avLst/>
          </a:prstGeom>
          <a:noFill/>
          <a:ln/>
        </p:spPr>
        <p:txBody>
          <a:bodyPr wrap="square" lIns="0" tIns="0" rIns="0" bIns="0" rtlCol="0" anchor="ctr">
            <a:normAutofit/>
          </a:bodyPr>
          <a:lstStyle/>
          <a:p>
            <a:pPr algn="l" indent="0" marL="0">
              <a:buNone/>
            </a:pPr>
            <a:r>
              <a:rPr lang="en-US" sz="1400" dirty="0">
                <a:solidFill>
                  <a:srgbClr val="5E6C67"/>
                </a:solidFill>
                <a:latin typeface="Calibri" pitchFamily="34" charset="0"/>
                <a:ea typeface="Calibri" pitchFamily="34" charset="-122"/>
                <a:cs typeface="Calibri" pitchFamily="34" charset="-120"/>
              </a:rPr>
              <a:t>The target row is validated before it reaches Contact.csv.</a:t>
            </a:r>
            <a:endParaRPr lang="en-US" sz="1400" dirty="0"/>
          </a:p>
        </p:txBody>
      </p:sp>
      <p:sp>
        <p:nvSpPr>
          <p:cNvPr id="4" name="Text 2"/>
          <p:cNvSpPr txBox="1"/>
          <p:nvPr/>
        </p:nvSpPr>
        <p:spPr>
          <a:xfrm>
            <a:off x="658368" y="1554480"/>
            <a:ext cx="1965960" cy="320040"/>
          </a:xfrm>
          <a:prstGeom prst="rect">
            <a:avLst/>
          </a:prstGeom>
          <a:noFill/>
          <a:ln/>
        </p:spPr>
        <p:txBody>
          <a:bodyPr wrap="square" lIns="0" tIns="0" rIns="0" bIns="0" rtlCol="0" anchor="ctr">
            <a:normAutofit/>
          </a:bodyPr>
          <a:lstStyle/>
          <a:p>
            <a:pPr algn="l" indent="0" marL="0">
              <a:buNone/>
            </a:pPr>
            <a:r>
              <a:rPr lang="en-US" sz="1600" b="1" dirty="0">
                <a:solidFill>
                  <a:srgbClr val="5E6C67"/>
                </a:solidFill>
                <a:latin typeface="Calibri" pitchFamily="34" charset="0"/>
                <a:ea typeface="Calibri" pitchFamily="34" charset="-122"/>
                <a:cs typeface="Calibri" pitchFamily="34" charset="-120"/>
              </a:rPr>
              <a:t>raw_customers.csv</a:t>
            </a:r>
            <a:endParaRPr lang="en-US" sz="1600" dirty="0"/>
          </a:p>
        </p:txBody>
      </p:sp>
      <p:sp>
        <p:nvSpPr>
          <p:cNvPr id="5" name="Text 3"/>
          <p:cNvSpPr txBox="1"/>
          <p:nvPr/>
        </p:nvSpPr>
        <p:spPr>
          <a:xfrm>
            <a:off x="9098280" y="1554480"/>
            <a:ext cx="1920240" cy="320040"/>
          </a:xfrm>
          <a:prstGeom prst="rect">
            <a:avLst/>
          </a:prstGeom>
          <a:noFill/>
          <a:ln/>
        </p:spPr>
        <p:txBody>
          <a:bodyPr wrap="square" lIns="0" tIns="0" rIns="0" bIns="0" rtlCol="0" anchor="ctr">
            <a:normAutofit/>
          </a:bodyPr>
          <a:lstStyle/>
          <a:p>
            <a:pPr algn="l" indent="0" marL="0">
              <a:buNone/>
            </a:pPr>
            <a:r>
              <a:rPr lang="en-US" sz="1600" b="1" dirty="0">
                <a:solidFill>
                  <a:srgbClr val="173F35"/>
                </a:solidFill>
                <a:latin typeface="Calibri" pitchFamily="34" charset="0"/>
                <a:ea typeface="Calibri" pitchFamily="34" charset="-122"/>
                <a:cs typeface="Calibri" pitchFamily="34" charset="-120"/>
              </a:rPr>
              <a:t>Contact</a:t>
            </a:r>
            <a:endParaRPr lang="en-US" sz="1600" dirty="0"/>
          </a:p>
        </p:txBody>
      </p:sp>
      <p:sp>
        <p:nvSpPr>
          <p:cNvPr id="6" name="Shape 4"/>
          <p:cNvSpPr/>
          <p:nvPr/>
        </p:nvSpPr>
        <p:spPr>
          <a:xfrm>
            <a:off x="658368" y="2011680"/>
            <a:ext cx="1993392" cy="329184"/>
          </a:xfrm>
          <a:prstGeom prst="roundRect">
            <a:avLst>
              <a:gd name="adj" fmla="val 27778"/>
            </a:avLst>
          </a:prstGeom>
          <a:solidFill>
            <a:srgbClr val="FFFFFF"/>
          </a:solidFill>
          <a:ln w="12700">
            <a:solidFill>
              <a:srgbClr val="B9CCC5"/>
            </a:solidFill>
            <a:prstDash val="solid"/>
          </a:ln>
        </p:spPr>
      </p:sp>
      <p:sp>
        <p:nvSpPr>
          <p:cNvPr id="7" name="Text 5"/>
          <p:cNvSpPr txBox="1"/>
          <p:nvPr/>
        </p:nvSpPr>
        <p:spPr>
          <a:xfrm>
            <a:off x="768096" y="2011680"/>
            <a:ext cx="1773936" cy="329184"/>
          </a:xfrm>
          <a:prstGeom prst="rect">
            <a:avLst/>
          </a:prstGeom>
          <a:noFill/>
          <a:ln/>
        </p:spPr>
        <p:txBody>
          <a:bodyPr wrap="square" lIns="0" tIns="0" rIns="0" bIns="0" rtlCol="0" anchor="ctr">
            <a:normAutofit/>
          </a:bodyPr>
          <a:lstStyle/>
          <a:p>
            <a:pPr algn="l" indent="0" marL="0">
              <a:buNone/>
            </a:pPr>
            <a:r>
              <a:rPr lang="en-US" sz="1200" dirty="0">
                <a:solidFill>
                  <a:srgbClr val="5E6C67"/>
                </a:solidFill>
                <a:latin typeface="Calibri" pitchFamily="34" charset="0"/>
                <a:ea typeface="Calibri" pitchFamily="34" charset="-122"/>
                <a:cs typeface="Calibri" pitchFamily="34" charset="-120"/>
              </a:rPr>
              <a:t>cust_id</a:t>
            </a:r>
            <a:endParaRPr lang="en-US" sz="1200" dirty="0"/>
          </a:p>
        </p:txBody>
      </p:sp>
      <p:sp>
        <p:nvSpPr>
          <p:cNvPr id="8" name="Shape 6"/>
          <p:cNvSpPr/>
          <p:nvPr/>
        </p:nvSpPr>
        <p:spPr>
          <a:xfrm>
            <a:off x="9144000" y="2011680"/>
            <a:ext cx="2240280" cy="329184"/>
          </a:xfrm>
          <a:prstGeom prst="roundRect">
            <a:avLst>
              <a:gd name="adj" fmla="val 27778"/>
            </a:avLst>
          </a:prstGeom>
          <a:solidFill>
            <a:srgbClr val="E7F4EF"/>
          </a:solidFill>
          <a:ln w="12700">
            <a:solidFill>
              <a:srgbClr val="55B99A"/>
            </a:solidFill>
            <a:prstDash val="solid"/>
          </a:ln>
        </p:spPr>
      </p:sp>
      <p:sp>
        <p:nvSpPr>
          <p:cNvPr id="9" name="Text 7"/>
          <p:cNvSpPr txBox="1"/>
          <p:nvPr/>
        </p:nvSpPr>
        <p:spPr>
          <a:xfrm>
            <a:off x="9253728" y="2011680"/>
            <a:ext cx="2020824" cy="329184"/>
          </a:xfrm>
          <a:prstGeom prst="rect">
            <a:avLst/>
          </a:prstGeom>
          <a:noFill/>
          <a:ln/>
        </p:spPr>
        <p:txBody>
          <a:bodyPr wrap="square" lIns="0" tIns="0" rIns="0" bIns="0" rtlCol="0" anchor="ctr">
            <a:normAutofit/>
          </a:bodyPr>
          <a:lstStyle/>
          <a:p>
            <a:pPr algn="l" indent="0" marL="0">
              <a:buNone/>
            </a:pPr>
            <a:r>
              <a:rPr lang="en-US" sz="1200" b="1" dirty="0">
                <a:solidFill>
                  <a:srgbClr val="173F35"/>
                </a:solidFill>
                <a:latin typeface="Calibri" pitchFamily="34" charset="0"/>
                <a:ea typeface="Calibri" pitchFamily="34" charset="-122"/>
                <a:cs typeface="Calibri" pitchFamily="34" charset="-120"/>
              </a:rPr>
              <a:t>contactid  PK</a:t>
            </a:r>
            <a:endParaRPr lang="en-US" sz="1200" dirty="0"/>
          </a:p>
        </p:txBody>
      </p:sp>
      <p:sp>
        <p:nvSpPr>
          <p:cNvPr id="10" name="Shape 8"/>
          <p:cNvSpPr/>
          <p:nvPr/>
        </p:nvSpPr>
        <p:spPr>
          <a:xfrm>
            <a:off x="2816352" y="2176272"/>
            <a:ext cx="6172200" cy="0"/>
          </a:xfrm>
          <a:prstGeom prst="line">
            <a:avLst/>
          </a:prstGeom>
          <a:noFill/>
          <a:ln w="25400">
            <a:solidFill>
              <a:srgbClr val="55B99A"/>
            </a:solidFill>
            <a:prstDash val="solid"/>
            <a:headEnd type="none"/>
            <a:tailEnd type="triangle"/>
          </a:ln>
        </p:spPr>
      </p:sp>
      <p:sp>
        <p:nvSpPr>
          <p:cNvPr id="11" name="Shape 9"/>
          <p:cNvSpPr/>
          <p:nvPr/>
        </p:nvSpPr>
        <p:spPr>
          <a:xfrm>
            <a:off x="4663440" y="2016252"/>
            <a:ext cx="2560320" cy="320040"/>
          </a:xfrm>
          <a:prstGeom prst="roundRect">
            <a:avLst>
              <a:gd name="adj" fmla="val 22857"/>
            </a:avLst>
          </a:prstGeom>
          <a:solidFill>
            <a:srgbClr val="E7F4EF"/>
          </a:solidFill>
          <a:ln w="12700">
            <a:solidFill>
              <a:srgbClr val="E7F4EF"/>
            </a:solidFill>
            <a:prstDash val="solid"/>
          </a:ln>
        </p:spPr>
      </p:sp>
      <p:sp>
        <p:nvSpPr>
          <p:cNvPr id="12" name="Text 10"/>
          <p:cNvSpPr txBox="1"/>
          <p:nvPr/>
        </p:nvSpPr>
        <p:spPr>
          <a:xfrm>
            <a:off x="4663440" y="2016252"/>
            <a:ext cx="2560320" cy="320040"/>
          </a:xfrm>
          <a:prstGeom prst="rect">
            <a:avLst/>
          </a:prstGeom>
          <a:noFill/>
          <a:ln/>
        </p:spPr>
        <p:txBody>
          <a:bodyPr wrap="square" lIns="0" tIns="0" rIns="0" bIns="0" rtlCol="0" anchor="ctr">
            <a:normAutofit/>
          </a:bodyPr>
          <a:lstStyle/>
          <a:p>
            <a:pPr algn="ctr" indent="0" marL="0">
              <a:buNone/>
            </a:pPr>
            <a:r>
              <a:rPr lang="en-US" sz="1100" b="1" dirty="0">
                <a:solidFill>
                  <a:srgbClr val="173F35"/>
                </a:solidFill>
                <a:latin typeface="Calibri" pitchFamily="34" charset="0"/>
                <a:ea typeface="Calibri" pitchFamily="34" charset="-122"/>
                <a:cs typeface="Calibri" pitchFamily="34" charset="-120"/>
              </a:rPr>
              <a:t>copy</a:t>
            </a:r>
            <a:endParaRPr lang="en-US" sz="1100" dirty="0"/>
          </a:p>
        </p:txBody>
      </p:sp>
      <p:sp>
        <p:nvSpPr>
          <p:cNvPr id="13" name="Shape 11"/>
          <p:cNvSpPr/>
          <p:nvPr/>
        </p:nvSpPr>
        <p:spPr>
          <a:xfrm>
            <a:off x="658368" y="2679192"/>
            <a:ext cx="1993392" cy="329184"/>
          </a:xfrm>
          <a:prstGeom prst="roundRect">
            <a:avLst>
              <a:gd name="adj" fmla="val 27778"/>
            </a:avLst>
          </a:prstGeom>
          <a:solidFill>
            <a:srgbClr val="FFFFFF"/>
          </a:solidFill>
          <a:ln w="12700">
            <a:solidFill>
              <a:srgbClr val="B9CCC5"/>
            </a:solidFill>
            <a:prstDash val="solid"/>
          </a:ln>
        </p:spPr>
      </p:sp>
      <p:sp>
        <p:nvSpPr>
          <p:cNvPr id="14" name="Text 12"/>
          <p:cNvSpPr txBox="1"/>
          <p:nvPr/>
        </p:nvSpPr>
        <p:spPr>
          <a:xfrm>
            <a:off x="768096" y="2679192"/>
            <a:ext cx="1773936" cy="329184"/>
          </a:xfrm>
          <a:prstGeom prst="rect">
            <a:avLst/>
          </a:prstGeom>
          <a:noFill/>
          <a:ln/>
        </p:spPr>
        <p:txBody>
          <a:bodyPr wrap="square" lIns="0" tIns="0" rIns="0" bIns="0" rtlCol="0" anchor="ctr">
            <a:normAutofit/>
          </a:bodyPr>
          <a:lstStyle/>
          <a:p>
            <a:pPr algn="l" indent="0" marL="0">
              <a:buNone/>
            </a:pPr>
            <a:r>
              <a:rPr lang="en-US" sz="1200" dirty="0">
                <a:solidFill>
                  <a:srgbClr val="5E6C67"/>
                </a:solidFill>
                <a:latin typeface="Calibri" pitchFamily="34" charset="0"/>
                <a:ea typeface="Calibri" pitchFamily="34" charset="-122"/>
                <a:cs typeface="Calibri" pitchFamily="34" charset="-120"/>
              </a:rPr>
              <a:t>full_name</a:t>
            </a:r>
            <a:endParaRPr lang="en-US" sz="1200" dirty="0"/>
          </a:p>
        </p:txBody>
      </p:sp>
      <p:sp>
        <p:nvSpPr>
          <p:cNvPr id="15" name="Shape 13"/>
          <p:cNvSpPr/>
          <p:nvPr/>
        </p:nvSpPr>
        <p:spPr>
          <a:xfrm>
            <a:off x="9144000" y="2679192"/>
            <a:ext cx="2240280" cy="329184"/>
          </a:xfrm>
          <a:prstGeom prst="roundRect">
            <a:avLst>
              <a:gd name="adj" fmla="val 27778"/>
            </a:avLst>
          </a:prstGeom>
          <a:solidFill>
            <a:srgbClr val="E7F4EF"/>
          </a:solidFill>
          <a:ln w="12700">
            <a:solidFill>
              <a:srgbClr val="55B99A"/>
            </a:solidFill>
            <a:prstDash val="solid"/>
          </a:ln>
        </p:spPr>
      </p:sp>
      <p:sp>
        <p:nvSpPr>
          <p:cNvPr id="16" name="Text 14"/>
          <p:cNvSpPr txBox="1"/>
          <p:nvPr/>
        </p:nvSpPr>
        <p:spPr>
          <a:xfrm>
            <a:off x="9253728" y="2679192"/>
            <a:ext cx="2020824" cy="329184"/>
          </a:xfrm>
          <a:prstGeom prst="rect">
            <a:avLst/>
          </a:prstGeom>
          <a:noFill/>
          <a:ln/>
        </p:spPr>
        <p:txBody>
          <a:bodyPr wrap="square" lIns="0" tIns="0" rIns="0" bIns="0" rtlCol="0" anchor="ctr">
            <a:normAutofit/>
          </a:bodyPr>
          <a:lstStyle/>
          <a:p>
            <a:pPr algn="l" indent="0" marL="0">
              <a:buNone/>
            </a:pPr>
            <a:r>
              <a:rPr lang="en-US" sz="1200" b="1" dirty="0">
                <a:solidFill>
                  <a:srgbClr val="173F35"/>
                </a:solidFill>
                <a:latin typeface="Calibri" pitchFamily="34" charset="0"/>
                <a:ea typeface="Calibri" pitchFamily="34" charset="-122"/>
                <a:cs typeface="Calibri" pitchFamily="34" charset="-120"/>
              </a:rPr>
              <a:t>firstname + lastname</a:t>
            </a:r>
            <a:endParaRPr lang="en-US" sz="1200" dirty="0"/>
          </a:p>
        </p:txBody>
      </p:sp>
      <p:sp>
        <p:nvSpPr>
          <p:cNvPr id="17" name="Shape 15"/>
          <p:cNvSpPr/>
          <p:nvPr/>
        </p:nvSpPr>
        <p:spPr>
          <a:xfrm>
            <a:off x="2816352" y="2843784"/>
            <a:ext cx="6172200" cy="0"/>
          </a:xfrm>
          <a:prstGeom prst="line">
            <a:avLst/>
          </a:prstGeom>
          <a:noFill/>
          <a:ln w="25400">
            <a:solidFill>
              <a:srgbClr val="55B99A"/>
            </a:solidFill>
            <a:prstDash val="solid"/>
            <a:headEnd type="none"/>
            <a:tailEnd type="triangle"/>
          </a:ln>
        </p:spPr>
      </p:sp>
      <p:sp>
        <p:nvSpPr>
          <p:cNvPr id="18" name="Shape 16"/>
          <p:cNvSpPr/>
          <p:nvPr/>
        </p:nvSpPr>
        <p:spPr>
          <a:xfrm>
            <a:off x="4663440" y="2683764"/>
            <a:ext cx="2560320" cy="320040"/>
          </a:xfrm>
          <a:prstGeom prst="roundRect">
            <a:avLst>
              <a:gd name="adj" fmla="val 22857"/>
            </a:avLst>
          </a:prstGeom>
          <a:solidFill>
            <a:srgbClr val="E7F4EF"/>
          </a:solidFill>
          <a:ln w="12700">
            <a:solidFill>
              <a:srgbClr val="E7F4EF"/>
            </a:solidFill>
            <a:prstDash val="solid"/>
          </a:ln>
        </p:spPr>
      </p:sp>
      <p:sp>
        <p:nvSpPr>
          <p:cNvPr id="19" name="Text 17"/>
          <p:cNvSpPr txBox="1"/>
          <p:nvPr/>
        </p:nvSpPr>
        <p:spPr>
          <a:xfrm>
            <a:off x="4663440" y="2683764"/>
            <a:ext cx="2560320" cy="320040"/>
          </a:xfrm>
          <a:prstGeom prst="rect">
            <a:avLst/>
          </a:prstGeom>
          <a:noFill/>
          <a:ln/>
        </p:spPr>
        <p:txBody>
          <a:bodyPr wrap="square" lIns="0" tIns="0" rIns="0" bIns="0" rtlCol="0" anchor="ctr">
            <a:normAutofit/>
          </a:bodyPr>
          <a:lstStyle/>
          <a:p>
            <a:pPr algn="ctr" indent="0" marL="0">
              <a:buNone/>
            </a:pPr>
            <a:r>
              <a:rPr lang="en-US" sz="1100" b="1" dirty="0">
                <a:solidFill>
                  <a:srgbClr val="173F35"/>
                </a:solidFill>
                <a:latin typeface="Calibri" pitchFamily="34" charset="0"/>
                <a:ea typeface="Calibri" pitchFamily="34" charset="-122"/>
                <a:cs typeface="Calibri" pitchFamily="34" charset="-120"/>
              </a:rPr>
              <a:t>split first word / rest</a:t>
            </a:r>
            <a:endParaRPr lang="en-US" sz="1100" dirty="0"/>
          </a:p>
        </p:txBody>
      </p:sp>
      <p:sp>
        <p:nvSpPr>
          <p:cNvPr id="20" name="Shape 18"/>
          <p:cNvSpPr/>
          <p:nvPr/>
        </p:nvSpPr>
        <p:spPr>
          <a:xfrm>
            <a:off x="658368" y="3346704"/>
            <a:ext cx="1993392" cy="329184"/>
          </a:xfrm>
          <a:prstGeom prst="roundRect">
            <a:avLst>
              <a:gd name="adj" fmla="val 27778"/>
            </a:avLst>
          </a:prstGeom>
          <a:solidFill>
            <a:srgbClr val="FFFFFF"/>
          </a:solidFill>
          <a:ln w="12700">
            <a:solidFill>
              <a:srgbClr val="B9CCC5"/>
            </a:solidFill>
            <a:prstDash val="solid"/>
          </a:ln>
        </p:spPr>
      </p:sp>
      <p:sp>
        <p:nvSpPr>
          <p:cNvPr id="21" name="Text 19"/>
          <p:cNvSpPr txBox="1"/>
          <p:nvPr/>
        </p:nvSpPr>
        <p:spPr>
          <a:xfrm>
            <a:off x="768096" y="3346704"/>
            <a:ext cx="1773936" cy="329184"/>
          </a:xfrm>
          <a:prstGeom prst="rect">
            <a:avLst/>
          </a:prstGeom>
          <a:noFill/>
          <a:ln/>
        </p:spPr>
        <p:txBody>
          <a:bodyPr wrap="square" lIns="0" tIns="0" rIns="0" bIns="0" rtlCol="0" anchor="ctr">
            <a:normAutofit/>
          </a:bodyPr>
          <a:lstStyle/>
          <a:p>
            <a:pPr algn="l" indent="0" marL="0">
              <a:buNone/>
            </a:pPr>
            <a:r>
              <a:rPr lang="en-US" sz="1200" dirty="0">
                <a:solidFill>
                  <a:srgbClr val="5E6C67"/>
                </a:solidFill>
                <a:latin typeface="Calibri" pitchFamily="34" charset="0"/>
                <a:ea typeface="Calibri" pitchFamily="34" charset="-122"/>
                <a:cs typeface="Calibri" pitchFamily="34" charset="-120"/>
              </a:rPr>
              <a:t>email_addr</a:t>
            </a:r>
            <a:endParaRPr lang="en-US" sz="1200" dirty="0"/>
          </a:p>
        </p:txBody>
      </p:sp>
      <p:sp>
        <p:nvSpPr>
          <p:cNvPr id="22" name="Shape 20"/>
          <p:cNvSpPr/>
          <p:nvPr/>
        </p:nvSpPr>
        <p:spPr>
          <a:xfrm>
            <a:off x="9144000" y="3346704"/>
            <a:ext cx="2240280" cy="329184"/>
          </a:xfrm>
          <a:prstGeom prst="roundRect">
            <a:avLst>
              <a:gd name="adj" fmla="val 27778"/>
            </a:avLst>
          </a:prstGeom>
          <a:solidFill>
            <a:srgbClr val="E7F4EF"/>
          </a:solidFill>
          <a:ln w="12700">
            <a:solidFill>
              <a:srgbClr val="55B99A"/>
            </a:solidFill>
            <a:prstDash val="solid"/>
          </a:ln>
        </p:spPr>
      </p:sp>
      <p:sp>
        <p:nvSpPr>
          <p:cNvPr id="23" name="Text 21"/>
          <p:cNvSpPr txBox="1"/>
          <p:nvPr/>
        </p:nvSpPr>
        <p:spPr>
          <a:xfrm>
            <a:off x="9253728" y="3346704"/>
            <a:ext cx="2020824" cy="329184"/>
          </a:xfrm>
          <a:prstGeom prst="rect">
            <a:avLst/>
          </a:prstGeom>
          <a:noFill/>
          <a:ln/>
        </p:spPr>
        <p:txBody>
          <a:bodyPr wrap="square" lIns="0" tIns="0" rIns="0" bIns="0" rtlCol="0" anchor="ctr">
            <a:normAutofit/>
          </a:bodyPr>
          <a:lstStyle/>
          <a:p>
            <a:pPr algn="l" indent="0" marL="0">
              <a:buNone/>
            </a:pPr>
            <a:r>
              <a:rPr lang="en-US" sz="1200" b="1" dirty="0">
                <a:solidFill>
                  <a:srgbClr val="173F35"/>
                </a:solidFill>
                <a:latin typeface="Calibri" pitchFamily="34" charset="0"/>
                <a:ea typeface="Calibri" pitchFamily="34" charset="-122"/>
                <a:cs typeface="Calibri" pitchFamily="34" charset="-120"/>
              </a:rPr>
              <a:t>emailaddress1</a:t>
            </a:r>
            <a:endParaRPr lang="en-US" sz="1200" dirty="0"/>
          </a:p>
        </p:txBody>
      </p:sp>
      <p:sp>
        <p:nvSpPr>
          <p:cNvPr id="24" name="Shape 22"/>
          <p:cNvSpPr/>
          <p:nvPr/>
        </p:nvSpPr>
        <p:spPr>
          <a:xfrm>
            <a:off x="2816352" y="3511296"/>
            <a:ext cx="6172200" cy="0"/>
          </a:xfrm>
          <a:prstGeom prst="line">
            <a:avLst/>
          </a:prstGeom>
          <a:noFill/>
          <a:ln w="25400">
            <a:solidFill>
              <a:srgbClr val="55B99A"/>
            </a:solidFill>
            <a:prstDash val="solid"/>
            <a:headEnd type="none"/>
            <a:tailEnd type="triangle"/>
          </a:ln>
        </p:spPr>
      </p:sp>
      <p:sp>
        <p:nvSpPr>
          <p:cNvPr id="25" name="Shape 23"/>
          <p:cNvSpPr/>
          <p:nvPr/>
        </p:nvSpPr>
        <p:spPr>
          <a:xfrm>
            <a:off x="4663440" y="3351276"/>
            <a:ext cx="2560320" cy="320040"/>
          </a:xfrm>
          <a:prstGeom prst="roundRect">
            <a:avLst>
              <a:gd name="adj" fmla="val 22857"/>
            </a:avLst>
          </a:prstGeom>
          <a:solidFill>
            <a:srgbClr val="E7F4EF"/>
          </a:solidFill>
          <a:ln w="12700">
            <a:solidFill>
              <a:srgbClr val="E7F4EF"/>
            </a:solidFill>
            <a:prstDash val="solid"/>
          </a:ln>
        </p:spPr>
      </p:sp>
      <p:sp>
        <p:nvSpPr>
          <p:cNvPr id="26" name="Text 24"/>
          <p:cNvSpPr txBox="1"/>
          <p:nvPr/>
        </p:nvSpPr>
        <p:spPr>
          <a:xfrm>
            <a:off x="4663440" y="3351276"/>
            <a:ext cx="2560320" cy="320040"/>
          </a:xfrm>
          <a:prstGeom prst="rect">
            <a:avLst/>
          </a:prstGeom>
          <a:noFill/>
          <a:ln/>
        </p:spPr>
        <p:txBody>
          <a:bodyPr wrap="square" lIns="0" tIns="0" rIns="0" bIns="0" rtlCol="0" anchor="ctr">
            <a:normAutofit/>
          </a:bodyPr>
          <a:lstStyle/>
          <a:p>
            <a:pPr algn="ctr" indent="0" marL="0">
              <a:buNone/>
            </a:pPr>
            <a:r>
              <a:rPr lang="en-US" sz="1100" b="1" dirty="0">
                <a:solidFill>
                  <a:srgbClr val="173F35"/>
                </a:solidFill>
                <a:latin typeface="Calibri" pitchFamily="34" charset="0"/>
                <a:ea typeface="Calibri" pitchFamily="34" charset="-122"/>
                <a:cs typeface="Calibri" pitchFamily="34" charset="-120"/>
              </a:rPr>
              <a:t>lowercase; invalid → empty</a:t>
            </a:r>
            <a:endParaRPr lang="en-US" sz="1100" dirty="0"/>
          </a:p>
        </p:txBody>
      </p:sp>
      <p:sp>
        <p:nvSpPr>
          <p:cNvPr id="27" name="Shape 25"/>
          <p:cNvSpPr/>
          <p:nvPr/>
        </p:nvSpPr>
        <p:spPr>
          <a:xfrm>
            <a:off x="658368" y="4014216"/>
            <a:ext cx="1993392" cy="329184"/>
          </a:xfrm>
          <a:prstGeom prst="roundRect">
            <a:avLst>
              <a:gd name="adj" fmla="val 27778"/>
            </a:avLst>
          </a:prstGeom>
          <a:solidFill>
            <a:srgbClr val="FFFFFF"/>
          </a:solidFill>
          <a:ln w="12700">
            <a:solidFill>
              <a:srgbClr val="B9CCC5"/>
            </a:solidFill>
            <a:prstDash val="solid"/>
          </a:ln>
        </p:spPr>
      </p:sp>
      <p:sp>
        <p:nvSpPr>
          <p:cNvPr id="28" name="Text 26"/>
          <p:cNvSpPr txBox="1"/>
          <p:nvPr/>
        </p:nvSpPr>
        <p:spPr>
          <a:xfrm>
            <a:off x="768096" y="4014216"/>
            <a:ext cx="1773936" cy="329184"/>
          </a:xfrm>
          <a:prstGeom prst="rect">
            <a:avLst/>
          </a:prstGeom>
          <a:noFill/>
          <a:ln/>
        </p:spPr>
        <p:txBody>
          <a:bodyPr wrap="square" lIns="0" tIns="0" rIns="0" bIns="0" rtlCol="0" anchor="ctr">
            <a:normAutofit/>
          </a:bodyPr>
          <a:lstStyle/>
          <a:p>
            <a:pPr algn="l" indent="0" marL="0">
              <a:buNone/>
            </a:pPr>
            <a:r>
              <a:rPr lang="en-US" sz="1200" dirty="0">
                <a:solidFill>
                  <a:srgbClr val="5E6C67"/>
                </a:solidFill>
                <a:latin typeface="Calibri" pitchFamily="34" charset="0"/>
                <a:ea typeface="Calibri" pitchFamily="34" charset="-122"/>
                <a:cs typeface="Calibri" pitchFamily="34" charset="-120"/>
              </a:rPr>
              <a:t>signup_date</a:t>
            </a:r>
            <a:endParaRPr lang="en-US" sz="1200" dirty="0"/>
          </a:p>
        </p:txBody>
      </p:sp>
      <p:sp>
        <p:nvSpPr>
          <p:cNvPr id="29" name="Shape 27"/>
          <p:cNvSpPr/>
          <p:nvPr/>
        </p:nvSpPr>
        <p:spPr>
          <a:xfrm>
            <a:off x="9144000" y="4014216"/>
            <a:ext cx="2240280" cy="329184"/>
          </a:xfrm>
          <a:prstGeom prst="roundRect">
            <a:avLst>
              <a:gd name="adj" fmla="val 27778"/>
            </a:avLst>
          </a:prstGeom>
          <a:solidFill>
            <a:srgbClr val="E7F4EF"/>
          </a:solidFill>
          <a:ln w="12700">
            <a:solidFill>
              <a:srgbClr val="55B99A"/>
            </a:solidFill>
            <a:prstDash val="solid"/>
          </a:ln>
        </p:spPr>
      </p:sp>
      <p:sp>
        <p:nvSpPr>
          <p:cNvPr id="30" name="Text 28"/>
          <p:cNvSpPr txBox="1"/>
          <p:nvPr/>
        </p:nvSpPr>
        <p:spPr>
          <a:xfrm>
            <a:off x="9253728" y="4014216"/>
            <a:ext cx="2020824" cy="329184"/>
          </a:xfrm>
          <a:prstGeom prst="rect">
            <a:avLst/>
          </a:prstGeom>
          <a:noFill/>
          <a:ln/>
        </p:spPr>
        <p:txBody>
          <a:bodyPr wrap="square" lIns="0" tIns="0" rIns="0" bIns="0" rtlCol="0" anchor="ctr">
            <a:normAutofit/>
          </a:bodyPr>
          <a:lstStyle/>
          <a:p>
            <a:pPr algn="l" indent="0" marL="0">
              <a:buNone/>
            </a:pPr>
            <a:r>
              <a:rPr lang="en-US" sz="1200" b="1" dirty="0">
                <a:solidFill>
                  <a:srgbClr val="173F35"/>
                </a:solidFill>
                <a:latin typeface="Calibri" pitchFamily="34" charset="0"/>
                <a:ea typeface="Calibri" pitchFamily="34" charset="-122"/>
                <a:cs typeface="Calibri" pitchFamily="34" charset="-120"/>
              </a:rPr>
              <a:t>createdon</a:t>
            </a:r>
            <a:endParaRPr lang="en-US" sz="1200" dirty="0"/>
          </a:p>
        </p:txBody>
      </p:sp>
      <p:sp>
        <p:nvSpPr>
          <p:cNvPr id="31" name="Shape 29"/>
          <p:cNvSpPr/>
          <p:nvPr/>
        </p:nvSpPr>
        <p:spPr>
          <a:xfrm>
            <a:off x="2816352" y="4178808"/>
            <a:ext cx="6172200" cy="0"/>
          </a:xfrm>
          <a:prstGeom prst="line">
            <a:avLst/>
          </a:prstGeom>
          <a:noFill/>
          <a:ln w="25400">
            <a:solidFill>
              <a:srgbClr val="F2C14E"/>
            </a:solidFill>
            <a:prstDash val="solid"/>
            <a:headEnd type="none"/>
            <a:tailEnd type="triangle"/>
          </a:ln>
        </p:spPr>
      </p:sp>
      <p:sp>
        <p:nvSpPr>
          <p:cNvPr id="32" name="Shape 30"/>
          <p:cNvSpPr/>
          <p:nvPr/>
        </p:nvSpPr>
        <p:spPr>
          <a:xfrm>
            <a:off x="4663440" y="4018788"/>
            <a:ext cx="2560320" cy="320040"/>
          </a:xfrm>
          <a:prstGeom prst="roundRect">
            <a:avLst>
              <a:gd name="adj" fmla="val 22857"/>
            </a:avLst>
          </a:prstGeom>
          <a:solidFill>
            <a:srgbClr val="FFF5D9"/>
          </a:solidFill>
          <a:ln w="12700">
            <a:solidFill>
              <a:srgbClr val="FFF5D9"/>
            </a:solidFill>
            <a:prstDash val="solid"/>
          </a:ln>
        </p:spPr>
      </p:sp>
      <p:sp>
        <p:nvSpPr>
          <p:cNvPr id="33" name="Text 31"/>
          <p:cNvSpPr txBox="1"/>
          <p:nvPr/>
        </p:nvSpPr>
        <p:spPr>
          <a:xfrm>
            <a:off x="4663440" y="4018788"/>
            <a:ext cx="2560320" cy="320040"/>
          </a:xfrm>
          <a:prstGeom prst="rect">
            <a:avLst/>
          </a:prstGeom>
          <a:noFill/>
          <a:ln/>
        </p:spPr>
        <p:txBody>
          <a:bodyPr wrap="square" lIns="0" tIns="0" rIns="0" bIns="0" rtlCol="0" anchor="ctr">
            <a:normAutofit/>
          </a:bodyPr>
          <a:lstStyle/>
          <a:p>
            <a:pPr algn="ctr" indent="0" marL="0">
              <a:buNone/>
            </a:pPr>
            <a:r>
              <a:rPr lang="en-US" sz="1100" b="1" dirty="0">
                <a:solidFill>
                  <a:srgbClr val="102F29"/>
                </a:solidFill>
                <a:latin typeface="Calibri" pitchFamily="34" charset="0"/>
                <a:ea typeface="Calibri" pitchFamily="34" charset="-122"/>
                <a:cs typeface="Calibri" pitchFamily="34" charset="-120"/>
              </a:rPr>
              <a:t>UTC ISO 8601</a:t>
            </a:r>
            <a:endParaRPr lang="en-US" sz="1100" dirty="0"/>
          </a:p>
        </p:txBody>
      </p:sp>
      <p:sp>
        <p:nvSpPr>
          <p:cNvPr id="34" name="Shape 32"/>
          <p:cNvSpPr/>
          <p:nvPr/>
        </p:nvSpPr>
        <p:spPr>
          <a:xfrm>
            <a:off x="658368" y="4681728"/>
            <a:ext cx="1993392" cy="329184"/>
          </a:xfrm>
          <a:prstGeom prst="roundRect">
            <a:avLst>
              <a:gd name="adj" fmla="val 27778"/>
            </a:avLst>
          </a:prstGeom>
          <a:solidFill>
            <a:srgbClr val="FFFFFF"/>
          </a:solidFill>
          <a:ln w="12700">
            <a:solidFill>
              <a:srgbClr val="B9CCC5"/>
            </a:solidFill>
            <a:prstDash val="solid"/>
          </a:ln>
        </p:spPr>
      </p:sp>
      <p:sp>
        <p:nvSpPr>
          <p:cNvPr id="35" name="Text 33"/>
          <p:cNvSpPr txBox="1"/>
          <p:nvPr/>
        </p:nvSpPr>
        <p:spPr>
          <a:xfrm>
            <a:off x="768096" y="4681728"/>
            <a:ext cx="1773936" cy="329184"/>
          </a:xfrm>
          <a:prstGeom prst="rect">
            <a:avLst/>
          </a:prstGeom>
          <a:noFill/>
          <a:ln/>
        </p:spPr>
        <p:txBody>
          <a:bodyPr wrap="square" lIns="0" tIns="0" rIns="0" bIns="0" rtlCol="0" anchor="ctr">
            <a:normAutofit/>
          </a:bodyPr>
          <a:lstStyle/>
          <a:p>
            <a:pPr algn="l" indent="0" marL="0">
              <a:buNone/>
            </a:pPr>
            <a:r>
              <a:rPr lang="en-US" sz="1200" dirty="0">
                <a:solidFill>
                  <a:srgbClr val="5E6C67"/>
                </a:solidFill>
                <a:latin typeface="Calibri" pitchFamily="34" charset="0"/>
                <a:ea typeface="Calibri" pitchFamily="34" charset="-122"/>
                <a:cs typeface="Calibri" pitchFamily="34" charset="-120"/>
              </a:rPr>
              <a:t>user_status</a:t>
            </a:r>
            <a:endParaRPr lang="en-US" sz="1200" dirty="0"/>
          </a:p>
        </p:txBody>
      </p:sp>
      <p:sp>
        <p:nvSpPr>
          <p:cNvPr id="36" name="Shape 34"/>
          <p:cNvSpPr/>
          <p:nvPr/>
        </p:nvSpPr>
        <p:spPr>
          <a:xfrm>
            <a:off x="9144000" y="4681728"/>
            <a:ext cx="2240280" cy="329184"/>
          </a:xfrm>
          <a:prstGeom prst="roundRect">
            <a:avLst>
              <a:gd name="adj" fmla="val 27778"/>
            </a:avLst>
          </a:prstGeom>
          <a:solidFill>
            <a:srgbClr val="E7F4EF"/>
          </a:solidFill>
          <a:ln w="12700">
            <a:solidFill>
              <a:srgbClr val="55B99A"/>
            </a:solidFill>
            <a:prstDash val="solid"/>
          </a:ln>
        </p:spPr>
      </p:sp>
      <p:sp>
        <p:nvSpPr>
          <p:cNvPr id="37" name="Text 35"/>
          <p:cNvSpPr txBox="1"/>
          <p:nvPr/>
        </p:nvSpPr>
        <p:spPr>
          <a:xfrm>
            <a:off x="9253728" y="4681728"/>
            <a:ext cx="2020824" cy="329184"/>
          </a:xfrm>
          <a:prstGeom prst="rect">
            <a:avLst/>
          </a:prstGeom>
          <a:noFill/>
          <a:ln/>
        </p:spPr>
        <p:txBody>
          <a:bodyPr wrap="square" lIns="0" tIns="0" rIns="0" bIns="0" rtlCol="0" anchor="ctr">
            <a:normAutofit/>
          </a:bodyPr>
          <a:lstStyle/>
          <a:p>
            <a:pPr algn="l" indent="0" marL="0">
              <a:buNone/>
            </a:pPr>
            <a:r>
              <a:rPr lang="en-US" sz="1200" b="1" dirty="0">
                <a:solidFill>
                  <a:srgbClr val="173F35"/>
                </a:solidFill>
                <a:latin typeface="Calibri" pitchFamily="34" charset="0"/>
                <a:ea typeface="Calibri" pitchFamily="34" charset="-122"/>
                <a:cs typeface="Calibri" pitchFamily="34" charset="-120"/>
              </a:rPr>
              <a:t>statecode</a:t>
            </a:r>
            <a:endParaRPr lang="en-US" sz="1200" dirty="0"/>
          </a:p>
        </p:txBody>
      </p:sp>
      <p:sp>
        <p:nvSpPr>
          <p:cNvPr id="38" name="Shape 36"/>
          <p:cNvSpPr/>
          <p:nvPr/>
        </p:nvSpPr>
        <p:spPr>
          <a:xfrm>
            <a:off x="2816352" y="4846320"/>
            <a:ext cx="6172200" cy="0"/>
          </a:xfrm>
          <a:prstGeom prst="line">
            <a:avLst/>
          </a:prstGeom>
          <a:noFill/>
          <a:ln w="25400">
            <a:solidFill>
              <a:srgbClr val="55B99A"/>
            </a:solidFill>
            <a:prstDash val="solid"/>
            <a:headEnd type="none"/>
            <a:tailEnd type="triangle"/>
          </a:ln>
        </p:spPr>
      </p:sp>
      <p:sp>
        <p:nvSpPr>
          <p:cNvPr id="39" name="Shape 37"/>
          <p:cNvSpPr/>
          <p:nvPr/>
        </p:nvSpPr>
        <p:spPr>
          <a:xfrm>
            <a:off x="4663440" y="4686300"/>
            <a:ext cx="2560320" cy="320040"/>
          </a:xfrm>
          <a:prstGeom prst="roundRect">
            <a:avLst>
              <a:gd name="adj" fmla="val 22857"/>
            </a:avLst>
          </a:prstGeom>
          <a:solidFill>
            <a:srgbClr val="E7F4EF"/>
          </a:solidFill>
          <a:ln w="12700">
            <a:solidFill>
              <a:srgbClr val="E7F4EF"/>
            </a:solidFill>
            <a:prstDash val="solid"/>
          </a:ln>
        </p:spPr>
      </p:sp>
      <p:sp>
        <p:nvSpPr>
          <p:cNvPr id="40" name="Text 38"/>
          <p:cNvSpPr txBox="1"/>
          <p:nvPr/>
        </p:nvSpPr>
        <p:spPr>
          <a:xfrm>
            <a:off x="4663440" y="4686300"/>
            <a:ext cx="2560320" cy="320040"/>
          </a:xfrm>
          <a:prstGeom prst="rect">
            <a:avLst/>
          </a:prstGeom>
          <a:noFill/>
          <a:ln/>
        </p:spPr>
        <p:txBody>
          <a:bodyPr wrap="square" lIns="0" tIns="0" rIns="0" bIns="0" rtlCol="0" anchor="ctr">
            <a:normAutofit/>
          </a:bodyPr>
          <a:lstStyle/>
          <a:p>
            <a:pPr algn="ctr" indent="0" marL="0">
              <a:buNone/>
            </a:pPr>
            <a:r>
              <a:rPr lang="en-US" sz="1100" b="1" dirty="0">
                <a:solidFill>
                  <a:srgbClr val="173F35"/>
                </a:solidFill>
                <a:latin typeface="Calibri" pitchFamily="34" charset="0"/>
                <a:ea typeface="Calibri" pitchFamily="34" charset="-122"/>
                <a:cs typeface="Calibri" pitchFamily="34" charset="-120"/>
              </a:rPr>
              <a:t>active 0 · inactive 1</a:t>
            </a:r>
            <a:endParaRPr lang="en-US" sz="1100" dirty="0"/>
          </a:p>
        </p:txBody>
      </p:sp>
      <p:sp>
        <p:nvSpPr>
          <p:cNvPr id="41" name="Shape 39"/>
          <p:cNvSpPr/>
          <p:nvPr/>
        </p:nvSpPr>
        <p:spPr>
          <a:xfrm>
            <a:off x="3218688" y="5623560"/>
            <a:ext cx="4754880" cy="502920"/>
          </a:xfrm>
          <a:prstGeom prst="roundRect">
            <a:avLst>
              <a:gd name="adj" fmla="val 18182"/>
            </a:avLst>
          </a:prstGeom>
          <a:solidFill>
            <a:srgbClr val="F4F8F6"/>
          </a:solidFill>
          <a:ln w="12700">
            <a:solidFill>
              <a:srgbClr val="B9CCC5"/>
            </a:solidFill>
            <a:prstDash val="solid"/>
          </a:ln>
        </p:spPr>
      </p:sp>
      <p:sp>
        <p:nvSpPr>
          <p:cNvPr id="42" name="Shape 40"/>
          <p:cNvSpPr/>
          <p:nvPr/>
        </p:nvSpPr>
        <p:spPr>
          <a:xfrm>
            <a:off x="3401568" y="5742432"/>
            <a:ext cx="256032" cy="256032"/>
          </a:xfrm>
          <a:prstGeom prst="ellipse">
            <a:avLst/>
          </a:prstGeom>
          <a:solidFill>
            <a:srgbClr val="55B99A"/>
          </a:solidFill>
          <a:ln w="12700">
            <a:solidFill>
              <a:srgbClr val="55B99A"/>
            </a:solidFill>
            <a:prstDash val="solid"/>
          </a:ln>
        </p:spPr>
      </p:sp>
      <p:sp>
        <p:nvSpPr>
          <p:cNvPr id="43" name="Text 41"/>
          <p:cNvSpPr txBox="1"/>
          <p:nvPr/>
        </p:nvSpPr>
        <p:spPr>
          <a:xfrm>
            <a:off x="3401568" y="5733288"/>
            <a:ext cx="256032" cy="25603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4" name="Text 42"/>
          <p:cNvSpPr txBox="1"/>
          <p:nvPr/>
        </p:nvSpPr>
        <p:spPr>
          <a:xfrm>
            <a:off x="3767328" y="5660136"/>
            <a:ext cx="3977640" cy="384048"/>
          </a:xfrm>
          <a:prstGeom prst="rect">
            <a:avLst/>
          </a:prstGeom>
          <a:noFill/>
          <a:ln/>
        </p:spPr>
        <p:txBody>
          <a:bodyPr wrap="square" lIns="0" tIns="0" rIns="0" bIns="0" rtlCol="0" anchor="ctr">
            <a:normAutofit/>
          </a:bodyPr>
          <a:lstStyle/>
          <a:p>
            <a:pPr algn="l" indent="0" marL="0">
              <a:buNone/>
            </a:pPr>
            <a:r>
              <a:rPr lang="en-US" sz="1200" b="1" dirty="0">
                <a:solidFill>
                  <a:srgbClr val="5E6C67"/>
                </a:solidFill>
                <a:latin typeface="Calibri" pitchFamily="34" charset="0"/>
                <a:ea typeface="Calibri" pitchFamily="34" charset="-122"/>
                <a:cs typeface="Calibri" pitchFamily="34" charset="-120"/>
              </a:rPr>
              <a:t>CST-005 split line is joined; Alice’s invalid email is logged and left empty.</a:t>
            </a:r>
            <a:endParaRPr lang="en-US" sz="1200" dirty="0"/>
          </a:p>
        </p:txBody>
      </p:sp>
      <p:sp>
        <p:nvSpPr>
          <p:cNvPr id="25" name="Slide Number Placeholder 0"/>
          <p:cNvSpPr>
            <a:spLocks noGrp="1"/>
          </p:cNvSpPr>
          <p:nvPr>
            <p:ph type="sldNum" sz="quarter" idx="4294967295"/>
          </p:nvPr>
        </p:nvSpPr>
        <p:spPr>
          <a:xfrm>
            <a:off x="1168603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B76"/>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566928"/>
            <a:ext cx="11109960" cy="502920"/>
          </a:xfrm>
          <a:prstGeom prst="rect">
            <a:avLst/>
          </a:prstGeom>
          <a:noFill/>
          <a:ln/>
        </p:spPr>
        <p:txBody>
          <a:bodyPr wrap="square" lIns="0" tIns="0" rIns="0" bIns="0" rtlCol="0" anchor="ctr">
            <a:normAutofit/>
          </a:bodyPr>
          <a:lstStyle/>
          <a:p>
            <a:pPr algn="l" indent="0" marL="0">
              <a:buNone/>
            </a:pPr>
            <a:r>
              <a:rPr lang="en-US" sz="3000" b="1" dirty="0">
                <a:solidFill>
                  <a:srgbClr val="17211E"/>
                </a:solidFill>
                <a:latin typeface="Cambria" pitchFamily="34" charset="0"/>
                <a:ea typeface="Cambria" pitchFamily="34" charset="-122"/>
                <a:cs typeface="Cambria" pitchFamily="34" charset="-120"/>
              </a:rPr>
              <a:t>SalesOrder: keep only valid relationships</a:t>
            </a:r>
            <a:endParaRPr lang="en-US" sz="3000" dirty="0"/>
          </a:p>
        </p:txBody>
      </p:sp>
      <p:sp>
        <p:nvSpPr>
          <p:cNvPr id="3" name="Text 1"/>
          <p:cNvSpPr txBox="1"/>
          <p:nvPr/>
        </p:nvSpPr>
        <p:spPr>
          <a:xfrm>
            <a:off x="521208" y="1115568"/>
            <a:ext cx="10789920" cy="292608"/>
          </a:xfrm>
          <a:prstGeom prst="rect">
            <a:avLst/>
          </a:prstGeom>
          <a:noFill/>
          <a:ln/>
        </p:spPr>
        <p:txBody>
          <a:bodyPr wrap="square" lIns="0" tIns="0" rIns="0" bIns="0" rtlCol="0" anchor="ctr">
            <a:normAutofit/>
          </a:bodyPr>
          <a:lstStyle/>
          <a:p>
            <a:pPr algn="l" indent="0" marL="0">
              <a:buNone/>
            </a:pPr>
            <a:r>
              <a:rPr lang="en-US" sz="1400" dirty="0">
                <a:solidFill>
                  <a:srgbClr val="5E6C67"/>
                </a:solidFill>
                <a:latin typeface="Calibri" pitchFamily="34" charset="0"/>
                <a:ea typeface="Calibri" pitchFamily="34" charset="-122"/>
                <a:cs typeface="Calibri" pitchFamily="34" charset="-120"/>
              </a:rPr>
              <a:t>Contact is the parent; SalesOrder.customerid is the foreign key.</a:t>
            </a:r>
            <a:endParaRPr lang="en-US" sz="1400" dirty="0"/>
          </a:p>
        </p:txBody>
      </p:sp>
      <p:sp>
        <p:nvSpPr>
          <p:cNvPr id="4" name="Shape 2"/>
          <p:cNvSpPr/>
          <p:nvPr/>
        </p:nvSpPr>
        <p:spPr>
          <a:xfrm>
            <a:off x="731520" y="1719072"/>
            <a:ext cx="3675888" cy="3529584"/>
          </a:xfrm>
          <a:prstGeom prst="roundRect">
            <a:avLst>
              <a:gd name="adj" fmla="val 2591"/>
            </a:avLst>
          </a:prstGeom>
          <a:solidFill>
            <a:srgbClr val="F4F8F6"/>
          </a:solidFill>
          <a:ln w="12700">
            <a:solidFill>
              <a:srgbClr val="B9CCC5"/>
            </a:solidFill>
            <a:prstDash val="solid"/>
          </a:ln>
        </p:spPr>
      </p:sp>
      <p:sp>
        <p:nvSpPr>
          <p:cNvPr id="5" name="Shape 3"/>
          <p:cNvSpPr/>
          <p:nvPr/>
        </p:nvSpPr>
        <p:spPr>
          <a:xfrm>
            <a:off x="987552" y="1947672"/>
            <a:ext cx="841248" cy="320040"/>
          </a:xfrm>
          <a:prstGeom prst="roundRect">
            <a:avLst>
              <a:gd name="adj" fmla="val 22857"/>
            </a:avLst>
          </a:prstGeom>
          <a:solidFill>
            <a:srgbClr val="E7F4EF"/>
          </a:solidFill>
          <a:ln w="12700">
            <a:solidFill>
              <a:srgbClr val="E7F4EF"/>
            </a:solidFill>
            <a:prstDash val="solid"/>
          </a:ln>
        </p:spPr>
      </p:sp>
      <p:sp>
        <p:nvSpPr>
          <p:cNvPr id="6" name="Text 4"/>
          <p:cNvSpPr txBox="1"/>
          <p:nvPr/>
        </p:nvSpPr>
        <p:spPr>
          <a:xfrm>
            <a:off x="987552" y="1947672"/>
            <a:ext cx="841248" cy="320040"/>
          </a:xfrm>
          <a:prstGeom prst="rect">
            <a:avLst/>
          </a:prstGeom>
          <a:noFill/>
          <a:ln/>
        </p:spPr>
        <p:txBody>
          <a:bodyPr wrap="square" lIns="0" tIns="0" rIns="0" bIns="0" rtlCol="0" anchor="ctr">
            <a:normAutofit/>
          </a:bodyPr>
          <a:lstStyle/>
          <a:p>
            <a:pPr algn="ctr" indent="0" marL="0">
              <a:buNone/>
            </a:pPr>
            <a:r>
              <a:rPr lang="en-US" sz="1100" b="1" dirty="0">
                <a:solidFill>
                  <a:srgbClr val="173F35"/>
                </a:solidFill>
                <a:latin typeface="Calibri" pitchFamily="34" charset="0"/>
                <a:ea typeface="Calibri" pitchFamily="34" charset="-122"/>
                <a:cs typeface="Calibri" pitchFamily="34" charset="-120"/>
              </a:rPr>
              <a:t>PARENT</a:t>
            </a:r>
            <a:endParaRPr lang="en-US" sz="1100" dirty="0"/>
          </a:p>
        </p:txBody>
      </p:sp>
      <p:sp>
        <p:nvSpPr>
          <p:cNvPr id="7" name="Text 5"/>
          <p:cNvSpPr txBox="1"/>
          <p:nvPr/>
        </p:nvSpPr>
        <p:spPr>
          <a:xfrm>
            <a:off x="987552" y="2395728"/>
            <a:ext cx="2423160" cy="438912"/>
          </a:xfrm>
          <a:prstGeom prst="rect">
            <a:avLst/>
          </a:prstGeom>
          <a:noFill/>
          <a:ln/>
        </p:spPr>
        <p:txBody>
          <a:bodyPr wrap="square" lIns="0" tIns="0" rIns="0" bIns="0" rtlCol="0" anchor="ctr">
            <a:normAutofit/>
          </a:bodyPr>
          <a:lstStyle/>
          <a:p>
            <a:pPr algn="l" indent="0" marL="0">
              <a:buNone/>
            </a:pPr>
            <a:r>
              <a:rPr lang="en-US" sz="2500" b="1" dirty="0">
                <a:solidFill>
                  <a:srgbClr val="17211E"/>
                </a:solidFill>
                <a:latin typeface="Cambria" pitchFamily="34" charset="0"/>
                <a:ea typeface="Cambria" pitchFamily="34" charset="-122"/>
                <a:cs typeface="Cambria" pitchFamily="34" charset="-120"/>
              </a:rPr>
              <a:t>Contact</a:t>
            </a:r>
            <a:endParaRPr lang="en-US" sz="2500" dirty="0"/>
          </a:p>
        </p:txBody>
      </p:sp>
      <p:sp>
        <p:nvSpPr>
          <p:cNvPr id="8" name="Text 6"/>
          <p:cNvSpPr txBox="1"/>
          <p:nvPr/>
        </p:nvSpPr>
        <p:spPr>
          <a:xfrm>
            <a:off x="1033272" y="3017520"/>
            <a:ext cx="2834640" cy="274320"/>
          </a:xfrm>
          <a:prstGeom prst="rect">
            <a:avLst/>
          </a:prstGeom>
          <a:noFill/>
          <a:ln/>
        </p:spPr>
        <p:txBody>
          <a:bodyPr wrap="square" lIns="0" tIns="0" rIns="0" bIns="0" rtlCol="0" anchor="ctr">
            <a:normAutofit/>
          </a:bodyPr>
          <a:lstStyle/>
          <a:p>
            <a:pPr algn="l" indent="0" marL="0">
              <a:buNone/>
            </a:pPr>
            <a:r>
              <a:rPr lang="en-US" sz="1300" b="1" dirty="0">
                <a:solidFill>
                  <a:srgbClr val="173F35"/>
                </a:solidFill>
                <a:latin typeface="Calibri" pitchFamily="34" charset="0"/>
                <a:ea typeface="Calibri" pitchFamily="34" charset="-122"/>
                <a:cs typeface="Calibri" pitchFamily="34" charset="-120"/>
              </a:rPr>
              <a:t>contactid  PK</a:t>
            </a:r>
            <a:endParaRPr lang="en-US" sz="1300" dirty="0"/>
          </a:p>
        </p:txBody>
      </p:sp>
      <p:sp>
        <p:nvSpPr>
          <p:cNvPr id="9" name="Text 7"/>
          <p:cNvSpPr txBox="1"/>
          <p:nvPr/>
        </p:nvSpPr>
        <p:spPr>
          <a:xfrm>
            <a:off x="1033272" y="3410712"/>
            <a:ext cx="2834640" cy="274320"/>
          </a:xfrm>
          <a:prstGeom prst="rect">
            <a:avLst/>
          </a:prstGeom>
          <a:noFill/>
          <a:ln/>
        </p:spPr>
        <p:txBody>
          <a:bodyPr wrap="square" lIns="0" tIns="0" rIns="0" bIns="0" rtlCol="0" anchor="ctr">
            <a:normAutofit/>
          </a:bodyPr>
          <a:lstStyle/>
          <a:p>
            <a:pPr algn="l" indent="0" marL="0">
              <a:buNone/>
            </a:pPr>
            <a:r>
              <a:rPr lang="en-US" sz="1300" dirty="0">
                <a:solidFill>
                  <a:srgbClr val="5E6C67"/>
                </a:solidFill>
                <a:latin typeface="Calibri" pitchFamily="34" charset="0"/>
                <a:ea typeface="Calibri" pitchFamily="34" charset="-122"/>
                <a:cs typeface="Calibri" pitchFamily="34" charset="-120"/>
              </a:rPr>
              <a:t>firstname</a:t>
            </a:r>
            <a:endParaRPr lang="en-US" sz="1300" dirty="0"/>
          </a:p>
        </p:txBody>
      </p:sp>
      <p:sp>
        <p:nvSpPr>
          <p:cNvPr id="10" name="Text 8"/>
          <p:cNvSpPr txBox="1"/>
          <p:nvPr/>
        </p:nvSpPr>
        <p:spPr>
          <a:xfrm>
            <a:off x="1033272" y="3803904"/>
            <a:ext cx="2834640" cy="274320"/>
          </a:xfrm>
          <a:prstGeom prst="rect">
            <a:avLst/>
          </a:prstGeom>
          <a:noFill/>
          <a:ln/>
        </p:spPr>
        <p:txBody>
          <a:bodyPr wrap="square" lIns="0" tIns="0" rIns="0" bIns="0" rtlCol="0" anchor="ctr">
            <a:normAutofit/>
          </a:bodyPr>
          <a:lstStyle/>
          <a:p>
            <a:pPr algn="l" indent="0" marL="0">
              <a:buNone/>
            </a:pPr>
            <a:r>
              <a:rPr lang="en-US" sz="1300" dirty="0">
                <a:solidFill>
                  <a:srgbClr val="5E6C67"/>
                </a:solidFill>
                <a:latin typeface="Calibri" pitchFamily="34" charset="0"/>
                <a:ea typeface="Calibri" pitchFamily="34" charset="-122"/>
                <a:cs typeface="Calibri" pitchFamily="34" charset="-120"/>
              </a:rPr>
              <a:t>lastname</a:t>
            </a:r>
            <a:endParaRPr lang="en-US" sz="1300" dirty="0"/>
          </a:p>
        </p:txBody>
      </p:sp>
      <p:sp>
        <p:nvSpPr>
          <p:cNvPr id="11" name="Text 9"/>
          <p:cNvSpPr txBox="1"/>
          <p:nvPr/>
        </p:nvSpPr>
        <p:spPr>
          <a:xfrm>
            <a:off x="1033272" y="4197096"/>
            <a:ext cx="2834640" cy="274320"/>
          </a:xfrm>
          <a:prstGeom prst="rect">
            <a:avLst/>
          </a:prstGeom>
          <a:noFill/>
          <a:ln/>
        </p:spPr>
        <p:txBody>
          <a:bodyPr wrap="square" lIns="0" tIns="0" rIns="0" bIns="0" rtlCol="0" anchor="ctr">
            <a:normAutofit/>
          </a:bodyPr>
          <a:lstStyle/>
          <a:p>
            <a:pPr algn="l" indent="0" marL="0">
              <a:buNone/>
            </a:pPr>
            <a:r>
              <a:rPr lang="en-US" sz="1300" dirty="0">
                <a:solidFill>
                  <a:srgbClr val="5E6C67"/>
                </a:solidFill>
                <a:latin typeface="Calibri" pitchFamily="34" charset="0"/>
                <a:ea typeface="Calibri" pitchFamily="34" charset="-122"/>
                <a:cs typeface="Calibri" pitchFamily="34" charset="-120"/>
              </a:rPr>
              <a:t>emailaddress1</a:t>
            </a:r>
            <a:endParaRPr lang="en-US" sz="1300" dirty="0"/>
          </a:p>
        </p:txBody>
      </p:sp>
      <p:sp>
        <p:nvSpPr>
          <p:cNvPr id="12" name="Text 10"/>
          <p:cNvSpPr txBox="1"/>
          <p:nvPr/>
        </p:nvSpPr>
        <p:spPr>
          <a:xfrm>
            <a:off x="1033272" y="4590288"/>
            <a:ext cx="2834640" cy="274320"/>
          </a:xfrm>
          <a:prstGeom prst="rect">
            <a:avLst/>
          </a:prstGeom>
          <a:noFill/>
          <a:ln/>
        </p:spPr>
        <p:txBody>
          <a:bodyPr wrap="square" lIns="0" tIns="0" rIns="0" bIns="0" rtlCol="0" anchor="ctr">
            <a:normAutofit/>
          </a:bodyPr>
          <a:lstStyle/>
          <a:p>
            <a:pPr algn="l" indent="0" marL="0">
              <a:buNone/>
            </a:pPr>
            <a:r>
              <a:rPr lang="en-US" sz="1300" dirty="0">
                <a:solidFill>
                  <a:srgbClr val="5E6C67"/>
                </a:solidFill>
                <a:latin typeface="Calibri" pitchFamily="34" charset="0"/>
                <a:ea typeface="Calibri" pitchFamily="34" charset="-122"/>
                <a:cs typeface="Calibri" pitchFamily="34" charset="-120"/>
              </a:rPr>
              <a:t>createdon · statecode</a:t>
            </a:r>
            <a:endParaRPr lang="en-US" sz="1300" dirty="0"/>
          </a:p>
        </p:txBody>
      </p:sp>
      <p:sp>
        <p:nvSpPr>
          <p:cNvPr id="13" name="Shape 11"/>
          <p:cNvSpPr/>
          <p:nvPr/>
        </p:nvSpPr>
        <p:spPr>
          <a:xfrm>
            <a:off x="7772400" y="1719072"/>
            <a:ext cx="3675888" cy="3529584"/>
          </a:xfrm>
          <a:prstGeom prst="roundRect">
            <a:avLst>
              <a:gd name="adj" fmla="val 2591"/>
            </a:avLst>
          </a:prstGeom>
          <a:solidFill>
            <a:srgbClr val="E7F4EF"/>
          </a:solidFill>
          <a:ln w="12700">
            <a:solidFill>
              <a:srgbClr val="55B99A"/>
            </a:solidFill>
            <a:prstDash val="solid"/>
          </a:ln>
        </p:spPr>
      </p:sp>
      <p:sp>
        <p:nvSpPr>
          <p:cNvPr id="14" name="Shape 12"/>
          <p:cNvSpPr/>
          <p:nvPr/>
        </p:nvSpPr>
        <p:spPr>
          <a:xfrm>
            <a:off x="8028432" y="1947672"/>
            <a:ext cx="749808" cy="320040"/>
          </a:xfrm>
          <a:prstGeom prst="roundRect">
            <a:avLst>
              <a:gd name="adj" fmla="val 22857"/>
            </a:avLst>
          </a:prstGeom>
          <a:solidFill>
            <a:srgbClr val="FFFFFF"/>
          </a:solidFill>
          <a:ln w="12700">
            <a:solidFill>
              <a:srgbClr val="FFFFFF"/>
            </a:solidFill>
            <a:prstDash val="solid"/>
          </a:ln>
        </p:spPr>
      </p:sp>
      <p:sp>
        <p:nvSpPr>
          <p:cNvPr id="15" name="Text 13"/>
          <p:cNvSpPr txBox="1"/>
          <p:nvPr/>
        </p:nvSpPr>
        <p:spPr>
          <a:xfrm>
            <a:off x="8028432" y="1947672"/>
            <a:ext cx="749808" cy="320040"/>
          </a:xfrm>
          <a:prstGeom prst="rect">
            <a:avLst/>
          </a:prstGeom>
          <a:noFill/>
          <a:ln/>
        </p:spPr>
        <p:txBody>
          <a:bodyPr wrap="square" lIns="0" tIns="0" rIns="0" bIns="0" rtlCol="0" anchor="ctr">
            <a:normAutofit/>
          </a:bodyPr>
          <a:lstStyle/>
          <a:p>
            <a:pPr algn="ctr" indent="0" marL="0">
              <a:buNone/>
            </a:pPr>
            <a:r>
              <a:rPr lang="en-US" sz="1100" b="1" dirty="0">
                <a:solidFill>
                  <a:srgbClr val="173F35"/>
                </a:solidFill>
                <a:latin typeface="Calibri" pitchFamily="34" charset="0"/>
                <a:ea typeface="Calibri" pitchFamily="34" charset="-122"/>
                <a:cs typeface="Calibri" pitchFamily="34" charset="-120"/>
              </a:rPr>
              <a:t>CHILD</a:t>
            </a:r>
            <a:endParaRPr lang="en-US" sz="1100" dirty="0"/>
          </a:p>
        </p:txBody>
      </p:sp>
      <p:sp>
        <p:nvSpPr>
          <p:cNvPr id="16" name="Text 14"/>
          <p:cNvSpPr txBox="1"/>
          <p:nvPr/>
        </p:nvSpPr>
        <p:spPr>
          <a:xfrm>
            <a:off x="8028432" y="2395728"/>
            <a:ext cx="2788920" cy="438912"/>
          </a:xfrm>
          <a:prstGeom prst="rect">
            <a:avLst/>
          </a:prstGeom>
          <a:noFill/>
          <a:ln/>
        </p:spPr>
        <p:txBody>
          <a:bodyPr wrap="square" lIns="0" tIns="0" rIns="0" bIns="0" rtlCol="0" anchor="ctr">
            <a:normAutofit/>
          </a:bodyPr>
          <a:lstStyle/>
          <a:p>
            <a:pPr algn="l" indent="0" marL="0">
              <a:buNone/>
            </a:pPr>
            <a:r>
              <a:rPr lang="en-US" sz="2500" b="1" dirty="0">
                <a:solidFill>
                  <a:srgbClr val="17211E"/>
                </a:solidFill>
                <a:latin typeface="Cambria" pitchFamily="34" charset="0"/>
                <a:ea typeface="Cambria" pitchFamily="34" charset="-122"/>
                <a:cs typeface="Cambria" pitchFamily="34" charset="-120"/>
              </a:rPr>
              <a:t>SalesOrder</a:t>
            </a:r>
            <a:endParaRPr lang="en-US" sz="2500" dirty="0"/>
          </a:p>
        </p:txBody>
      </p:sp>
      <p:sp>
        <p:nvSpPr>
          <p:cNvPr id="17" name="Text 15"/>
          <p:cNvSpPr txBox="1"/>
          <p:nvPr/>
        </p:nvSpPr>
        <p:spPr>
          <a:xfrm>
            <a:off x="8074152" y="3017520"/>
            <a:ext cx="2788920" cy="292608"/>
          </a:xfrm>
          <a:prstGeom prst="rect">
            <a:avLst/>
          </a:prstGeom>
          <a:noFill/>
          <a:ln/>
        </p:spPr>
        <p:txBody>
          <a:bodyPr wrap="square" lIns="0" tIns="0" rIns="0" bIns="0" rtlCol="0" anchor="ctr">
            <a:normAutofit/>
          </a:bodyPr>
          <a:lstStyle/>
          <a:p>
            <a:pPr algn="l" indent="0" marL="0">
              <a:buNone/>
            </a:pPr>
            <a:r>
              <a:rPr lang="en-US" sz="1300" dirty="0">
                <a:solidFill>
                  <a:srgbClr val="5E6C67"/>
                </a:solidFill>
                <a:latin typeface="Calibri" pitchFamily="34" charset="0"/>
                <a:ea typeface="Calibri" pitchFamily="34" charset="-122"/>
                <a:cs typeface="Calibri" pitchFamily="34" charset="-120"/>
              </a:rPr>
              <a:t>salesorderid  PK</a:t>
            </a:r>
            <a:endParaRPr lang="en-US" sz="1300" dirty="0"/>
          </a:p>
        </p:txBody>
      </p:sp>
      <p:sp>
        <p:nvSpPr>
          <p:cNvPr id="18" name="Text 16"/>
          <p:cNvSpPr txBox="1"/>
          <p:nvPr/>
        </p:nvSpPr>
        <p:spPr>
          <a:xfrm>
            <a:off x="8074152" y="3465576"/>
            <a:ext cx="2788920" cy="292608"/>
          </a:xfrm>
          <a:prstGeom prst="rect">
            <a:avLst/>
          </a:prstGeom>
          <a:noFill/>
          <a:ln/>
        </p:spPr>
        <p:txBody>
          <a:bodyPr wrap="square" lIns="0" tIns="0" rIns="0" bIns="0" rtlCol="0" anchor="ctr">
            <a:normAutofit/>
          </a:bodyPr>
          <a:lstStyle/>
          <a:p>
            <a:pPr algn="l" indent="0" marL="0">
              <a:buNone/>
            </a:pPr>
            <a:r>
              <a:rPr lang="en-US" sz="1300" b="1" dirty="0">
                <a:solidFill>
                  <a:srgbClr val="173F35"/>
                </a:solidFill>
                <a:latin typeface="Calibri" pitchFamily="34" charset="0"/>
                <a:ea typeface="Calibri" pitchFamily="34" charset="-122"/>
                <a:cs typeface="Calibri" pitchFamily="34" charset="-120"/>
              </a:rPr>
              <a:t>customerid  FK</a:t>
            </a:r>
            <a:endParaRPr lang="en-US" sz="1300" dirty="0"/>
          </a:p>
        </p:txBody>
      </p:sp>
      <p:sp>
        <p:nvSpPr>
          <p:cNvPr id="19" name="Text 17"/>
          <p:cNvSpPr txBox="1"/>
          <p:nvPr/>
        </p:nvSpPr>
        <p:spPr>
          <a:xfrm>
            <a:off x="8074152" y="3913632"/>
            <a:ext cx="2788920" cy="292608"/>
          </a:xfrm>
          <a:prstGeom prst="rect">
            <a:avLst/>
          </a:prstGeom>
          <a:noFill/>
          <a:ln/>
        </p:spPr>
        <p:txBody>
          <a:bodyPr wrap="square" lIns="0" tIns="0" rIns="0" bIns="0" rtlCol="0" anchor="ctr">
            <a:normAutofit/>
          </a:bodyPr>
          <a:lstStyle/>
          <a:p>
            <a:pPr algn="l" indent="0" marL="0">
              <a:buNone/>
            </a:pPr>
            <a:r>
              <a:rPr lang="en-US" sz="1300" dirty="0">
                <a:solidFill>
                  <a:srgbClr val="5E6C67"/>
                </a:solidFill>
                <a:latin typeface="Calibri" pitchFamily="34" charset="0"/>
                <a:ea typeface="Calibri" pitchFamily="34" charset="-122"/>
                <a:cs typeface="Calibri" pitchFamily="34" charset="-120"/>
              </a:rPr>
              <a:t>totalamount · decimal</a:t>
            </a:r>
            <a:endParaRPr lang="en-US" sz="1300" dirty="0"/>
          </a:p>
        </p:txBody>
      </p:sp>
      <p:sp>
        <p:nvSpPr>
          <p:cNvPr id="20" name="Text 18"/>
          <p:cNvSpPr txBox="1"/>
          <p:nvPr/>
        </p:nvSpPr>
        <p:spPr>
          <a:xfrm>
            <a:off x="8074152" y="4361688"/>
            <a:ext cx="2788920" cy="292608"/>
          </a:xfrm>
          <a:prstGeom prst="rect">
            <a:avLst/>
          </a:prstGeom>
          <a:noFill/>
          <a:ln/>
        </p:spPr>
        <p:txBody>
          <a:bodyPr wrap="square" lIns="0" tIns="0" rIns="0" bIns="0" rtlCol="0" anchor="ctr">
            <a:normAutofit/>
          </a:bodyPr>
          <a:lstStyle/>
          <a:p>
            <a:pPr algn="l" indent="0" marL="0">
              <a:buNone/>
            </a:pPr>
            <a:r>
              <a:rPr lang="en-US" sz="1300" dirty="0">
                <a:solidFill>
                  <a:srgbClr val="5E6C67"/>
                </a:solidFill>
                <a:latin typeface="Calibri" pitchFamily="34" charset="0"/>
                <a:ea typeface="Calibri" pitchFamily="34" charset="-122"/>
                <a:cs typeface="Calibri" pitchFamily="34" charset="-120"/>
              </a:rPr>
              <a:t>createdon · UTC</a:t>
            </a:r>
            <a:endParaRPr lang="en-US" sz="1300" dirty="0"/>
          </a:p>
        </p:txBody>
      </p:sp>
      <p:sp>
        <p:nvSpPr>
          <p:cNvPr id="21" name="Shape 19"/>
          <p:cNvSpPr/>
          <p:nvPr/>
        </p:nvSpPr>
        <p:spPr>
          <a:xfrm>
            <a:off x="4617720" y="3346704"/>
            <a:ext cx="2971800" cy="0"/>
          </a:xfrm>
          <a:prstGeom prst="line">
            <a:avLst/>
          </a:prstGeom>
          <a:noFill/>
          <a:ln w="38100">
            <a:solidFill>
              <a:srgbClr val="55B99A"/>
            </a:solidFill>
            <a:prstDash val="solid"/>
            <a:headEnd type="none"/>
            <a:tailEnd type="triangle"/>
          </a:ln>
        </p:spPr>
      </p:sp>
      <p:sp>
        <p:nvSpPr>
          <p:cNvPr id="22" name="Text 20"/>
          <p:cNvSpPr txBox="1"/>
          <p:nvPr/>
        </p:nvSpPr>
        <p:spPr>
          <a:xfrm>
            <a:off x="4800600" y="2907792"/>
            <a:ext cx="365760" cy="292608"/>
          </a:xfrm>
          <a:prstGeom prst="rect">
            <a:avLst/>
          </a:prstGeom>
          <a:noFill/>
          <a:ln/>
        </p:spPr>
        <p:txBody>
          <a:bodyPr wrap="square" lIns="0" tIns="0" rIns="0" bIns="0" rtlCol="0" anchor="ctr">
            <a:normAutofit/>
          </a:bodyPr>
          <a:lstStyle/>
          <a:p>
            <a:pPr algn="ctr" indent="0" marL="0">
              <a:buNone/>
            </a:pPr>
            <a:r>
              <a:rPr lang="en-US" sz="1600" b="1" dirty="0">
                <a:solidFill>
                  <a:srgbClr val="173F35"/>
                </a:solidFill>
                <a:latin typeface="Calibri" pitchFamily="34" charset="0"/>
                <a:ea typeface="Calibri" pitchFamily="34" charset="-122"/>
                <a:cs typeface="Calibri" pitchFamily="34" charset="-120"/>
              </a:rPr>
              <a:t>1</a:t>
            </a:r>
            <a:endParaRPr lang="en-US" sz="1600" dirty="0"/>
          </a:p>
        </p:txBody>
      </p:sp>
      <p:sp>
        <p:nvSpPr>
          <p:cNvPr id="23" name="Text 21"/>
          <p:cNvSpPr txBox="1"/>
          <p:nvPr/>
        </p:nvSpPr>
        <p:spPr>
          <a:xfrm>
            <a:off x="6382512" y="2907792"/>
            <a:ext cx="640080" cy="292608"/>
          </a:xfrm>
          <a:prstGeom prst="rect">
            <a:avLst/>
          </a:prstGeom>
          <a:noFill/>
          <a:ln/>
        </p:spPr>
        <p:txBody>
          <a:bodyPr wrap="square" lIns="0" tIns="0" rIns="0" bIns="0" rtlCol="0" anchor="ctr">
            <a:normAutofit/>
          </a:bodyPr>
          <a:lstStyle/>
          <a:p>
            <a:pPr algn="ctr" indent="0" marL="0">
              <a:buNone/>
            </a:pPr>
            <a:r>
              <a:rPr lang="en-US" sz="1600" b="1" dirty="0">
                <a:solidFill>
                  <a:srgbClr val="173F35"/>
                </a:solidFill>
                <a:latin typeface="Calibri" pitchFamily="34" charset="0"/>
                <a:ea typeface="Calibri" pitchFamily="34" charset="-122"/>
                <a:cs typeface="Calibri" pitchFamily="34" charset="-120"/>
              </a:rPr>
              <a:t>0..N</a:t>
            </a:r>
            <a:endParaRPr lang="en-US" sz="1600" dirty="0"/>
          </a:p>
        </p:txBody>
      </p:sp>
      <p:sp>
        <p:nvSpPr>
          <p:cNvPr id="24" name="Shape 22"/>
          <p:cNvSpPr/>
          <p:nvPr/>
        </p:nvSpPr>
        <p:spPr>
          <a:xfrm>
            <a:off x="4663440" y="3511296"/>
            <a:ext cx="2788920" cy="320040"/>
          </a:xfrm>
          <a:prstGeom prst="roundRect">
            <a:avLst>
              <a:gd name="adj" fmla="val 22857"/>
            </a:avLst>
          </a:prstGeom>
          <a:solidFill>
            <a:srgbClr val="E7F4EF"/>
          </a:solidFill>
          <a:ln w="12700">
            <a:solidFill>
              <a:srgbClr val="E7F4EF"/>
            </a:solidFill>
            <a:prstDash val="solid"/>
          </a:ln>
        </p:spPr>
      </p:sp>
      <p:sp>
        <p:nvSpPr>
          <p:cNvPr id="25" name="Text 23"/>
          <p:cNvSpPr txBox="1"/>
          <p:nvPr/>
        </p:nvSpPr>
        <p:spPr>
          <a:xfrm>
            <a:off x="4663440" y="3511296"/>
            <a:ext cx="2788920" cy="320040"/>
          </a:xfrm>
          <a:prstGeom prst="rect">
            <a:avLst/>
          </a:prstGeom>
          <a:noFill/>
          <a:ln/>
        </p:spPr>
        <p:txBody>
          <a:bodyPr wrap="square" lIns="0" tIns="0" rIns="0" bIns="0" rtlCol="0" anchor="ctr">
            <a:normAutofit/>
          </a:bodyPr>
          <a:lstStyle/>
          <a:p>
            <a:pPr algn="ctr" indent="0" marL="0">
              <a:buNone/>
            </a:pPr>
            <a:r>
              <a:rPr lang="en-US" sz="1100" b="1" dirty="0">
                <a:solidFill>
                  <a:srgbClr val="173F35"/>
                </a:solidFill>
                <a:latin typeface="Calibri" pitchFamily="34" charset="0"/>
                <a:ea typeface="Calibri" pitchFamily="34" charset="-122"/>
                <a:cs typeface="Calibri" pitchFamily="34" charset="-120"/>
              </a:rPr>
              <a:t>contactid &lt;- customerid</a:t>
            </a:r>
            <a:endParaRPr lang="en-US" sz="1100" dirty="0"/>
          </a:p>
        </p:txBody>
      </p:sp>
      <p:sp>
        <p:nvSpPr>
          <p:cNvPr id="26" name="Shape 24"/>
          <p:cNvSpPr/>
          <p:nvPr/>
        </p:nvSpPr>
        <p:spPr>
          <a:xfrm>
            <a:off x="4498848" y="4590288"/>
            <a:ext cx="3108960" cy="1170432"/>
          </a:xfrm>
          <a:prstGeom prst="roundRect">
            <a:avLst>
              <a:gd name="adj" fmla="val 7813"/>
            </a:avLst>
          </a:prstGeom>
          <a:solidFill>
            <a:srgbClr val="FBECEC"/>
          </a:solidFill>
          <a:ln w="12700">
            <a:solidFill>
              <a:srgbClr val="E9BABA"/>
            </a:solidFill>
            <a:prstDash val="solid"/>
          </a:ln>
        </p:spPr>
      </p:sp>
      <p:sp>
        <p:nvSpPr>
          <p:cNvPr id="27" name="Text 25"/>
          <p:cNvSpPr txBox="1"/>
          <p:nvPr/>
        </p:nvSpPr>
        <p:spPr>
          <a:xfrm>
            <a:off x="4736592" y="4754880"/>
            <a:ext cx="2606040" cy="274320"/>
          </a:xfrm>
          <a:prstGeom prst="rect">
            <a:avLst/>
          </a:prstGeom>
          <a:noFill/>
          <a:ln/>
        </p:spPr>
        <p:txBody>
          <a:bodyPr wrap="square" lIns="0" tIns="0" rIns="0" bIns="0" rtlCol="0" anchor="ctr">
            <a:normAutofit/>
          </a:bodyPr>
          <a:lstStyle/>
          <a:p>
            <a:pPr algn="l" indent="0" marL="0">
              <a:buNone/>
            </a:pPr>
            <a:r>
              <a:rPr lang="en-US" sz="1500" b="1" dirty="0">
                <a:solidFill>
                  <a:srgbClr val="C95858"/>
                </a:solidFill>
                <a:latin typeface="Calibri" pitchFamily="34" charset="0"/>
                <a:ea typeface="Calibri" pitchFamily="34" charset="-122"/>
                <a:cs typeface="Calibri" pitchFamily="34" charset="-120"/>
              </a:rPr>
              <a:t>ORD-1005 · CST-999</a:t>
            </a:r>
            <a:endParaRPr lang="en-US" sz="1500" dirty="0"/>
          </a:p>
        </p:txBody>
      </p:sp>
      <p:sp>
        <p:nvSpPr>
          <p:cNvPr id="28" name="Text 26"/>
          <p:cNvSpPr txBox="1"/>
          <p:nvPr/>
        </p:nvSpPr>
        <p:spPr>
          <a:xfrm>
            <a:off x="4736592" y="5138928"/>
            <a:ext cx="2587752" cy="347472"/>
          </a:xfrm>
          <a:prstGeom prst="rect">
            <a:avLst/>
          </a:prstGeom>
          <a:noFill/>
          <a:ln/>
        </p:spPr>
        <p:txBody>
          <a:bodyPr wrap="square" lIns="0" tIns="0" rIns="0" bIns="0" rtlCol="0" anchor="ctr">
            <a:normAutofit/>
          </a:bodyPr>
          <a:lstStyle/>
          <a:p>
            <a:pPr algn="l" indent="0" marL="0">
              <a:buNone/>
            </a:pPr>
            <a:r>
              <a:rPr lang="en-US" sz="1200" b="1" dirty="0">
                <a:solidFill>
                  <a:srgbClr val="884141"/>
                </a:solidFill>
                <a:latin typeface="Calibri" pitchFamily="34" charset="0"/>
                <a:ea typeface="Calibri" pitchFamily="34" charset="-122"/>
                <a:cs typeface="Calibri" pitchFamily="34" charset="-120"/>
              </a:rPr>
              <a:t>No matching Contact → quarantine + log</a:t>
            </a:r>
            <a:endParaRPr lang="en-US" sz="1200" dirty="0"/>
          </a:p>
        </p:txBody>
      </p:sp>
      <p:sp>
        <p:nvSpPr>
          <p:cNvPr id="29" name="Text 27"/>
          <p:cNvSpPr txBox="1"/>
          <p:nvPr/>
        </p:nvSpPr>
        <p:spPr>
          <a:xfrm>
            <a:off x="3566160" y="5998464"/>
            <a:ext cx="5120640" cy="310896"/>
          </a:xfrm>
          <a:prstGeom prst="rect">
            <a:avLst/>
          </a:prstGeom>
          <a:noFill/>
          <a:ln/>
        </p:spPr>
        <p:txBody>
          <a:bodyPr wrap="square" lIns="0" tIns="0" rIns="0" bIns="0" rtlCol="0" anchor="ctr">
            <a:normAutofit/>
          </a:bodyPr>
          <a:lstStyle/>
          <a:p>
            <a:pPr algn="ctr" indent="0" marL="0">
              <a:buNone/>
            </a:pPr>
            <a:r>
              <a:rPr lang="en-US" sz="1300" b="1" dirty="0">
                <a:solidFill>
                  <a:srgbClr val="5E6C67"/>
                </a:solidFill>
                <a:latin typeface="Calibri" pitchFamily="34" charset="0"/>
                <a:ea typeface="Calibri" pitchFamily="34" charset="-122"/>
                <a:cs typeface="Calibri" pitchFamily="34" charset="-120"/>
              </a:rPr>
              <a:t>Exactly one parent is required for every retained order.</a:t>
            </a:r>
            <a:endParaRPr lang="en-US" sz="1300" dirty="0"/>
          </a:p>
        </p:txBody>
      </p:sp>
      <p:sp>
        <p:nvSpPr>
          <p:cNvPr id="25" name="Slide Number Placeholder 0"/>
          <p:cNvSpPr>
            <a:spLocks noGrp="1"/>
          </p:cNvSpPr>
          <p:nvPr>
            <p:ph type="sldNum" sz="quarter" idx="4294967295"/>
          </p:nvPr>
        </p:nvSpPr>
        <p:spPr>
          <a:xfrm>
            <a:off x="1168603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B76"/>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2F29"/>
        </a:solidFill>
      </p:bgPr>
    </p:bg>
    <p:spTree>
      <p:nvGrpSpPr>
        <p:cNvPr id="1" name=""/>
        <p:cNvGrpSpPr/>
        <p:nvPr/>
      </p:nvGrpSpPr>
      <p:grpSpPr>
        <a:xfrm>
          <a:off x="0" y="0"/>
          <a:ext cx="0" cy="0"/>
          <a:chOff x="0" y="0"/>
          <a:chExt cx="0" cy="0"/>
        </a:xfrm>
      </p:grpSpPr>
      <p:sp>
        <p:nvSpPr>
          <p:cNvPr id="2" name="Shape 0"/>
          <p:cNvSpPr/>
          <p:nvPr/>
        </p:nvSpPr>
        <p:spPr>
          <a:xfrm>
            <a:off x="594360" y="502920"/>
            <a:ext cx="1115568" cy="320040"/>
          </a:xfrm>
          <a:prstGeom prst="roundRect">
            <a:avLst>
              <a:gd name="adj" fmla="val 22857"/>
            </a:avLst>
          </a:prstGeom>
          <a:solidFill>
            <a:srgbClr val="55B99A"/>
          </a:solidFill>
          <a:ln w="12700">
            <a:solidFill>
              <a:srgbClr val="55B99A"/>
            </a:solidFill>
            <a:prstDash val="solid"/>
          </a:ln>
        </p:spPr>
      </p:sp>
      <p:sp>
        <p:nvSpPr>
          <p:cNvPr id="3" name="Text 1"/>
          <p:cNvSpPr txBox="1"/>
          <p:nvPr/>
        </p:nvSpPr>
        <p:spPr>
          <a:xfrm>
            <a:off x="594360" y="502920"/>
            <a:ext cx="1115568" cy="320040"/>
          </a:xfrm>
          <a:prstGeom prst="rect">
            <a:avLst/>
          </a:prstGeom>
          <a:noFill/>
          <a:ln/>
        </p:spPr>
        <p:txBody>
          <a:bodyPr wrap="square" lIns="0" tIns="0" rIns="0" bIns="0" rtlCol="0" anchor="ctr">
            <a:normAutofit/>
          </a:bodyPr>
          <a:lstStyle/>
          <a:p>
            <a:pPr algn="ctr" indent="0" marL="0">
              <a:buNone/>
            </a:pPr>
            <a:r>
              <a:rPr lang="en-US" sz="1100" b="1" dirty="0">
                <a:solidFill>
                  <a:srgbClr val="102F29"/>
                </a:solidFill>
                <a:latin typeface="Calibri" pitchFamily="34" charset="0"/>
                <a:ea typeface="Calibri" pitchFamily="34" charset="-122"/>
                <a:cs typeface="Calibri" pitchFamily="34" charset="-120"/>
              </a:rPr>
              <a:t>DELIVERED</a:t>
            </a:r>
            <a:endParaRPr lang="en-US" sz="1100" dirty="0"/>
          </a:p>
        </p:txBody>
      </p:sp>
      <p:sp>
        <p:nvSpPr>
          <p:cNvPr id="4" name="Text 2"/>
          <p:cNvSpPr txBox="1"/>
          <p:nvPr/>
        </p:nvSpPr>
        <p:spPr>
          <a:xfrm>
            <a:off x="594360" y="1060704"/>
            <a:ext cx="6583680" cy="594360"/>
          </a:xfrm>
          <a:prstGeom prst="rect">
            <a:avLst/>
          </a:prstGeom>
          <a:noFill/>
          <a:ln/>
        </p:spPr>
        <p:txBody>
          <a:bodyPr wrap="square" lIns="0" tIns="0" rIns="0" bIns="0" rtlCol="0" anchor="ctr">
            <a:normAutofit/>
          </a:bodyPr>
          <a:lstStyle/>
          <a:p>
            <a:pPr algn="l" indent="0" marL="0">
              <a:buNone/>
            </a:pPr>
            <a:r>
              <a:rPr lang="en-US" sz="3100" b="1" dirty="0">
                <a:solidFill>
                  <a:srgbClr val="FFFFFF"/>
                </a:solidFill>
                <a:latin typeface="Cambria" pitchFamily="34" charset="0"/>
                <a:ea typeface="Cambria" pitchFamily="34" charset="-122"/>
                <a:cs typeface="Cambria" pitchFamily="34" charset="-120"/>
              </a:rPr>
              <a:t>The output is self-describing</a:t>
            </a:r>
            <a:endParaRPr lang="en-US" sz="3100" dirty="0"/>
          </a:p>
        </p:txBody>
      </p:sp>
      <p:sp>
        <p:nvSpPr>
          <p:cNvPr id="5" name="Text 3"/>
          <p:cNvSpPr txBox="1"/>
          <p:nvPr/>
        </p:nvSpPr>
        <p:spPr>
          <a:xfrm>
            <a:off x="621792" y="1755648"/>
            <a:ext cx="6400800" cy="384048"/>
          </a:xfrm>
          <a:prstGeom prst="rect">
            <a:avLst/>
          </a:prstGeom>
          <a:noFill/>
          <a:ln/>
        </p:spPr>
        <p:txBody>
          <a:bodyPr wrap="square" lIns="0" tIns="0" rIns="0" bIns="0" rtlCol="0" anchor="ctr">
            <a:normAutofit/>
          </a:bodyPr>
          <a:lstStyle/>
          <a:p>
            <a:pPr algn="l" indent="0" marL="0">
              <a:buNone/>
            </a:pPr>
            <a:r>
              <a:rPr lang="en-US" sz="1600" dirty="0">
                <a:solidFill>
                  <a:srgbClr val="DCEBE6"/>
                </a:solidFill>
                <a:latin typeface="Calibri" pitchFamily="34" charset="0"/>
                <a:ea typeface="Calibri" pitchFamily="34" charset="-122"/>
                <a:cs typeface="Calibri" pitchFamily="34" charset="-120"/>
              </a:rPr>
              <a:t>model.json links the entity definitions, partitions and relationship.</a:t>
            </a:r>
            <a:endParaRPr lang="en-US" sz="1600" dirty="0"/>
          </a:p>
        </p:txBody>
      </p:sp>
      <p:sp>
        <p:nvSpPr>
          <p:cNvPr id="6" name="Shape 4"/>
          <p:cNvSpPr/>
          <p:nvPr/>
        </p:nvSpPr>
        <p:spPr>
          <a:xfrm>
            <a:off x="621792" y="2523744"/>
            <a:ext cx="5650992" cy="3090672"/>
          </a:xfrm>
          <a:prstGeom prst="roundRect">
            <a:avLst>
              <a:gd name="adj" fmla="val 2959"/>
            </a:avLst>
          </a:prstGeom>
          <a:solidFill>
            <a:srgbClr val="214D42"/>
          </a:solidFill>
          <a:ln w="12700">
            <a:solidFill>
              <a:srgbClr val="377365"/>
            </a:solidFill>
            <a:prstDash val="solid"/>
          </a:ln>
        </p:spPr>
      </p:sp>
      <p:sp>
        <p:nvSpPr>
          <p:cNvPr id="7" name="Text 5"/>
          <p:cNvSpPr txBox="1"/>
          <p:nvPr/>
        </p:nvSpPr>
        <p:spPr>
          <a:xfrm>
            <a:off x="932688" y="2761488"/>
            <a:ext cx="2103120" cy="347472"/>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Calibri" pitchFamily="34" charset="0"/>
                <a:ea typeface="Calibri" pitchFamily="34" charset="-122"/>
                <a:cs typeface="Calibri" pitchFamily="34" charset="-120"/>
              </a:rPr>
              <a:t>cdm_lakehouse/</a:t>
            </a:r>
            <a:endParaRPr lang="en-US" sz="1800" dirty="0"/>
          </a:p>
        </p:txBody>
      </p:sp>
      <p:sp>
        <p:nvSpPr>
          <p:cNvPr id="8" name="Text 6"/>
          <p:cNvSpPr txBox="1"/>
          <p:nvPr/>
        </p:nvSpPr>
        <p:spPr>
          <a:xfrm>
            <a:off x="1005840" y="3328416"/>
            <a:ext cx="310896" cy="274320"/>
          </a:xfrm>
          <a:prstGeom prst="rect">
            <a:avLst/>
          </a:prstGeom>
          <a:noFill/>
          <a:ln/>
        </p:spPr>
        <p:txBody>
          <a:bodyPr wrap="square" lIns="0" tIns="0" rIns="0" bIns="0" rtlCol="0" anchor="ctr">
            <a:normAutofit/>
          </a:bodyPr>
          <a:lstStyle/>
          <a:p>
            <a:pPr algn="l" indent="0" marL="0">
              <a:buNone/>
            </a:pPr>
            <a:r>
              <a:rPr lang="en-US" sz="1500" b="1" dirty="0">
                <a:solidFill>
                  <a:srgbClr val="F2C14E"/>
                </a:solidFill>
                <a:latin typeface="Calibri" pitchFamily="34" charset="0"/>
                <a:ea typeface="Calibri" pitchFamily="34" charset="-122"/>
                <a:cs typeface="Calibri" pitchFamily="34" charset="-120"/>
              </a:rPr>
              <a:t>↳</a:t>
            </a:r>
            <a:endParaRPr lang="en-US" sz="1500" dirty="0"/>
          </a:p>
        </p:txBody>
      </p:sp>
      <p:sp>
        <p:nvSpPr>
          <p:cNvPr id="9" name="Text 7"/>
          <p:cNvSpPr txBox="1"/>
          <p:nvPr/>
        </p:nvSpPr>
        <p:spPr>
          <a:xfrm>
            <a:off x="1399032" y="3328416"/>
            <a:ext cx="2240280" cy="274320"/>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Calibri" pitchFamily="34" charset="0"/>
                <a:ea typeface="Calibri" pitchFamily="34" charset="-122"/>
                <a:cs typeface="Calibri" pitchFamily="34" charset="-120"/>
              </a:rPr>
              <a:t>model.json</a:t>
            </a:r>
            <a:endParaRPr lang="en-US" sz="1400" dirty="0"/>
          </a:p>
        </p:txBody>
      </p:sp>
      <p:sp>
        <p:nvSpPr>
          <p:cNvPr id="10" name="Text 8"/>
          <p:cNvSpPr txBox="1"/>
          <p:nvPr/>
        </p:nvSpPr>
        <p:spPr>
          <a:xfrm>
            <a:off x="3703320" y="3328416"/>
            <a:ext cx="2148840" cy="274320"/>
          </a:xfrm>
          <a:prstGeom prst="rect">
            <a:avLst/>
          </a:prstGeom>
          <a:noFill/>
          <a:ln/>
        </p:spPr>
        <p:txBody>
          <a:bodyPr wrap="square" lIns="0" tIns="0" rIns="0" bIns="0" rtlCol="0" anchor="ctr">
            <a:normAutofit/>
          </a:bodyPr>
          <a:lstStyle/>
          <a:p>
            <a:pPr algn="l" indent="0" marL="0">
              <a:buNone/>
            </a:pPr>
            <a:r>
              <a:rPr lang="en-US" sz="1200" dirty="0">
                <a:solidFill>
                  <a:srgbClr val="BDD8CF"/>
                </a:solidFill>
                <a:latin typeface="Calibri" pitchFamily="34" charset="0"/>
                <a:ea typeface="Calibri" pitchFamily="34" charset="-122"/>
                <a:cs typeface="Calibri" pitchFamily="34" charset="-120"/>
              </a:rPr>
              <a:t>entities · attributes · 1:N relationship</a:t>
            </a:r>
            <a:endParaRPr lang="en-US" sz="1200" dirty="0"/>
          </a:p>
        </p:txBody>
      </p:sp>
      <p:sp>
        <p:nvSpPr>
          <p:cNvPr id="11" name="Text 9"/>
          <p:cNvSpPr txBox="1"/>
          <p:nvPr/>
        </p:nvSpPr>
        <p:spPr>
          <a:xfrm>
            <a:off x="1005840" y="3968496"/>
            <a:ext cx="310896" cy="274320"/>
          </a:xfrm>
          <a:prstGeom prst="rect">
            <a:avLst/>
          </a:prstGeom>
          <a:noFill/>
          <a:ln/>
        </p:spPr>
        <p:txBody>
          <a:bodyPr wrap="square" lIns="0" tIns="0" rIns="0" bIns="0" rtlCol="0" anchor="ctr">
            <a:normAutofit/>
          </a:bodyPr>
          <a:lstStyle/>
          <a:p>
            <a:pPr algn="l" indent="0" marL="0">
              <a:buNone/>
            </a:pPr>
            <a:r>
              <a:rPr lang="en-US" sz="1500" b="1" dirty="0">
                <a:solidFill>
                  <a:srgbClr val="F2C14E"/>
                </a:solidFill>
                <a:latin typeface="Calibri" pitchFamily="34" charset="0"/>
                <a:ea typeface="Calibri" pitchFamily="34" charset="-122"/>
                <a:cs typeface="Calibri" pitchFamily="34" charset="-120"/>
              </a:rPr>
              <a:t>↳</a:t>
            </a:r>
            <a:endParaRPr lang="en-US" sz="1500" dirty="0"/>
          </a:p>
        </p:txBody>
      </p:sp>
      <p:sp>
        <p:nvSpPr>
          <p:cNvPr id="12" name="Text 10"/>
          <p:cNvSpPr txBox="1"/>
          <p:nvPr/>
        </p:nvSpPr>
        <p:spPr>
          <a:xfrm>
            <a:off x="1399032" y="3968496"/>
            <a:ext cx="2240280" cy="274320"/>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Calibri" pitchFamily="34" charset="0"/>
                <a:ea typeface="Calibri" pitchFamily="34" charset="-122"/>
                <a:cs typeface="Calibri" pitchFamily="34" charset="-120"/>
              </a:rPr>
              <a:t>Contact/Contact.csv</a:t>
            </a:r>
            <a:endParaRPr lang="en-US" sz="1400" dirty="0"/>
          </a:p>
        </p:txBody>
      </p:sp>
      <p:sp>
        <p:nvSpPr>
          <p:cNvPr id="13" name="Text 11"/>
          <p:cNvSpPr txBox="1"/>
          <p:nvPr/>
        </p:nvSpPr>
        <p:spPr>
          <a:xfrm>
            <a:off x="3703320" y="3968496"/>
            <a:ext cx="2148840" cy="274320"/>
          </a:xfrm>
          <a:prstGeom prst="rect">
            <a:avLst/>
          </a:prstGeom>
          <a:noFill/>
          <a:ln/>
        </p:spPr>
        <p:txBody>
          <a:bodyPr wrap="square" lIns="0" tIns="0" rIns="0" bIns="0" rtlCol="0" anchor="ctr">
            <a:normAutofit/>
          </a:bodyPr>
          <a:lstStyle/>
          <a:p>
            <a:pPr algn="l" indent="0" marL="0">
              <a:buNone/>
            </a:pPr>
            <a:r>
              <a:rPr lang="en-US" sz="1200" dirty="0">
                <a:solidFill>
                  <a:srgbClr val="BDD8CF"/>
                </a:solidFill>
                <a:latin typeface="Calibri" pitchFamily="34" charset="0"/>
                <a:ea typeface="Calibri" pitchFamily="34" charset="-122"/>
                <a:cs typeface="Calibri" pitchFamily="34" charset="-120"/>
              </a:rPr>
              <a:t>5 clean contacts</a:t>
            </a:r>
            <a:endParaRPr lang="en-US" sz="1200" dirty="0"/>
          </a:p>
        </p:txBody>
      </p:sp>
      <p:sp>
        <p:nvSpPr>
          <p:cNvPr id="14" name="Text 12"/>
          <p:cNvSpPr txBox="1"/>
          <p:nvPr/>
        </p:nvSpPr>
        <p:spPr>
          <a:xfrm>
            <a:off x="1005840" y="4608576"/>
            <a:ext cx="310896" cy="274320"/>
          </a:xfrm>
          <a:prstGeom prst="rect">
            <a:avLst/>
          </a:prstGeom>
          <a:noFill/>
          <a:ln/>
        </p:spPr>
        <p:txBody>
          <a:bodyPr wrap="square" lIns="0" tIns="0" rIns="0" bIns="0" rtlCol="0" anchor="ctr">
            <a:normAutofit/>
          </a:bodyPr>
          <a:lstStyle/>
          <a:p>
            <a:pPr algn="l" indent="0" marL="0">
              <a:buNone/>
            </a:pPr>
            <a:r>
              <a:rPr lang="en-US" sz="1500" b="1" dirty="0">
                <a:solidFill>
                  <a:srgbClr val="F2C14E"/>
                </a:solidFill>
                <a:latin typeface="Calibri" pitchFamily="34" charset="0"/>
                <a:ea typeface="Calibri" pitchFamily="34" charset="-122"/>
                <a:cs typeface="Calibri" pitchFamily="34" charset="-120"/>
              </a:rPr>
              <a:t>↳</a:t>
            </a:r>
            <a:endParaRPr lang="en-US" sz="1500" dirty="0"/>
          </a:p>
        </p:txBody>
      </p:sp>
      <p:sp>
        <p:nvSpPr>
          <p:cNvPr id="15" name="Text 13"/>
          <p:cNvSpPr txBox="1"/>
          <p:nvPr/>
        </p:nvSpPr>
        <p:spPr>
          <a:xfrm>
            <a:off x="1399032" y="4608576"/>
            <a:ext cx="2240280" cy="274320"/>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Calibri" pitchFamily="34" charset="0"/>
                <a:ea typeface="Calibri" pitchFamily="34" charset="-122"/>
                <a:cs typeface="Calibri" pitchFamily="34" charset="-120"/>
              </a:rPr>
              <a:t>SalesOrder/SalesOrder.csv</a:t>
            </a:r>
            <a:endParaRPr lang="en-US" sz="1400" dirty="0"/>
          </a:p>
        </p:txBody>
      </p:sp>
      <p:sp>
        <p:nvSpPr>
          <p:cNvPr id="16" name="Text 14"/>
          <p:cNvSpPr txBox="1"/>
          <p:nvPr/>
        </p:nvSpPr>
        <p:spPr>
          <a:xfrm>
            <a:off x="3703320" y="4608576"/>
            <a:ext cx="2148840" cy="274320"/>
          </a:xfrm>
          <a:prstGeom prst="rect">
            <a:avLst/>
          </a:prstGeom>
          <a:noFill/>
          <a:ln/>
        </p:spPr>
        <p:txBody>
          <a:bodyPr wrap="square" lIns="0" tIns="0" rIns="0" bIns="0" rtlCol="0" anchor="ctr">
            <a:normAutofit/>
          </a:bodyPr>
          <a:lstStyle/>
          <a:p>
            <a:pPr algn="l" indent="0" marL="0">
              <a:buNone/>
            </a:pPr>
            <a:r>
              <a:rPr lang="en-US" sz="1200" dirty="0">
                <a:solidFill>
                  <a:srgbClr val="BDD8CF"/>
                </a:solidFill>
                <a:latin typeface="Calibri" pitchFamily="34" charset="0"/>
                <a:ea typeface="Calibri" pitchFamily="34" charset="-122"/>
                <a:cs typeface="Calibri" pitchFamily="34" charset="-120"/>
              </a:rPr>
              <a:t>4 valid orders</a:t>
            </a:r>
            <a:endParaRPr lang="en-US" sz="1200" dirty="0"/>
          </a:p>
        </p:txBody>
      </p:sp>
      <p:sp>
        <p:nvSpPr>
          <p:cNvPr id="17" name="Text 15"/>
          <p:cNvSpPr txBox="1"/>
          <p:nvPr/>
        </p:nvSpPr>
        <p:spPr>
          <a:xfrm>
            <a:off x="6931152" y="2542032"/>
            <a:ext cx="2011680" cy="329184"/>
          </a:xfrm>
          <a:prstGeom prst="rect">
            <a:avLst/>
          </a:prstGeom>
          <a:noFill/>
          <a:ln/>
        </p:spPr>
        <p:txBody>
          <a:bodyPr wrap="square" lIns="0" tIns="0" rIns="0" bIns="0" rtlCol="0" anchor="ctr">
            <a:normAutofit/>
          </a:bodyPr>
          <a:lstStyle/>
          <a:p>
            <a:pPr algn="l" indent="0" marL="0">
              <a:buNone/>
            </a:pPr>
            <a:r>
              <a:rPr lang="en-US" sz="1700" b="1" dirty="0">
                <a:solidFill>
                  <a:srgbClr val="DCEBE6"/>
                </a:solidFill>
                <a:latin typeface="Calibri" pitchFamily="34" charset="0"/>
                <a:ea typeface="Calibri" pitchFamily="34" charset="-122"/>
                <a:cs typeface="Calibri" pitchFamily="34" charset="-120"/>
              </a:rPr>
              <a:t>Evidence</a:t>
            </a:r>
            <a:endParaRPr lang="en-US" sz="1700" dirty="0"/>
          </a:p>
        </p:txBody>
      </p:sp>
      <p:sp>
        <p:nvSpPr>
          <p:cNvPr id="18" name="Shape 16"/>
          <p:cNvSpPr/>
          <p:nvPr/>
        </p:nvSpPr>
        <p:spPr>
          <a:xfrm>
            <a:off x="6931152" y="3063240"/>
            <a:ext cx="2057400" cy="841248"/>
          </a:xfrm>
          <a:prstGeom prst="roundRect">
            <a:avLst>
              <a:gd name="adj" fmla="val 10870"/>
            </a:avLst>
          </a:prstGeom>
          <a:solidFill>
            <a:srgbClr val="FFFFFF"/>
          </a:solidFill>
          <a:ln w="12700">
            <a:solidFill>
              <a:srgbClr val="FFFFFF"/>
            </a:solidFill>
            <a:prstDash val="solid"/>
          </a:ln>
        </p:spPr>
      </p:sp>
      <p:sp>
        <p:nvSpPr>
          <p:cNvPr id="19" name="Text 17"/>
          <p:cNvSpPr txBox="1"/>
          <p:nvPr/>
        </p:nvSpPr>
        <p:spPr>
          <a:xfrm>
            <a:off x="7068312" y="3191256"/>
            <a:ext cx="713232" cy="457200"/>
          </a:xfrm>
          <a:prstGeom prst="rect">
            <a:avLst/>
          </a:prstGeom>
          <a:noFill/>
          <a:ln/>
        </p:spPr>
        <p:txBody>
          <a:bodyPr wrap="square" lIns="0" tIns="0" rIns="0" bIns="0" rtlCol="0" anchor="ctr">
            <a:normAutofit/>
          </a:bodyPr>
          <a:lstStyle/>
          <a:p>
            <a:pPr algn="l" indent="0" marL="0">
              <a:buNone/>
            </a:pPr>
            <a:r>
              <a:rPr lang="en-US" sz="2300" b="1" dirty="0">
                <a:solidFill>
                  <a:srgbClr val="173F35"/>
                </a:solidFill>
                <a:latin typeface="Calibri" pitchFamily="34" charset="0"/>
                <a:ea typeface="Calibri" pitchFamily="34" charset="-122"/>
                <a:cs typeface="Calibri" pitchFamily="34" charset="-120"/>
              </a:rPr>
              <a:t>46</a:t>
            </a:r>
            <a:endParaRPr lang="en-US" sz="2300" dirty="0"/>
          </a:p>
        </p:txBody>
      </p:sp>
      <p:sp>
        <p:nvSpPr>
          <p:cNvPr id="20" name="Text 18"/>
          <p:cNvSpPr txBox="1"/>
          <p:nvPr/>
        </p:nvSpPr>
        <p:spPr>
          <a:xfrm>
            <a:off x="7772400" y="3236976"/>
            <a:ext cx="1051560" cy="384048"/>
          </a:xfrm>
          <a:prstGeom prst="rect">
            <a:avLst/>
          </a:prstGeom>
          <a:noFill/>
          <a:ln/>
        </p:spPr>
        <p:txBody>
          <a:bodyPr wrap="square" lIns="0" tIns="0" rIns="0" bIns="0" rtlCol="0" anchor="ctr">
            <a:normAutofit/>
          </a:bodyPr>
          <a:lstStyle/>
          <a:p>
            <a:pPr algn="l" indent="0" marL="0">
              <a:buNone/>
            </a:pPr>
            <a:r>
              <a:rPr lang="en-US" sz="1200" b="1" dirty="0">
                <a:solidFill>
                  <a:srgbClr val="5E6C67"/>
                </a:solidFill>
                <a:latin typeface="Calibri" pitchFamily="34" charset="0"/>
                <a:ea typeface="Calibri" pitchFamily="34" charset="-122"/>
                <a:cs typeface="Calibri" pitchFamily="34" charset="-120"/>
              </a:rPr>
              <a:t>tests passed</a:t>
            </a:r>
            <a:endParaRPr lang="en-US" sz="1200" dirty="0"/>
          </a:p>
        </p:txBody>
      </p:sp>
      <p:sp>
        <p:nvSpPr>
          <p:cNvPr id="21" name="Shape 19"/>
          <p:cNvSpPr/>
          <p:nvPr/>
        </p:nvSpPr>
        <p:spPr>
          <a:xfrm>
            <a:off x="9262872" y="3063240"/>
            <a:ext cx="2057400" cy="841248"/>
          </a:xfrm>
          <a:prstGeom prst="roundRect">
            <a:avLst>
              <a:gd name="adj" fmla="val 10870"/>
            </a:avLst>
          </a:prstGeom>
          <a:solidFill>
            <a:srgbClr val="FFF5D9"/>
          </a:solidFill>
          <a:ln w="12700">
            <a:solidFill>
              <a:srgbClr val="FFF5D9"/>
            </a:solidFill>
            <a:prstDash val="solid"/>
          </a:ln>
        </p:spPr>
      </p:sp>
      <p:sp>
        <p:nvSpPr>
          <p:cNvPr id="22" name="Text 20"/>
          <p:cNvSpPr txBox="1"/>
          <p:nvPr/>
        </p:nvSpPr>
        <p:spPr>
          <a:xfrm>
            <a:off x="9400032" y="3191256"/>
            <a:ext cx="713232" cy="457200"/>
          </a:xfrm>
          <a:prstGeom prst="rect">
            <a:avLst/>
          </a:prstGeom>
          <a:noFill/>
          <a:ln/>
        </p:spPr>
        <p:txBody>
          <a:bodyPr wrap="square" lIns="0" tIns="0" rIns="0" bIns="0" rtlCol="0" anchor="ctr">
            <a:normAutofit/>
          </a:bodyPr>
          <a:lstStyle/>
          <a:p>
            <a:pPr algn="l" indent="0" marL="0">
              <a:buNone/>
            </a:pPr>
            <a:r>
              <a:rPr lang="en-US" sz="2300" b="1" dirty="0">
                <a:solidFill>
                  <a:srgbClr val="102F29"/>
                </a:solidFill>
                <a:latin typeface="Calibri" pitchFamily="34" charset="0"/>
                <a:ea typeface="Calibri" pitchFamily="34" charset="-122"/>
                <a:cs typeface="Calibri" pitchFamily="34" charset="-120"/>
              </a:rPr>
              <a:t>97%</a:t>
            </a:r>
            <a:endParaRPr lang="en-US" sz="2300" dirty="0"/>
          </a:p>
        </p:txBody>
      </p:sp>
      <p:sp>
        <p:nvSpPr>
          <p:cNvPr id="23" name="Text 21"/>
          <p:cNvSpPr txBox="1"/>
          <p:nvPr/>
        </p:nvSpPr>
        <p:spPr>
          <a:xfrm>
            <a:off x="10104120" y="3236976"/>
            <a:ext cx="1051560" cy="384048"/>
          </a:xfrm>
          <a:prstGeom prst="rect">
            <a:avLst/>
          </a:prstGeom>
          <a:noFill/>
          <a:ln/>
        </p:spPr>
        <p:txBody>
          <a:bodyPr wrap="square" lIns="0" tIns="0" rIns="0" bIns="0" rtlCol="0" anchor="ctr">
            <a:normAutofit/>
          </a:bodyPr>
          <a:lstStyle/>
          <a:p>
            <a:pPr algn="l" indent="0" marL="0">
              <a:buNone/>
            </a:pPr>
            <a:r>
              <a:rPr lang="en-US" sz="1200" b="1" dirty="0">
                <a:solidFill>
                  <a:srgbClr val="102F29"/>
                </a:solidFill>
                <a:latin typeface="Calibri" pitchFamily="34" charset="0"/>
                <a:ea typeface="Calibri" pitchFamily="34" charset="-122"/>
                <a:cs typeface="Calibri" pitchFamily="34" charset="-120"/>
              </a:rPr>
              <a:t>coverage</a:t>
            </a:r>
            <a:endParaRPr lang="en-US" sz="1200" dirty="0"/>
          </a:p>
        </p:txBody>
      </p:sp>
      <p:sp>
        <p:nvSpPr>
          <p:cNvPr id="24" name="Shape 22"/>
          <p:cNvSpPr/>
          <p:nvPr/>
        </p:nvSpPr>
        <p:spPr>
          <a:xfrm>
            <a:off x="6931152" y="4142232"/>
            <a:ext cx="2057400" cy="841248"/>
          </a:xfrm>
          <a:prstGeom prst="roundRect">
            <a:avLst>
              <a:gd name="adj" fmla="val 10870"/>
            </a:avLst>
          </a:prstGeom>
          <a:solidFill>
            <a:srgbClr val="FFFFFF"/>
          </a:solidFill>
          <a:ln w="12700">
            <a:solidFill>
              <a:srgbClr val="FFFFFF"/>
            </a:solidFill>
            <a:prstDash val="solid"/>
          </a:ln>
        </p:spPr>
      </p:sp>
      <p:sp>
        <p:nvSpPr>
          <p:cNvPr id="25" name="Text 23"/>
          <p:cNvSpPr txBox="1"/>
          <p:nvPr/>
        </p:nvSpPr>
        <p:spPr>
          <a:xfrm>
            <a:off x="7068312" y="4270248"/>
            <a:ext cx="713232" cy="457200"/>
          </a:xfrm>
          <a:prstGeom prst="rect">
            <a:avLst/>
          </a:prstGeom>
          <a:noFill/>
          <a:ln/>
        </p:spPr>
        <p:txBody>
          <a:bodyPr wrap="square" lIns="0" tIns="0" rIns="0" bIns="0" rtlCol="0" anchor="ctr">
            <a:normAutofit/>
          </a:bodyPr>
          <a:lstStyle/>
          <a:p>
            <a:pPr algn="l" indent="0" marL="0">
              <a:buNone/>
            </a:pPr>
            <a:r>
              <a:rPr lang="en-US" sz="2300" b="1" dirty="0">
                <a:solidFill>
                  <a:srgbClr val="173F35"/>
                </a:solidFill>
                <a:latin typeface="Calibri" pitchFamily="34" charset="0"/>
                <a:ea typeface="Calibri" pitchFamily="34" charset="-122"/>
                <a:cs typeface="Calibri" pitchFamily="34" charset="-120"/>
              </a:rPr>
              <a:t>2</a:t>
            </a:r>
            <a:endParaRPr lang="en-US" sz="2300" dirty="0"/>
          </a:p>
        </p:txBody>
      </p:sp>
      <p:sp>
        <p:nvSpPr>
          <p:cNvPr id="26" name="Text 24"/>
          <p:cNvSpPr txBox="1"/>
          <p:nvPr/>
        </p:nvSpPr>
        <p:spPr>
          <a:xfrm>
            <a:off x="7772400" y="4315968"/>
            <a:ext cx="1051560" cy="384048"/>
          </a:xfrm>
          <a:prstGeom prst="rect">
            <a:avLst/>
          </a:prstGeom>
          <a:noFill/>
          <a:ln/>
        </p:spPr>
        <p:txBody>
          <a:bodyPr wrap="square" lIns="0" tIns="0" rIns="0" bIns="0" rtlCol="0" anchor="ctr">
            <a:normAutofit/>
          </a:bodyPr>
          <a:lstStyle/>
          <a:p>
            <a:pPr algn="l" indent="0" marL="0">
              <a:buNone/>
            </a:pPr>
            <a:r>
              <a:rPr lang="en-US" sz="1200" b="1" dirty="0">
                <a:solidFill>
                  <a:srgbClr val="5E6C67"/>
                </a:solidFill>
                <a:latin typeface="Calibri" pitchFamily="34" charset="0"/>
                <a:ea typeface="Calibri" pitchFamily="34" charset="-122"/>
                <a:cs typeface="Calibri" pitchFamily="34" charset="-120"/>
              </a:rPr>
              <a:t>Python versions</a:t>
            </a:r>
            <a:endParaRPr lang="en-US" sz="1200" dirty="0"/>
          </a:p>
        </p:txBody>
      </p:sp>
      <p:sp>
        <p:nvSpPr>
          <p:cNvPr id="27" name="Shape 25"/>
          <p:cNvSpPr/>
          <p:nvPr/>
        </p:nvSpPr>
        <p:spPr>
          <a:xfrm>
            <a:off x="9262872" y="4142232"/>
            <a:ext cx="2057400" cy="841248"/>
          </a:xfrm>
          <a:prstGeom prst="roundRect">
            <a:avLst>
              <a:gd name="adj" fmla="val 10870"/>
            </a:avLst>
          </a:prstGeom>
          <a:solidFill>
            <a:srgbClr val="FFFFFF"/>
          </a:solidFill>
          <a:ln w="12700">
            <a:solidFill>
              <a:srgbClr val="FFFFFF"/>
            </a:solidFill>
            <a:prstDash val="solid"/>
          </a:ln>
        </p:spPr>
      </p:sp>
      <p:sp>
        <p:nvSpPr>
          <p:cNvPr id="28" name="Text 26"/>
          <p:cNvSpPr txBox="1"/>
          <p:nvPr/>
        </p:nvSpPr>
        <p:spPr>
          <a:xfrm>
            <a:off x="9400032" y="4270248"/>
            <a:ext cx="713232" cy="457200"/>
          </a:xfrm>
          <a:prstGeom prst="rect">
            <a:avLst/>
          </a:prstGeom>
          <a:noFill/>
          <a:ln/>
        </p:spPr>
        <p:txBody>
          <a:bodyPr wrap="square" lIns="0" tIns="0" rIns="0" bIns="0" rtlCol="0" anchor="ctr">
            <a:normAutofit/>
          </a:bodyPr>
          <a:lstStyle/>
          <a:p>
            <a:pPr algn="l" indent="0" marL="0">
              <a:buNone/>
            </a:pPr>
            <a:r>
              <a:rPr lang="en-US" sz="2300" b="1" dirty="0">
                <a:solidFill>
                  <a:srgbClr val="173F35"/>
                </a:solidFill>
                <a:latin typeface="Calibri" pitchFamily="34" charset="0"/>
                <a:ea typeface="Calibri" pitchFamily="34" charset="-122"/>
                <a:cs typeface="Calibri" pitchFamily="34" charset="-120"/>
              </a:rPr>
              <a:t>3</a:t>
            </a:r>
            <a:endParaRPr lang="en-US" sz="2300" dirty="0"/>
          </a:p>
        </p:txBody>
      </p:sp>
      <p:sp>
        <p:nvSpPr>
          <p:cNvPr id="29" name="Text 27"/>
          <p:cNvSpPr txBox="1"/>
          <p:nvPr/>
        </p:nvSpPr>
        <p:spPr>
          <a:xfrm>
            <a:off x="10104120" y="4315968"/>
            <a:ext cx="1051560" cy="384048"/>
          </a:xfrm>
          <a:prstGeom prst="rect">
            <a:avLst/>
          </a:prstGeom>
          <a:noFill/>
          <a:ln/>
        </p:spPr>
        <p:txBody>
          <a:bodyPr wrap="square" lIns="0" tIns="0" rIns="0" bIns="0" rtlCol="0" anchor="ctr">
            <a:normAutofit/>
          </a:bodyPr>
          <a:lstStyle/>
          <a:p>
            <a:pPr algn="l" indent="0" marL="0">
              <a:buNone/>
            </a:pPr>
            <a:r>
              <a:rPr lang="en-US" sz="1200" b="1" dirty="0">
                <a:solidFill>
                  <a:srgbClr val="5E6C67"/>
                </a:solidFill>
                <a:latin typeface="Calibri" pitchFamily="34" charset="0"/>
                <a:ea typeface="Calibri" pitchFamily="34" charset="-122"/>
                <a:cs typeface="Calibri" pitchFamily="34" charset="-120"/>
              </a:rPr>
              <a:t>README diagrams</a:t>
            </a:r>
            <a:endParaRPr lang="en-US" sz="1200" dirty="0"/>
          </a:p>
        </p:txBody>
      </p:sp>
      <p:sp>
        <p:nvSpPr>
          <p:cNvPr id="30" name="Shape 28"/>
          <p:cNvSpPr/>
          <p:nvPr/>
        </p:nvSpPr>
        <p:spPr>
          <a:xfrm>
            <a:off x="6967728" y="5413248"/>
            <a:ext cx="256032" cy="256032"/>
          </a:xfrm>
          <a:prstGeom prst="ellipse">
            <a:avLst/>
          </a:prstGeom>
          <a:solidFill>
            <a:srgbClr val="55B99A"/>
          </a:solidFill>
          <a:ln w="12700">
            <a:solidFill>
              <a:srgbClr val="55B99A"/>
            </a:solidFill>
            <a:prstDash val="solid"/>
          </a:ln>
        </p:spPr>
      </p:sp>
      <p:sp>
        <p:nvSpPr>
          <p:cNvPr id="31" name="Text 29"/>
          <p:cNvSpPr txBox="1"/>
          <p:nvPr/>
        </p:nvSpPr>
        <p:spPr>
          <a:xfrm>
            <a:off x="6967728" y="5404104"/>
            <a:ext cx="256032" cy="25603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2" name="Text 30"/>
          <p:cNvSpPr txBox="1"/>
          <p:nvPr/>
        </p:nvSpPr>
        <p:spPr>
          <a:xfrm>
            <a:off x="7360920" y="5367528"/>
            <a:ext cx="3337560" cy="356616"/>
          </a:xfrm>
          <a:prstGeom prst="rect">
            <a:avLst/>
          </a:prstGeom>
          <a:noFill/>
          <a:ln/>
        </p:spPr>
        <p:txBody>
          <a:bodyPr wrap="square" lIns="0" tIns="0" rIns="0" bIns="0" rtlCol="0" anchor="ctr">
            <a:normAutofit/>
          </a:bodyPr>
          <a:lstStyle/>
          <a:p>
            <a:pPr algn="l" indent="0" marL="0">
              <a:buNone/>
            </a:pPr>
            <a:r>
              <a:rPr lang="en-US" sz="1300" b="1" dirty="0">
                <a:solidFill>
                  <a:srgbClr val="DCEBE6"/>
                </a:solidFill>
                <a:latin typeface="Calibri" pitchFamily="34" charset="0"/>
                <a:ea typeface="Calibri" pitchFamily="34" charset="-122"/>
                <a:cs typeface="Calibri" pitchFamily="34" charset="-120"/>
              </a:rPr>
              <a:t>CI green on Python 3.11 and 3.13</a:t>
            </a:r>
            <a:endParaRPr lang="en-US" sz="1300" dirty="0"/>
          </a:p>
        </p:txBody>
      </p:sp>
      <p:sp>
        <p:nvSpPr>
          <p:cNvPr id="33" name="Shape 31"/>
          <p:cNvSpPr/>
          <p:nvPr/>
        </p:nvSpPr>
        <p:spPr>
          <a:xfrm>
            <a:off x="6967728" y="5833872"/>
            <a:ext cx="256032" cy="256032"/>
          </a:xfrm>
          <a:prstGeom prst="ellipse">
            <a:avLst/>
          </a:prstGeom>
          <a:solidFill>
            <a:srgbClr val="55B99A"/>
          </a:solidFill>
          <a:ln w="12700">
            <a:solidFill>
              <a:srgbClr val="55B99A"/>
            </a:solidFill>
            <a:prstDash val="solid"/>
          </a:ln>
        </p:spPr>
      </p:sp>
      <p:sp>
        <p:nvSpPr>
          <p:cNvPr id="34" name="Text 32"/>
          <p:cNvSpPr txBox="1"/>
          <p:nvPr/>
        </p:nvSpPr>
        <p:spPr>
          <a:xfrm>
            <a:off x="6967728" y="5824728"/>
            <a:ext cx="256032" cy="25603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5" name="Text 33"/>
          <p:cNvSpPr txBox="1"/>
          <p:nvPr/>
        </p:nvSpPr>
        <p:spPr>
          <a:xfrm>
            <a:off x="7360920" y="5769864"/>
            <a:ext cx="3840480" cy="457200"/>
          </a:xfrm>
          <a:prstGeom prst="rect">
            <a:avLst/>
          </a:prstGeom>
          <a:noFill/>
          <a:ln/>
        </p:spPr>
        <p:txBody>
          <a:bodyPr wrap="square" lIns="0" tIns="0" rIns="0" bIns="0" rtlCol="0" anchor="ctr">
            <a:normAutofit/>
          </a:bodyPr>
          <a:lstStyle/>
          <a:p>
            <a:pPr algn="l" indent="0" marL="0">
              <a:buNone/>
            </a:pPr>
            <a:r>
              <a:rPr lang="en-US" sz="1200" b="1" dirty="0">
                <a:solidFill>
                  <a:srgbClr val="DCEBE6"/>
                </a:solidFill>
                <a:latin typeface="Calibri" pitchFamily="34" charset="0"/>
                <a:ea typeface="Calibri" pitchFamily="34" charset="-122"/>
                <a:cs typeface="Calibri" pitchFamily="34" charset="-120"/>
              </a:rPr>
              <a:t>Manifest checked against the supplied reference and schema</a:t>
            </a:r>
            <a:endParaRPr lang="en-US" sz="1200" dirty="0"/>
          </a:p>
        </p:txBody>
      </p:sp>
      <p:sp>
        <p:nvSpPr>
          <p:cNvPr id="36" name="Text 34"/>
          <p:cNvSpPr txBox="1"/>
          <p:nvPr/>
        </p:nvSpPr>
        <p:spPr>
          <a:xfrm>
            <a:off x="621792" y="6126480"/>
            <a:ext cx="5577840" cy="292608"/>
          </a:xfrm>
          <a:prstGeom prst="rect">
            <a:avLst/>
          </a:prstGeom>
          <a:noFill/>
          <a:ln/>
        </p:spPr>
        <p:txBody>
          <a:bodyPr wrap="square" lIns="0" tIns="0" rIns="0" bIns="0" rtlCol="0" anchor="ctr">
            <a:normAutofit/>
          </a:bodyPr>
          <a:lstStyle/>
          <a:p>
            <a:pPr algn="l" indent="0" marL="0">
              <a:buNone/>
            </a:pPr>
            <a:r>
              <a:rPr lang="en-US" sz="1400" b="1" dirty="0">
                <a:solidFill>
                  <a:srgbClr val="F2C14E"/>
                </a:solidFill>
                <a:latin typeface="Calibri" pitchFamily="34" charset="0"/>
                <a:ea typeface="Calibri" pitchFamily="34" charset="-122"/>
                <a:cs typeface="Calibri" pitchFamily="34" charset="-120"/>
              </a:rPr>
              <a:t>Brief complete: data, metadata, relationships and documentation.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reeeliance take-home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CDM Pipeline Walkthrough</dc:title>
  <dc:subject>CDM ingestion pipeline walkthrough</dc:subject>
  <dc:creator>Tahasanul Ibrahim</dc:creator>
  <cp:lastModifiedBy>Tahasanul Ibrahim</cp:lastModifiedBy>
  <cp:revision>1</cp:revision>
  <dcterms:created xsi:type="dcterms:W3CDTF">2026-10-25T08:44:22Z</dcterms:created>
  <dcterms:modified xsi:type="dcterms:W3CDTF">2026-10-25T08:44:22Z</dcterms:modified>
</cp:coreProperties>
</file>